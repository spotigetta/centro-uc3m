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1" r:id="rId1"/>
  </p:sldMasterIdLst>
  <p:notesMasterIdLst>
    <p:notesMasterId r:id="rId11"/>
  </p:notesMasterIdLst>
  <p:handoutMasterIdLst>
    <p:handoutMasterId r:id="rId12"/>
  </p:handoutMasterIdLst>
  <p:sldIdLst>
    <p:sldId id="622" r:id="rId2"/>
    <p:sldId id="609" r:id="rId3"/>
    <p:sldId id="610" r:id="rId4"/>
    <p:sldId id="613" r:id="rId5"/>
    <p:sldId id="608" r:id="rId6"/>
    <p:sldId id="611" r:id="rId7"/>
    <p:sldId id="612" r:id="rId8"/>
    <p:sldId id="614" r:id="rId9"/>
    <p:sldId id="615" r:id="rId10"/>
  </p:sldIdLst>
  <p:sldSz cx="9144000" cy="6858000" type="screen4x3"/>
  <p:notesSz cx="6797675" cy="9928225"/>
  <p:custDataLst>
    <p:tags r:id="rId13"/>
  </p:custDataLst>
  <p:defaultTextStyle>
    <a:defPPr>
      <a:defRPr lang="es-E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000E77"/>
    <a:srgbClr val="000074"/>
    <a:srgbClr val="3333CC"/>
    <a:srgbClr val="5151A0"/>
    <a:srgbClr val="FFC000"/>
    <a:srgbClr val="00FF00"/>
    <a:srgbClr val="FF0000"/>
    <a:srgbClr val="FFFF00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Estilo temático 1 - Énfasis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41" autoAdjust="0"/>
    <p:restoredTop sz="92479" autoAdjust="0"/>
  </p:normalViewPr>
  <p:slideViewPr>
    <p:cSldViewPr>
      <p:cViewPr varScale="1">
        <p:scale>
          <a:sx n="114" d="100"/>
          <a:sy n="114" d="100"/>
        </p:scale>
        <p:origin x="188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5341" cy="495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06" tIns="47503" rIns="95006" bIns="47503" numCol="1" anchor="t" anchorCtr="0" compatLnSpc="1">
            <a:prstTxWarp prst="textNoShape">
              <a:avLst/>
            </a:prstTxWarp>
          </a:bodyPr>
          <a:lstStyle>
            <a:lvl1pPr defTabSz="949160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2335" y="0"/>
            <a:ext cx="2945340" cy="495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06" tIns="47503" rIns="95006" bIns="47503" numCol="1" anchor="t" anchorCtr="0" compatLnSpc="1">
            <a:prstTxWarp prst="textNoShape">
              <a:avLst/>
            </a:prstTxWarp>
          </a:bodyPr>
          <a:lstStyle>
            <a:lvl1pPr algn="r" defTabSz="949160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32449"/>
            <a:ext cx="2945341" cy="495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06" tIns="47503" rIns="95006" bIns="47503" numCol="1" anchor="b" anchorCtr="0" compatLnSpc="1">
            <a:prstTxWarp prst="textNoShape">
              <a:avLst/>
            </a:prstTxWarp>
          </a:bodyPr>
          <a:lstStyle>
            <a:lvl1pPr defTabSz="949160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2335" y="9432449"/>
            <a:ext cx="2945340" cy="495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06" tIns="47503" rIns="95006" bIns="47503" numCol="1" anchor="b" anchorCtr="0" compatLnSpc="1">
            <a:prstTxWarp prst="textNoShape">
              <a:avLst/>
            </a:prstTxWarp>
          </a:bodyPr>
          <a:lstStyle>
            <a:lvl1pPr algn="r" defTabSz="949160">
              <a:defRPr sz="1200"/>
            </a:lvl1pPr>
          </a:lstStyle>
          <a:p>
            <a:pPr>
              <a:defRPr/>
            </a:pPr>
            <a:fld id="{111B47E5-F1E8-465E-A869-953CABDD7409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607929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5341" cy="495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06" tIns="47503" rIns="95006" bIns="47503" numCol="1" anchor="t" anchorCtr="0" compatLnSpc="1">
            <a:prstTxWarp prst="textNoShape">
              <a:avLst/>
            </a:prstTxWarp>
          </a:bodyPr>
          <a:lstStyle>
            <a:lvl1pPr defTabSz="949160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2335" y="0"/>
            <a:ext cx="2945340" cy="495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06" tIns="47503" rIns="95006" bIns="47503" numCol="1" anchor="t" anchorCtr="0" compatLnSpc="1">
            <a:prstTxWarp prst="textNoShape">
              <a:avLst/>
            </a:prstTxWarp>
          </a:bodyPr>
          <a:lstStyle>
            <a:lvl1pPr algn="r" defTabSz="949160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5700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5403" y="4714636"/>
            <a:ext cx="4986871" cy="4468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06" tIns="47503" rIns="95006" bIns="4750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32449"/>
            <a:ext cx="2945341" cy="495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06" tIns="47503" rIns="95006" bIns="47503" numCol="1" anchor="b" anchorCtr="0" compatLnSpc="1">
            <a:prstTxWarp prst="textNoShape">
              <a:avLst/>
            </a:prstTxWarp>
          </a:bodyPr>
          <a:lstStyle>
            <a:lvl1pPr defTabSz="949160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2335" y="9432449"/>
            <a:ext cx="2945340" cy="495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06" tIns="47503" rIns="95006" bIns="47503" numCol="1" anchor="b" anchorCtr="0" compatLnSpc="1">
            <a:prstTxWarp prst="textNoShape">
              <a:avLst/>
            </a:prstTxWarp>
          </a:bodyPr>
          <a:lstStyle>
            <a:lvl1pPr algn="r" defTabSz="949160">
              <a:defRPr sz="1200"/>
            </a:lvl1pPr>
          </a:lstStyle>
          <a:p>
            <a:pPr>
              <a:defRPr/>
            </a:pPr>
            <a:fld id="{470573B8-B5E7-477A-A3E0-01B8647F10AB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040909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C29A544-6598-4587-8F98-8D32C816104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" y="6597351"/>
            <a:ext cx="467543" cy="260497"/>
          </a:xfrm>
          <a:ln/>
        </p:spPr>
        <p:txBody>
          <a:bodyPr/>
          <a:lstStyle>
            <a:lvl1pPr algn="l">
              <a:defRPr sz="1000" baseline="0">
                <a:solidFill>
                  <a:srgbClr val="000E77"/>
                </a:solidFill>
              </a:defRPr>
            </a:lvl1pPr>
          </a:lstStyle>
          <a:p>
            <a:pPr>
              <a:defRPr/>
            </a:pPr>
            <a:fld id="{0BDE5186-8C49-4056-ABFE-CCFE1704F515}" type="slidenum">
              <a:rPr lang="es-ES" altLang="es-ES" smtClean="0"/>
              <a:pPr>
                <a:defRPr/>
              </a:pPr>
              <a:t>‹Nº›</a:t>
            </a:fld>
            <a:endParaRPr lang="es-ES" altLang="es-ES" dirty="0"/>
          </a:p>
        </p:txBody>
      </p:sp>
      <p:sp>
        <p:nvSpPr>
          <p:cNvPr id="5" name="1 Título">
            <a:extLst>
              <a:ext uri="{FF2B5EF4-FFF2-40B4-BE49-F238E27FC236}">
                <a16:creationId xmlns:a16="http://schemas.microsoft.com/office/drawing/2014/main" id="{16E2023C-EE62-4DB5-A8AA-19A7C7B677BD}"/>
              </a:ext>
            </a:extLst>
          </p:cNvPr>
          <p:cNvSpPr txBox="1">
            <a:spLocks/>
          </p:cNvSpPr>
          <p:nvPr userDrawn="1"/>
        </p:nvSpPr>
        <p:spPr bwMode="auto">
          <a:xfrm>
            <a:off x="281965" y="0"/>
            <a:ext cx="8580070" cy="302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9pPr>
          </a:lstStyle>
          <a:p>
            <a:r>
              <a:rPr lang="es-ES" kern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281590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F47129E-9226-4E1D-A7DF-987D077D017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-50544" y="6553200"/>
            <a:ext cx="504825" cy="304800"/>
          </a:xfrm>
          <a:ln/>
        </p:spPr>
        <p:txBody>
          <a:bodyPr/>
          <a:lstStyle>
            <a:lvl1pPr>
              <a:defRPr sz="1200" baseline="0">
                <a:solidFill>
                  <a:srgbClr val="000E77"/>
                </a:solidFill>
              </a:defRPr>
            </a:lvl1pPr>
          </a:lstStyle>
          <a:p>
            <a:pPr>
              <a:defRPr/>
            </a:pPr>
            <a:fld id="{53E64910-9961-4F0D-935C-591BF2910BD3}" type="slidenum">
              <a:rPr lang="es-ES" altLang="es-ES" smtClean="0"/>
              <a:pPr>
                <a:defRPr/>
              </a:pPr>
              <a:t>‹Nº›</a:t>
            </a:fld>
            <a:endParaRPr lang="es-ES" altLang="es-ES" dirty="0"/>
          </a:p>
        </p:txBody>
      </p:sp>
    </p:spTree>
    <p:extLst>
      <p:ext uri="{BB962C8B-B14F-4D97-AF65-F5344CB8AC3E}">
        <p14:creationId xmlns:p14="http://schemas.microsoft.com/office/powerpoint/2010/main" val="2909597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10A09F8-D9DD-4195-A214-43E2D51BB94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92C3AF-3189-413A-BCCF-2DC14D6CE8EA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  <p:sp>
        <p:nvSpPr>
          <p:cNvPr id="5" name="1 Título">
            <a:extLst>
              <a:ext uri="{FF2B5EF4-FFF2-40B4-BE49-F238E27FC236}">
                <a16:creationId xmlns:a16="http://schemas.microsoft.com/office/drawing/2014/main" id="{3F0740B5-3526-4C4D-8F6F-64F4F0FF97B0}"/>
              </a:ext>
            </a:extLst>
          </p:cNvPr>
          <p:cNvSpPr txBox="1">
            <a:spLocks/>
          </p:cNvSpPr>
          <p:nvPr userDrawn="1"/>
        </p:nvSpPr>
        <p:spPr bwMode="auto">
          <a:xfrm>
            <a:off x="281965" y="0"/>
            <a:ext cx="8580070" cy="302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9pPr>
          </a:lstStyle>
          <a:p>
            <a:r>
              <a:rPr lang="es-ES" kern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418962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8966608-0166-4713-86D9-74641E15EF0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0C6008-861B-449E-954D-3606608093D6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457129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7789D8-799A-4D85-AD60-5A410A0613B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A36800-CF6F-4ED7-A798-13692F1BF7F3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  <p:sp>
        <p:nvSpPr>
          <p:cNvPr id="8" name="1 Título">
            <a:extLst>
              <a:ext uri="{FF2B5EF4-FFF2-40B4-BE49-F238E27FC236}">
                <a16:creationId xmlns:a16="http://schemas.microsoft.com/office/drawing/2014/main" id="{CCBA13CE-4B50-45E4-A2C5-35C00B1A7709}"/>
              </a:ext>
            </a:extLst>
          </p:cNvPr>
          <p:cNvSpPr txBox="1">
            <a:spLocks/>
          </p:cNvSpPr>
          <p:nvPr userDrawn="1"/>
        </p:nvSpPr>
        <p:spPr bwMode="auto">
          <a:xfrm>
            <a:off x="281965" y="0"/>
            <a:ext cx="8580070" cy="302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9pPr>
          </a:lstStyle>
          <a:p>
            <a:r>
              <a:rPr lang="es-ES" kern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362805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8428AE6-4B94-4A98-9DCD-6E85169E813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937761-C80C-49EE-8308-C38105D2D55B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814440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5731FED3-B969-4E5E-8D36-2D0D398C035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F8A81F-7F50-4E28-9A39-AE6BE3119EDB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  <p:sp>
        <p:nvSpPr>
          <p:cNvPr id="3" name="1 Título">
            <a:extLst>
              <a:ext uri="{FF2B5EF4-FFF2-40B4-BE49-F238E27FC236}">
                <a16:creationId xmlns:a16="http://schemas.microsoft.com/office/drawing/2014/main" id="{D874E4DF-6E4B-4AA1-B01D-C35C3E790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65" y="0"/>
            <a:ext cx="8580070" cy="30202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695769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3783859-8C3C-4C5F-AC30-B600DCE31D6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E5A4BE-3528-4D0B-9D12-C8D9C5D3381A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  <p:sp>
        <p:nvSpPr>
          <p:cNvPr id="6" name="1 Título">
            <a:extLst>
              <a:ext uri="{FF2B5EF4-FFF2-40B4-BE49-F238E27FC236}">
                <a16:creationId xmlns:a16="http://schemas.microsoft.com/office/drawing/2014/main" id="{36FE4FA9-ABA6-48F4-AB50-F745F9FA388D}"/>
              </a:ext>
            </a:extLst>
          </p:cNvPr>
          <p:cNvSpPr txBox="1">
            <a:spLocks/>
          </p:cNvSpPr>
          <p:nvPr userDrawn="1"/>
        </p:nvSpPr>
        <p:spPr bwMode="auto">
          <a:xfrm>
            <a:off x="281965" y="0"/>
            <a:ext cx="8580070" cy="302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9pPr>
          </a:lstStyle>
          <a:p>
            <a:r>
              <a:rPr lang="es-ES" kern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394579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15CC6CA-5796-4E6C-A0D8-F951A02D792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020CF7-2C42-4E72-92CD-6A5A52F5158A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716027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8E41C4D-BA7E-4CC1-9116-9607C08CA0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AF3781-DD85-44A7-BDE1-4E541063529E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358400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0"/>
            <a:ext cx="2057400" cy="612616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0"/>
            <a:ext cx="6019800" cy="61261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9377C4D-4376-43F1-84D1-E498F2C0D5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9605E8-E8D3-4D5A-B359-B0A114E4B0C7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  <p:sp>
        <p:nvSpPr>
          <p:cNvPr id="5" name="1 Título">
            <a:extLst>
              <a:ext uri="{FF2B5EF4-FFF2-40B4-BE49-F238E27FC236}">
                <a16:creationId xmlns:a16="http://schemas.microsoft.com/office/drawing/2014/main" id="{CD5B6897-7A5F-4D0C-9267-B582B7137CBB}"/>
              </a:ext>
            </a:extLst>
          </p:cNvPr>
          <p:cNvSpPr txBox="1">
            <a:spLocks/>
          </p:cNvSpPr>
          <p:nvPr userDrawn="1"/>
        </p:nvSpPr>
        <p:spPr bwMode="auto">
          <a:xfrm>
            <a:off x="281965" y="0"/>
            <a:ext cx="8580070" cy="302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9pPr>
          </a:lstStyle>
          <a:p>
            <a:r>
              <a:rPr lang="es-ES" kern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586067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7">
            <a:extLst>
              <a:ext uri="{FF2B5EF4-FFF2-40B4-BE49-F238E27FC236}">
                <a16:creationId xmlns:a16="http://schemas.microsoft.com/office/drawing/2014/main" id="{5E2397D0-DA55-447D-9C37-3BEDE2692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64" y="-2767"/>
            <a:ext cx="8580061" cy="304797"/>
          </a:xfrm>
          <a:prstGeom prst="rect">
            <a:avLst/>
          </a:prstGeom>
          <a:solidFill>
            <a:srgbClr val="000E77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defRPr/>
            </a:pPr>
            <a:endParaRPr lang="es-ES" altLang="es-ES" dirty="0"/>
          </a:p>
        </p:txBody>
      </p:sp>
      <p:sp>
        <p:nvSpPr>
          <p:cNvPr id="1026" name="Rectangle 2">
            <a:extLst>
              <a:ext uri="{FF2B5EF4-FFF2-40B4-BE49-F238E27FC236}">
                <a16:creationId xmlns:a16="http://schemas.microsoft.com/office/drawing/2014/main" id="{28D31CAB-FA93-4422-A4C2-0F62A3316D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81965" y="0"/>
            <a:ext cx="8580070" cy="302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 dirty="0"/>
              <a:t>Carbón</a:t>
            </a:r>
          </a:p>
        </p:txBody>
      </p:sp>
      <p:sp>
        <p:nvSpPr>
          <p:cNvPr id="1029" name="Text Box 12">
            <a:extLst>
              <a:ext uri="{FF2B5EF4-FFF2-40B4-BE49-F238E27FC236}">
                <a16:creationId xmlns:a16="http://schemas.microsoft.com/office/drawing/2014/main" id="{E2B24EA8-7CDE-41C1-B2E6-DC9A49AAA9DA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1922961" y="3592350"/>
            <a:ext cx="413286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s-ES" altLang="es-ES" sz="1200" b="1" dirty="0">
                <a:solidFill>
                  <a:srgbClr val="000E77"/>
                </a:solidFill>
                <a:latin typeface="Arial" panose="020B0604020202020204" pitchFamily="34" charset="0"/>
              </a:rPr>
              <a:t>Master de Ingeniería Industrial / Calor y Frío Industrial</a:t>
            </a:r>
          </a:p>
        </p:txBody>
      </p:sp>
      <p:sp>
        <p:nvSpPr>
          <p:cNvPr id="1030" name="Line 13">
            <a:extLst>
              <a:ext uri="{FF2B5EF4-FFF2-40B4-BE49-F238E27FC236}">
                <a16:creationId xmlns:a16="http://schemas.microsoft.com/office/drawing/2014/main" id="{3ED9D58D-300F-4628-861B-90619D8B934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1964" y="404663"/>
            <a:ext cx="1" cy="6120680"/>
          </a:xfrm>
          <a:prstGeom prst="line">
            <a:avLst/>
          </a:prstGeom>
          <a:noFill/>
          <a:ln w="28575">
            <a:solidFill>
              <a:srgbClr val="00007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F7B08DF2-7851-4A4F-AB58-A200A71B77A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553049"/>
            <a:ext cx="504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 b="1" baseline="0">
                <a:solidFill>
                  <a:srgbClr val="000074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D4C204F-BBF1-4D8F-A076-57061613B8D9}" type="slidenum">
              <a:rPr lang="es-ES" altLang="es-ES" smtClean="0"/>
              <a:pPr>
                <a:defRPr/>
              </a:pPr>
              <a:t>‹Nº›</a:t>
            </a:fld>
            <a:endParaRPr lang="es-ES" alt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858A25B-B2C2-4B3B-A236-AF9755A3E60A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-115867" y="575656"/>
            <a:ext cx="503987" cy="1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806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18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>
          <a:solidFill>
            <a:srgbClr val="000074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>
          <a:solidFill>
            <a:srgbClr val="000074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>
          <a:solidFill>
            <a:srgbClr val="000074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>
          <a:solidFill>
            <a:srgbClr val="000074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400">
          <a:solidFill>
            <a:srgbClr val="000074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400">
          <a:solidFill>
            <a:srgbClr val="000074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400">
          <a:solidFill>
            <a:srgbClr val="000074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400">
          <a:solidFill>
            <a:srgbClr val="000074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2.png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5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2.png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8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image" Target="../media/image2.png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5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1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DBF216-2EEF-41A0-9660-E46483E78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P1-Bomba calor ideal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377F76B-4FC3-4379-8BD8-0D99AE5E60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3937761-C80C-49EE-8308-C38105D2D55B}" type="slidenum">
              <a:rPr lang="es-ES" altLang="es-ES" smtClean="0"/>
              <a:pPr>
                <a:defRPr/>
              </a:pPr>
              <a:t>1</a:t>
            </a:fld>
            <a:endParaRPr lang="es-ES" altLang="es-ES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6D6C4772-DBCE-45E4-BA69-55C6391F24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04"/>
          <a:stretch/>
        </p:blipFill>
        <p:spPr bwMode="auto">
          <a:xfrm>
            <a:off x="395536" y="485799"/>
            <a:ext cx="8280920" cy="6071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2">
            <a:extLst>
              <a:ext uri="{FF2B5EF4-FFF2-40B4-BE49-F238E27FC236}">
                <a16:creationId xmlns:a16="http://schemas.microsoft.com/office/drawing/2014/main" id="{115294F3-A3B9-496E-82CD-EBAFE0B2BA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2575" y="4751927"/>
            <a:ext cx="7009825" cy="10020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es-ES" altLang="es-ES" sz="1600" kern="0" dirty="0"/>
              <a:t>Determinar el COP sabiendo que la máquina funciona con R290 a una temperatura de condensación 60 y evaporación -20, subenfriamiento y sobrecalentamiento 0. Rendimiento isoentrópico 100%</a:t>
            </a:r>
          </a:p>
        </p:txBody>
      </p:sp>
    </p:spTree>
    <p:extLst>
      <p:ext uri="{BB962C8B-B14F-4D97-AF65-F5344CB8AC3E}">
        <p14:creationId xmlns:p14="http://schemas.microsoft.com/office/powerpoint/2010/main" val="1237051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DBF216-2EEF-41A0-9660-E46483E78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P1-Bomba calor ideal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377F76B-4FC3-4379-8BD8-0D99AE5E60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3937761-C80C-49EE-8308-C38105D2D55B}" type="slidenum">
              <a:rPr lang="es-ES" altLang="es-ES" smtClean="0"/>
              <a:pPr>
                <a:defRPr/>
              </a:pPr>
              <a:t>2</a:t>
            </a:fld>
            <a:endParaRPr lang="es-ES" altLang="es-ES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6D6C4772-DBCE-45E4-BA69-55C6391F24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04"/>
          <a:stretch/>
        </p:blipFill>
        <p:spPr bwMode="auto">
          <a:xfrm>
            <a:off x="395536" y="485799"/>
            <a:ext cx="8280920" cy="6071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F7AF1ACC-1FF7-4F18-AC7D-03987399ACAB}"/>
              </a:ext>
            </a:extLst>
          </p:cNvPr>
          <p:cNvCxnSpPr>
            <a:cxnSpLocks/>
          </p:cNvCxnSpPr>
          <p:nvPr/>
        </p:nvCxnSpPr>
        <p:spPr>
          <a:xfrm flipV="1">
            <a:off x="1106472" y="1115568"/>
            <a:ext cx="6757368" cy="35464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33FD7303-F99D-4CE6-8FD2-37C3C7FF445E}"/>
              </a:ext>
            </a:extLst>
          </p:cNvPr>
          <p:cNvCxnSpPr>
            <a:cxnSpLocks/>
          </p:cNvCxnSpPr>
          <p:nvPr/>
        </p:nvCxnSpPr>
        <p:spPr>
          <a:xfrm flipV="1">
            <a:off x="1112568" y="2913888"/>
            <a:ext cx="6757368" cy="35464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D42C6901-168C-4343-9C2B-D8EDBA0480B4}"/>
              </a:ext>
            </a:extLst>
          </p:cNvPr>
          <p:cNvCxnSpPr>
            <a:cxnSpLocks/>
          </p:cNvCxnSpPr>
          <p:nvPr/>
        </p:nvCxnSpPr>
        <p:spPr>
          <a:xfrm flipV="1">
            <a:off x="3941936" y="517198"/>
            <a:ext cx="54000" cy="3276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78A2D76-20C2-4014-AF5D-0ECE36A776D1}"/>
              </a:ext>
            </a:extLst>
          </p:cNvPr>
          <p:cNvCxnSpPr>
            <a:cxnSpLocks/>
          </p:cNvCxnSpPr>
          <p:nvPr/>
        </p:nvCxnSpPr>
        <p:spPr>
          <a:xfrm flipV="1">
            <a:off x="5442267" y="717550"/>
            <a:ext cx="964883" cy="2231802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igno de multiplicación 12">
            <a:extLst>
              <a:ext uri="{FF2B5EF4-FFF2-40B4-BE49-F238E27FC236}">
                <a16:creationId xmlns:a16="http://schemas.microsoft.com/office/drawing/2014/main" id="{8D9DCF46-B22E-43F1-A6E6-1C3F177BF40F}"/>
              </a:ext>
            </a:extLst>
          </p:cNvPr>
          <p:cNvSpPr/>
          <p:nvPr/>
        </p:nvSpPr>
        <p:spPr>
          <a:xfrm>
            <a:off x="3930854" y="1045678"/>
            <a:ext cx="144639" cy="175244"/>
          </a:xfrm>
          <a:prstGeom prst="mathMultiply">
            <a:avLst/>
          </a:prstGeom>
          <a:solidFill>
            <a:srgbClr val="000E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Signo de multiplicación 13">
            <a:extLst>
              <a:ext uri="{FF2B5EF4-FFF2-40B4-BE49-F238E27FC236}">
                <a16:creationId xmlns:a16="http://schemas.microsoft.com/office/drawing/2014/main" id="{E46C31C8-9CCD-435E-A647-5D04948845EC}"/>
              </a:ext>
            </a:extLst>
          </p:cNvPr>
          <p:cNvSpPr/>
          <p:nvPr/>
        </p:nvSpPr>
        <p:spPr>
          <a:xfrm>
            <a:off x="5369948" y="2846581"/>
            <a:ext cx="144639" cy="175244"/>
          </a:xfrm>
          <a:prstGeom prst="mathMultiply">
            <a:avLst/>
          </a:prstGeom>
          <a:solidFill>
            <a:srgbClr val="000E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0774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DBF216-2EEF-41A0-9660-E46483E78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P1-Bomba calor ideal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377F76B-4FC3-4379-8BD8-0D99AE5E60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3937761-C80C-49EE-8308-C38105D2D55B}" type="slidenum">
              <a:rPr lang="es-ES" altLang="es-ES" smtClean="0"/>
              <a:pPr>
                <a:defRPr/>
              </a:pPr>
              <a:t>3</a:t>
            </a:fld>
            <a:endParaRPr lang="es-ES" altLang="es-ES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6D6C4772-DBCE-45E4-BA69-55C6391F24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04"/>
          <a:stretch/>
        </p:blipFill>
        <p:spPr bwMode="auto">
          <a:xfrm>
            <a:off x="395536" y="485799"/>
            <a:ext cx="8280920" cy="6071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33FD7303-F99D-4CE6-8FD2-37C3C7FF445E}"/>
              </a:ext>
            </a:extLst>
          </p:cNvPr>
          <p:cNvCxnSpPr>
            <a:cxnSpLocks/>
          </p:cNvCxnSpPr>
          <p:nvPr/>
        </p:nvCxnSpPr>
        <p:spPr>
          <a:xfrm>
            <a:off x="1106472" y="2949352"/>
            <a:ext cx="7065928" cy="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D42C6901-168C-4343-9C2B-D8EDBA0480B4}"/>
              </a:ext>
            </a:extLst>
          </p:cNvPr>
          <p:cNvCxnSpPr>
            <a:cxnSpLocks/>
          </p:cNvCxnSpPr>
          <p:nvPr/>
        </p:nvCxnSpPr>
        <p:spPr>
          <a:xfrm flipV="1">
            <a:off x="3995936" y="548680"/>
            <a:ext cx="0" cy="5400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78A2D76-20C2-4014-AF5D-0ECE36A776D1}"/>
              </a:ext>
            </a:extLst>
          </p:cNvPr>
          <p:cNvCxnSpPr>
            <a:cxnSpLocks/>
          </p:cNvCxnSpPr>
          <p:nvPr/>
        </p:nvCxnSpPr>
        <p:spPr>
          <a:xfrm flipV="1">
            <a:off x="5442267" y="717550"/>
            <a:ext cx="964883" cy="2231802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">
            <a:extLst>
              <a:ext uri="{FF2B5EF4-FFF2-40B4-BE49-F238E27FC236}">
                <a16:creationId xmlns:a16="http://schemas.microsoft.com/office/drawing/2014/main" id="{72153B1C-9A5B-432C-8B29-14677415B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6606" y="2336431"/>
            <a:ext cx="1373505" cy="2284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es-ES" altLang="es-ES" sz="1600" kern="0" dirty="0"/>
              <a:t>COP=2.76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51DAAEAE-02D2-4AB2-9A1D-95487B7D0DF1}"/>
              </a:ext>
            </a:extLst>
          </p:cNvPr>
          <p:cNvCxnSpPr>
            <a:cxnSpLocks/>
          </p:cNvCxnSpPr>
          <p:nvPr/>
        </p:nvCxnSpPr>
        <p:spPr>
          <a:xfrm>
            <a:off x="1475656" y="1124744"/>
            <a:ext cx="7065928" cy="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4CB28B27-E07C-4BF0-AD50-7390657A7F53}"/>
              </a:ext>
            </a:extLst>
          </p:cNvPr>
          <p:cNvCxnSpPr>
            <a:cxnSpLocks/>
          </p:cNvCxnSpPr>
          <p:nvPr/>
        </p:nvCxnSpPr>
        <p:spPr>
          <a:xfrm flipV="1">
            <a:off x="5442267" y="2852936"/>
            <a:ext cx="0" cy="3265214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EF528264-6D06-4194-8645-6F52623C620D}"/>
              </a:ext>
            </a:extLst>
          </p:cNvPr>
          <p:cNvCxnSpPr>
            <a:cxnSpLocks/>
          </p:cNvCxnSpPr>
          <p:nvPr/>
        </p:nvCxnSpPr>
        <p:spPr>
          <a:xfrm flipV="1">
            <a:off x="6228184" y="1124744"/>
            <a:ext cx="0" cy="4973352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80C2F333-3B95-4C91-8C41-B58CA8AAF9A2}"/>
              </a:ext>
            </a:extLst>
          </p:cNvPr>
          <p:cNvCxnSpPr>
            <a:cxnSpLocks/>
          </p:cNvCxnSpPr>
          <p:nvPr/>
        </p:nvCxnSpPr>
        <p:spPr>
          <a:xfrm>
            <a:off x="3995936" y="4485435"/>
            <a:ext cx="2232248" cy="108"/>
          </a:xfrm>
          <a:prstGeom prst="line">
            <a:avLst/>
          </a:prstGeom>
          <a:ln w="9525">
            <a:solidFill>
              <a:schemeClr val="tx2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B63B5C22-5491-4B6E-967F-BEB64633D9BC}"/>
              </a:ext>
            </a:extLst>
          </p:cNvPr>
          <p:cNvCxnSpPr>
            <a:cxnSpLocks/>
          </p:cNvCxnSpPr>
          <p:nvPr/>
        </p:nvCxnSpPr>
        <p:spPr>
          <a:xfrm>
            <a:off x="5442267" y="5521648"/>
            <a:ext cx="785917" cy="0"/>
          </a:xfrm>
          <a:prstGeom prst="line">
            <a:avLst/>
          </a:prstGeom>
          <a:ln w="9525">
            <a:solidFill>
              <a:schemeClr val="tx2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Object 2">
            <a:extLst>
              <a:ext uri="{FF2B5EF4-FFF2-40B4-BE49-F238E27FC236}">
                <a16:creationId xmlns:a16="http://schemas.microsoft.com/office/drawing/2014/main" id="{6DD42074-E483-4ABD-90FA-1799F0847F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5453052"/>
              </p:ext>
            </p:extLst>
          </p:nvPr>
        </p:nvGraphicFramePr>
        <p:xfrm>
          <a:off x="4713288" y="4065588"/>
          <a:ext cx="576262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" name="Equation" r:id="rId4" imgW="342720" imgH="228600" progId="Equation.DSMT4">
                  <p:embed/>
                </p:oleObj>
              </mc:Choice>
              <mc:Fallback>
                <p:oleObj name="Equation" r:id="rId4" imgW="342720" imgH="228600" progId="Equation.DSMT4">
                  <p:embed/>
                  <p:pic>
                    <p:nvPicPr>
                      <p:cNvPr id="33" name="Object 2">
                        <a:extLst>
                          <a:ext uri="{FF2B5EF4-FFF2-40B4-BE49-F238E27FC236}">
                            <a16:creationId xmlns:a16="http://schemas.microsoft.com/office/drawing/2014/main" id="{64F31823-8A7B-42A6-B1B1-00053E4506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3288" y="4065588"/>
                        <a:ext cx="576262" cy="3841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">
            <a:extLst>
              <a:ext uri="{FF2B5EF4-FFF2-40B4-BE49-F238E27FC236}">
                <a16:creationId xmlns:a16="http://schemas.microsoft.com/office/drawing/2014/main" id="{C5958A89-9038-4434-8F5F-B62F422544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9373020"/>
              </p:ext>
            </p:extLst>
          </p:nvPr>
        </p:nvGraphicFramePr>
        <p:xfrm>
          <a:off x="5536776" y="5089540"/>
          <a:ext cx="596900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" name="Equation" r:id="rId6" imgW="355320" imgH="228600" progId="Equation.DSMT4">
                  <p:embed/>
                </p:oleObj>
              </mc:Choice>
              <mc:Fallback>
                <p:oleObj name="Equation" r:id="rId6" imgW="355320" imgH="228600" progId="Equation.DSMT4">
                  <p:embed/>
                  <p:pic>
                    <p:nvPicPr>
                      <p:cNvPr id="24" name="Object 2">
                        <a:extLst>
                          <a:ext uri="{FF2B5EF4-FFF2-40B4-BE49-F238E27FC236}">
                            <a16:creationId xmlns:a16="http://schemas.microsoft.com/office/drawing/2014/main" id="{6DD42074-E483-4ABD-90FA-1799F0847F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6776" y="5089540"/>
                        <a:ext cx="596900" cy="3841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">
            <a:extLst>
              <a:ext uri="{FF2B5EF4-FFF2-40B4-BE49-F238E27FC236}">
                <a16:creationId xmlns:a16="http://schemas.microsoft.com/office/drawing/2014/main" id="{8FAA8B8F-0160-45E1-84AF-BBFBA380FD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3414072"/>
              </p:ext>
            </p:extLst>
          </p:nvPr>
        </p:nvGraphicFramePr>
        <p:xfrm>
          <a:off x="2112963" y="4162425"/>
          <a:ext cx="1427162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" name="Equation" r:id="rId8" imgW="850680" imgH="431640" progId="Equation.DSMT4">
                  <p:embed/>
                </p:oleObj>
              </mc:Choice>
              <mc:Fallback>
                <p:oleObj name="Equation" r:id="rId8" imgW="850680" imgH="431640" progId="Equation.DSMT4">
                  <p:embed/>
                  <p:pic>
                    <p:nvPicPr>
                      <p:cNvPr id="24" name="Object 2">
                        <a:extLst>
                          <a:ext uri="{FF2B5EF4-FFF2-40B4-BE49-F238E27FC236}">
                            <a16:creationId xmlns:a16="http://schemas.microsoft.com/office/drawing/2014/main" id="{6DD42074-E483-4ABD-90FA-1799F0847F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2963" y="4162425"/>
                        <a:ext cx="1427162" cy="7254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06911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DBF216-2EEF-41A0-9660-E46483E78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P2-Bomba calor con subenfriamiento y sobrecalentamiento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377F76B-4FC3-4379-8BD8-0D99AE5E60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3937761-C80C-49EE-8308-C38105D2D55B}" type="slidenum">
              <a:rPr lang="es-ES" altLang="es-ES" smtClean="0"/>
              <a:pPr>
                <a:defRPr/>
              </a:pPr>
              <a:t>4</a:t>
            </a:fld>
            <a:endParaRPr lang="es-ES" altLang="es-ES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6D6C4772-DBCE-45E4-BA69-55C6391F24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04"/>
          <a:stretch/>
        </p:blipFill>
        <p:spPr bwMode="auto">
          <a:xfrm>
            <a:off x="395536" y="485799"/>
            <a:ext cx="8280920" cy="6071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2">
            <a:extLst>
              <a:ext uri="{FF2B5EF4-FFF2-40B4-BE49-F238E27FC236}">
                <a16:creationId xmlns:a16="http://schemas.microsoft.com/office/drawing/2014/main" id="{46DB4119-245F-465A-98C7-9814FF5EA4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2575" y="4751927"/>
            <a:ext cx="7009825" cy="10020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es-ES" altLang="es-ES" sz="1600" kern="0" dirty="0"/>
              <a:t>Determinar el COP sabiendo que la máquina funciona con R290 a una temperatura de condensación 60 y evaporación -20. Rendimiento isoentrópico 80% , 10ºC de subenfriamiento y 5ºC de sobrecalentamiento</a:t>
            </a:r>
          </a:p>
        </p:txBody>
      </p:sp>
    </p:spTree>
    <p:extLst>
      <p:ext uri="{BB962C8B-B14F-4D97-AF65-F5344CB8AC3E}">
        <p14:creationId xmlns:p14="http://schemas.microsoft.com/office/powerpoint/2010/main" val="2553822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DBF216-2EEF-41A0-9660-E46483E78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P2-Bomba calor con subenfriamiento y sobrecalentamiento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377F76B-4FC3-4379-8BD8-0D99AE5E60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3937761-C80C-49EE-8308-C38105D2D55B}" type="slidenum">
              <a:rPr lang="es-ES" altLang="es-ES" smtClean="0"/>
              <a:pPr>
                <a:defRPr/>
              </a:pPr>
              <a:t>5</a:t>
            </a:fld>
            <a:endParaRPr lang="es-ES" altLang="es-ES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6D6C4772-DBCE-45E4-BA69-55C6391F24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04"/>
          <a:stretch/>
        </p:blipFill>
        <p:spPr bwMode="auto">
          <a:xfrm>
            <a:off x="395536" y="485799"/>
            <a:ext cx="8280920" cy="6071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F7AF1ACC-1FF7-4F18-AC7D-03987399ACAB}"/>
              </a:ext>
            </a:extLst>
          </p:cNvPr>
          <p:cNvCxnSpPr>
            <a:cxnSpLocks/>
          </p:cNvCxnSpPr>
          <p:nvPr/>
        </p:nvCxnSpPr>
        <p:spPr>
          <a:xfrm flipV="1">
            <a:off x="1106472" y="1115568"/>
            <a:ext cx="6757368" cy="35464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33FD7303-F99D-4CE6-8FD2-37C3C7FF445E}"/>
              </a:ext>
            </a:extLst>
          </p:cNvPr>
          <p:cNvCxnSpPr>
            <a:cxnSpLocks/>
          </p:cNvCxnSpPr>
          <p:nvPr/>
        </p:nvCxnSpPr>
        <p:spPr>
          <a:xfrm flipV="1">
            <a:off x="1112568" y="2913888"/>
            <a:ext cx="6757368" cy="35464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D42C6901-168C-4343-9C2B-D8EDBA0480B4}"/>
              </a:ext>
            </a:extLst>
          </p:cNvPr>
          <p:cNvCxnSpPr>
            <a:cxnSpLocks/>
          </p:cNvCxnSpPr>
          <p:nvPr/>
        </p:nvCxnSpPr>
        <p:spPr>
          <a:xfrm flipV="1">
            <a:off x="3740666" y="495340"/>
            <a:ext cx="26288" cy="36004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igno de multiplicación 6">
            <a:extLst>
              <a:ext uri="{FF2B5EF4-FFF2-40B4-BE49-F238E27FC236}">
                <a16:creationId xmlns:a16="http://schemas.microsoft.com/office/drawing/2014/main" id="{3BDBCF3E-08BF-4011-89B0-A44FF2321DAC}"/>
              </a:ext>
            </a:extLst>
          </p:cNvPr>
          <p:cNvSpPr/>
          <p:nvPr/>
        </p:nvSpPr>
        <p:spPr>
          <a:xfrm>
            <a:off x="3681490" y="1045678"/>
            <a:ext cx="144639" cy="175244"/>
          </a:xfrm>
          <a:prstGeom prst="mathMultiply">
            <a:avLst/>
          </a:prstGeom>
          <a:solidFill>
            <a:srgbClr val="000E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Signo de multiplicación 16">
            <a:extLst>
              <a:ext uri="{FF2B5EF4-FFF2-40B4-BE49-F238E27FC236}">
                <a16:creationId xmlns:a16="http://schemas.microsoft.com/office/drawing/2014/main" id="{E2605866-859A-4063-B7BA-C6CD85399A0F}"/>
              </a:ext>
            </a:extLst>
          </p:cNvPr>
          <p:cNvSpPr/>
          <p:nvPr/>
        </p:nvSpPr>
        <p:spPr>
          <a:xfrm>
            <a:off x="5459977" y="2854241"/>
            <a:ext cx="144639" cy="175244"/>
          </a:xfrm>
          <a:prstGeom prst="mathMultiply">
            <a:avLst/>
          </a:prstGeom>
          <a:solidFill>
            <a:srgbClr val="000E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74E92605-4E97-437D-AB87-AD81C751B21A}"/>
              </a:ext>
            </a:extLst>
          </p:cNvPr>
          <p:cNvCxnSpPr>
            <a:cxnSpLocks/>
          </p:cNvCxnSpPr>
          <p:nvPr/>
        </p:nvCxnSpPr>
        <p:spPr>
          <a:xfrm flipV="1">
            <a:off x="5519152" y="772324"/>
            <a:ext cx="1008112" cy="2149184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A4B268B2-7DBB-4A5B-AB2F-3380E4AC4836}"/>
              </a:ext>
            </a:extLst>
          </p:cNvPr>
          <p:cNvCxnSpPr>
            <a:cxnSpLocks/>
          </p:cNvCxnSpPr>
          <p:nvPr/>
        </p:nvCxnSpPr>
        <p:spPr>
          <a:xfrm flipV="1">
            <a:off x="5519152" y="2854241"/>
            <a:ext cx="0" cy="3167047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ECEE6BC6-0E80-40E8-BF72-AB5D574B8080}"/>
              </a:ext>
            </a:extLst>
          </p:cNvPr>
          <p:cNvCxnSpPr>
            <a:cxnSpLocks/>
          </p:cNvCxnSpPr>
          <p:nvPr/>
        </p:nvCxnSpPr>
        <p:spPr>
          <a:xfrm flipV="1">
            <a:off x="6372200" y="495340"/>
            <a:ext cx="0" cy="5400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59CC1D39-C3E8-4C8A-871B-FD878BF70751}"/>
              </a:ext>
            </a:extLst>
          </p:cNvPr>
          <p:cNvCxnSpPr>
            <a:cxnSpLocks/>
          </p:cNvCxnSpPr>
          <p:nvPr/>
        </p:nvCxnSpPr>
        <p:spPr>
          <a:xfrm>
            <a:off x="5532296" y="5521648"/>
            <a:ext cx="839904" cy="0"/>
          </a:xfrm>
          <a:prstGeom prst="line">
            <a:avLst/>
          </a:prstGeom>
          <a:ln w="9525">
            <a:solidFill>
              <a:schemeClr val="tx2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Object 2">
            <a:extLst>
              <a:ext uri="{FF2B5EF4-FFF2-40B4-BE49-F238E27FC236}">
                <a16:creationId xmlns:a16="http://schemas.microsoft.com/office/drawing/2014/main" id="{216E762B-F289-4409-807B-159D7FD4E5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2667463"/>
              </p:ext>
            </p:extLst>
          </p:nvPr>
        </p:nvGraphicFramePr>
        <p:xfrm>
          <a:off x="4602849" y="5320244"/>
          <a:ext cx="824496" cy="4028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3" name="Equation" r:id="rId4" imgW="495000" imgH="241200" progId="Equation.DSMT4">
                  <p:embed/>
                </p:oleObj>
              </mc:Choice>
              <mc:Fallback>
                <p:oleObj name="Equation" r:id="rId4" imgW="495000" imgH="241200" progId="Equation.DSMT4">
                  <p:embed/>
                  <p:pic>
                    <p:nvPicPr>
                      <p:cNvPr id="25" name="Object 2">
                        <a:extLst>
                          <a:ext uri="{FF2B5EF4-FFF2-40B4-BE49-F238E27FC236}">
                            <a16:creationId xmlns:a16="http://schemas.microsoft.com/office/drawing/2014/main" id="{C5958A89-9038-4434-8F5F-B62F422544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2849" y="5320244"/>
                        <a:ext cx="824496" cy="40280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">
            <a:extLst>
              <a:ext uri="{FF2B5EF4-FFF2-40B4-BE49-F238E27FC236}">
                <a16:creationId xmlns:a16="http://schemas.microsoft.com/office/drawing/2014/main" id="{B5733548-F754-4377-ADD5-8070912BAD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0250980"/>
              </p:ext>
            </p:extLst>
          </p:nvPr>
        </p:nvGraphicFramePr>
        <p:xfrm>
          <a:off x="6596730" y="4533850"/>
          <a:ext cx="592138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" name="Equation" r:id="rId6" imgW="355320" imgH="228600" progId="Equation.DSMT4">
                  <p:embed/>
                </p:oleObj>
              </mc:Choice>
              <mc:Fallback>
                <p:oleObj name="Equation" r:id="rId6" imgW="355320" imgH="228600" progId="Equation.DSMT4">
                  <p:embed/>
                  <p:pic>
                    <p:nvPicPr>
                      <p:cNvPr id="25" name="Object 2">
                        <a:extLst>
                          <a:ext uri="{FF2B5EF4-FFF2-40B4-BE49-F238E27FC236}">
                            <a16:creationId xmlns:a16="http://schemas.microsoft.com/office/drawing/2014/main" id="{216E762B-F289-4409-807B-159D7FD4E5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6730" y="4533850"/>
                        <a:ext cx="592138" cy="3825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6E76252A-BFE4-48B3-8371-23615B36930F}"/>
              </a:ext>
            </a:extLst>
          </p:cNvPr>
          <p:cNvCxnSpPr>
            <a:cxnSpLocks/>
          </p:cNvCxnSpPr>
          <p:nvPr/>
        </p:nvCxnSpPr>
        <p:spPr>
          <a:xfrm flipV="1">
            <a:off x="6527264" y="485799"/>
            <a:ext cx="9389" cy="5474603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BC3A5225-157F-4C9D-A15F-0FFCE6FC7965}"/>
              </a:ext>
            </a:extLst>
          </p:cNvPr>
          <p:cNvCxnSpPr>
            <a:cxnSpLocks/>
          </p:cNvCxnSpPr>
          <p:nvPr/>
        </p:nvCxnSpPr>
        <p:spPr>
          <a:xfrm>
            <a:off x="5532296" y="4725144"/>
            <a:ext cx="1004357" cy="0"/>
          </a:xfrm>
          <a:prstGeom prst="line">
            <a:avLst/>
          </a:prstGeom>
          <a:ln w="9525">
            <a:solidFill>
              <a:schemeClr val="tx2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Object 2">
            <a:extLst>
              <a:ext uri="{FF2B5EF4-FFF2-40B4-BE49-F238E27FC236}">
                <a16:creationId xmlns:a16="http://schemas.microsoft.com/office/drawing/2014/main" id="{7E850541-0740-4257-AE55-79F8AAD370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855200"/>
              </p:ext>
            </p:extLst>
          </p:nvPr>
        </p:nvGraphicFramePr>
        <p:xfrm>
          <a:off x="2103438" y="4151313"/>
          <a:ext cx="1447800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5" name="Equation" r:id="rId8" imgW="863280" imgH="444240" progId="Equation.DSMT4">
                  <p:embed/>
                </p:oleObj>
              </mc:Choice>
              <mc:Fallback>
                <p:oleObj name="Equation" r:id="rId8" imgW="863280" imgH="444240" progId="Equation.DSMT4">
                  <p:embed/>
                  <p:pic>
                    <p:nvPicPr>
                      <p:cNvPr id="25" name="Object 2">
                        <a:extLst>
                          <a:ext uri="{FF2B5EF4-FFF2-40B4-BE49-F238E27FC236}">
                            <a16:creationId xmlns:a16="http://schemas.microsoft.com/office/drawing/2014/main" id="{7F5B1E48-E335-4035-ACBA-B1FBAB7C80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3438" y="4151313"/>
                        <a:ext cx="1447800" cy="7477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15171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DBF216-2EEF-41A0-9660-E46483E78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P2-Bomba calor con subenfriamiento y sobrecalentamiento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377F76B-4FC3-4379-8BD8-0D99AE5E60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3937761-C80C-49EE-8308-C38105D2D55B}" type="slidenum">
              <a:rPr lang="es-ES" altLang="es-ES" smtClean="0"/>
              <a:pPr>
                <a:defRPr/>
              </a:pPr>
              <a:t>6</a:t>
            </a:fld>
            <a:endParaRPr lang="es-ES" altLang="es-ES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6D6C4772-DBCE-45E4-BA69-55C6391F24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04"/>
          <a:stretch/>
        </p:blipFill>
        <p:spPr bwMode="auto">
          <a:xfrm>
            <a:off x="395536" y="485799"/>
            <a:ext cx="8280920" cy="6071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F7AF1ACC-1FF7-4F18-AC7D-03987399ACAB}"/>
              </a:ext>
            </a:extLst>
          </p:cNvPr>
          <p:cNvCxnSpPr>
            <a:cxnSpLocks/>
          </p:cNvCxnSpPr>
          <p:nvPr/>
        </p:nvCxnSpPr>
        <p:spPr>
          <a:xfrm flipV="1">
            <a:off x="1106472" y="1115568"/>
            <a:ext cx="6757368" cy="35464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33FD7303-F99D-4CE6-8FD2-37C3C7FF445E}"/>
              </a:ext>
            </a:extLst>
          </p:cNvPr>
          <p:cNvCxnSpPr>
            <a:cxnSpLocks/>
          </p:cNvCxnSpPr>
          <p:nvPr/>
        </p:nvCxnSpPr>
        <p:spPr>
          <a:xfrm flipV="1">
            <a:off x="1112568" y="2913888"/>
            <a:ext cx="6757368" cy="35464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E58AA3AB-A668-4D82-807D-EF44069F61DC}"/>
              </a:ext>
            </a:extLst>
          </p:cNvPr>
          <p:cNvCxnSpPr>
            <a:cxnSpLocks/>
          </p:cNvCxnSpPr>
          <p:nvPr/>
        </p:nvCxnSpPr>
        <p:spPr>
          <a:xfrm flipV="1">
            <a:off x="5519152" y="859536"/>
            <a:ext cx="1183400" cy="2089816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2">
            <a:extLst>
              <a:ext uri="{FF2B5EF4-FFF2-40B4-BE49-F238E27FC236}">
                <a16:creationId xmlns:a16="http://schemas.microsoft.com/office/drawing/2014/main" id="{BF7D5C05-CE8E-49C3-95D9-1EE3B399D4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6606" y="2336432"/>
            <a:ext cx="1144154" cy="2216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es-ES" altLang="es-ES" sz="1600" kern="0" dirty="0"/>
              <a:t>COP=2.71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B5FA680B-BF57-4138-88EC-5B2654955D3D}"/>
              </a:ext>
            </a:extLst>
          </p:cNvPr>
          <p:cNvCxnSpPr>
            <a:cxnSpLocks/>
          </p:cNvCxnSpPr>
          <p:nvPr/>
        </p:nvCxnSpPr>
        <p:spPr>
          <a:xfrm flipV="1">
            <a:off x="6527264" y="485799"/>
            <a:ext cx="9389" cy="5474603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82E14F9D-0E21-47C4-910A-B924C5A07359}"/>
              </a:ext>
            </a:extLst>
          </p:cNvPr>
          <p:cNvCxnSpPr>
            <a:cxnSpLocks/>
          </p:cNvCxnSpPr>
          <p:nvPr/>
        </p:nvCxnSpPr>
        <p:spPr>
          <a:xfrm flipV="1">
            <a:off x="5519152" y="2854241"/>
            <a:ext cx="0" cy="3167047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Object 2">
            <a:extLst>
              <a:ext uri="{FF2B5EF4-FFF2-40B4-BE49-F238E27FC236}">
                <a16:creationId xmlns:a16="http://schemas.microsoft.com/office/drawing/2014/main" id="{A44CCCFD-C6CB-4165-8BB4-1BF0F0CE5E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5224974"/>
              </p:ext>
            </p:extLst>
          </p:nvPr>
        </p:nvGraphicFramePr>
        <p:xfrm>
          <a:off x="5700847" y="4156738"/>
          <a:ext cx="592138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Equation" r:id="rId4" imgW="355320" imgH="228600" progId="Equation.DSMT4">
                  <p:embed/>
                </p:oleObj>
              </mc:Choice>
              <mc:Fallback>
                <p:oleObj name="Equation" r:id="rId4" imgW="355320" imgH="228600" progId="Equation.DSMT4">
                  <p:embed/>
                  <p:pic>
                    <p:nvPicPr>
                      <p:cNvPr id="27" name="Object 2">
                        <a:extLst>
                          <a:ext uri="{FF2B5EF4-FFF2-40B4-BE49-F238E27FC236}">
                            <a16:creationId xmlns:a16="http://schemas.microsoft.com/office/drawing/2014/main" id="{B5733548-F754-4377-ADD5-8070912BAD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0847" y="4156738"/>
                        <a:ext cx="592138" cy="3825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7B0A24E8-0172-414E-8CD8-1B1B59B58325}"/>
              </a:ext>
            </a:extLst>
          </p:cNvPr>
          <p:cNvCxnSpPr>
            <a:cxnSpLocks/>
          </p:cNvCxnSpPr>
          <p:nvPr/>
        </p:nvCxnSpPr>
        <p:spPr>
          <a:xfrm>
            <a:off x="5532296" y="4725144"/>
            <a:ext cx="1004357" cy="0"/>
          </a:xfrm>
          <a:prstGeom prst="line">
            <a:avLst/>
          </a:prstGeom>
          <a:ln w="9525">
            <a:solidFill>
              <a:schemeClr val="tx2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DA820CFB-F385-46FB-983E-74790B802D4D}"/>
              </a:ext>
            </a:extLst>
          </p:cNvPr>
          <p:cNvCxnSpPr>
            <a:cxnSpLocks/>
          </p:cNvCxnSpPr>
          <p:nvPr/>
        </p:nvCxnSpPr>
        <p:spPr>
          <a:xfrm flipV="1">
            <a:off x="3753584" y="583335"/>
            <a:ext cx="9389" cy="5474603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C4CEA4D7-A5B4-4E3B-9F18-7DDE5314F726}"/>
              </a:ext>
            </a:extLst>
          </p:cNvPr>
          <p:cNvCxnSpPr>
            <a:cxnSpLocks/>
          </p:cNvCxnSpPr>
          <p:nvPr/>
        </p:nvCxnSpPr>
        <p:spPr>
          <a:xfrm>
            <a:off x="3729319" y="3891321"/>
            <a:ext cx="2807334" cy="17328"/>
          </a:xfrm>
          <a:prstGeom prst="line">
            <a:avLst/>
          </a:prstGeom>
          <a:ln w="9525">
            <a:solidFill>
              <a:schemeClr val="tx2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Object 2">
            <a:extLst>
              <a:ext uri="{FF2B5EF4-FFF2-40B4-BE49-F238E27FC236}">
                <a16:creationId xmlns:a16="http://schemas.microsoft.com/office/drawing/2014/main" id="{D71107C5-87D7-4A2E-B437-9D3FC46D1F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7483315"/>
              </p:ext>
            </p:extLst>
          </p:nvPr>
        </p:nvGraphicFramePr>
        <p:xfrm>
          <a:off x="4446671" y="3471474"/>
          <a:ext cx="576262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Equation" r:id="rId6" imgW="342720" imgH="228600" progId="Equation.DSMT4">
                  <p:embed/>
                </p:oleObj>
              </mc:Choice>
              <mc:Fallback>
                <p:oleObj name="Equation" r:id="rId6" imgW="342720" imgH="228600" progId="Equation.DSMT4">
                  <p:embed/>
                  <p:pic>
                    <p:nvPicPr>
                      <p:cNvPr id="24" name="Object 2">
                        <a:extLst>
                          <a:ext uri="{FF2B5EF4-FFF2-40B4-BE49-F238E27FC236}">
                            <a16:creationId xmlns:a16="http://schemas.microsoft.com/office/drawing/2014/main" id="{6DD42074-E483-4ABD-90FA-1799F0847F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6671" y="3471474"/>
                        <a:ext cx="576262" cy="3841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">
            <a:extLst>
              <a:ext uri="{FF2B5EF4-FFF2-40B4-BE49-F238E27FC236}">
                <a16:creationId xmlns:a16="http://schemas.microsoft.com/office/drawing/2014/main" id="{7F5B1E48-E335-4035-ACBA-B1FBAB7C80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1457340"/>
              </p:ext>
            </p:extLst>
          </p:nvPr>
        </p:nvGraphicFramePr>
        <p:xfrm>
          <a:off x="2112963" y="4162425"/>
          <a:ext cx="1427162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Equation" r:id="rId8" imgW="850680" imgH="431640" progId="Equation.DSMT4">
                  <p:embed/>
                </p:oleObj>
              </mc:Choice>
              <mc:Fallback>
                <p:oleObj name="Equation" r:id="rId8" imgW="850680" imgH="431640" progId="Equation.DSMT4">
                  <p:embed/>
                  <p:pic>
                    <p:nvPicPr>
                      <p:cNvPr id="26" name="Object 2">
                        <a:extLst>
                          <a:ext uri="{FF2B5EF4-FFF2-40B4-BE49-F238E27FC236}">
                            <a16:creationId xmlns:a16="http://schemas.microsoft.com/office/drawing/2014/main" id="{8FAA8B8F-0160-45E1-84AF-BBFBA380FD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2963" y="4162425"/>
                        <a:ext cx="1427162" cy="7254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76349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DBF216-2EEF-41A0-9660-E46483E78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P3-Bomba calor con subenfriamiento y sobrecalentamiento y pérdidas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377F76B-4FC3-4379-8BD8-0D99AE5E60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3937761-C80C-49EE-8308-C38105D2D55B}" type="slidenum">
              <a:rPr lang="es-ES" altLang="es-ES" smtClean="0"/>
              <a:pPr>
                <a:defRPr/>
              </a:pPr>
              <a:t>7</a:t>
            </a:fld>
            <a:endParaRPr lang="es-ES" altLang="es-ES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6D6C4772-DBCE-45E4-BA69-55C6391F24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04"/>
          <a:stretch/>
        </p:blipFill>
        <p:spPr bwMode="auto">
          <a:xfrm>
            <a:off x="395536" y="485799"/>
            <a:ext cx="8280920" cy="6071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2">
            <a:extLst>
              <a:ext uri="{FF2B5EF4-FFF2-40B4-BE49-F238E27FC236}">
                <a16:creationId xmlns:a16="http://schemas.microsoft.com/office/drawing/2014/main" id="{46DB4119-245F-465A-98C7-9814FF5EA4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624" y="4149080"/>
            <a:ext cx="6984776" cy="17281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es-ES" altLang="es-ES" sz="1600" kern="0" dirty="0"/>
              <a:t>Determinar el COP sabiendo que la máquina funciona con R290 a una temperatura de condensación 60 y evaporación -20. Rendimiento isoentrópico 80%, 10ºC de subenfriamiento y 5ºC de sobrecalentamiento</a:t>
            </a:r>
            <a:r>
              <a:rPr lang="es-ES" altLang="es-ES" sz="1600" kern="0"/>
              <a:t>, el </a:t>
            </a:r>
            <a:r>
              <a:rPr lang="es-ES" altLang="es-ES" sz="1600" kern="0" dirty="0"/>
              <a:t>condensador y el evaporador tienen una pérdida de carga de 1 bar y 0.5 bar</a:t>
            </a:r>
          </a:p>
        </p:txBody>
      </p:sp>
    </p:spTree>
    <p:extLst>
      <p:ext uri="{BB962C8B-B14F-4D97-AF65-F5344CB8AC3E}">
        <p14:creationId xmlns:p14="http://schemas.microsoft.com/office/powerpoint/2010/main" val="2698707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DBF216-2EEF-41A0-9660-E46483E78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P3-Bomba calor con subenfriamiento y sobrecalentamiento y pérdidas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377F76B-4FC3-4379-8BD8-0D99AE5E60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3937761-C80C-49EE-8308-C38105D2D55B}" type="slidenum">
              <a:rPr lang="es-ES" altLang="es-ES" smtClean="0"/>
              <a:pPr>
                <a:defRPr/>
              </a:pPr>
              <a:t>8</a:t>
            </a:fld>
            <a:endParaRPr lang="es-ES" altLang="es-ES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6D6C4772-DBCE-45E4-BA69-55C6391F24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04"/>
          <a:stretch/>
        </p:blipFill>
        <p:spPr bwMode="auto">
          <a:xfrm>
            <a:off x="395536" y="481303"/>
            <a:ext cx="8280920" cy="6071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F7AF1ACC-1FF7-4F18-AC7D-03987399ACAB}"/>
              </a:ext>
            </a:extLst>
          </p:cNvPr>
          <p:cNvCxnSpPr>
            <a:cxnSpLocks/>
          </p:cNvCxnSpPr>
          <p:nvPr/>
        </p:nvCxnSpPr>
        <p:spPr>
          <a:xfrm flipV="1">
            <a:off x="3923928" y="1089329"/>
            <a:ext cx="3409922" cy="115825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igno de multiplicación 6">
            <a:extLst>
              <a:ext uri="{FF2B5EF4-FFF2-40B4-BE49-F238E27FC236}">
                <a16:creationId xmlns:a16="http://schemas.microsoft.com/office/drawing/2014/main" id="{3BDBCF3E-08BF-4011-89B0-A44FF2321DAC}"/>
              </a:ext>
            </a:extLst>
          </p:cNvPr>
          <p:cNvSpPr/>
          <p:nvPr/>
        </p:nvSpPr>
        <p:spPr>
          <a:xfrm>
            <a:off x="3707281" y="1124744"/>
            <a:ext cx="144639" cy="175244"/>
          </a:xfrm>
          <a:prstGeom prst="mathMultiply">
            <a:avLst/>
          </a:prstGeom>
          <a:solidFill>
            <a:srgbClr val="000E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A4B268B2-7DBB-4A5B-AB2F-3380E4AC4836}"/>
              </a:ext>
            </a:extLst>
          </p:cNvPr>
          <p:cNvCxnSpPr>
            <a:cxnSpLocks/>
          </p:cNvCxnSpPr>
          <p:nvPr/>
        </p:nvCxnSpPr>
        <p:spPr>
          <a:xfrm flipV="1">
            <a:off x="5508104" y="2850591"/>
            <a:ext cx="0" cy="3167047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FADBFEED-3D73-4BE9-8566-1BF68D86A889}"/>
              </a:ext>
            </a:extLst>
          </p:cNvPr>
          <p:cNvCxnSpPr>
            <a:cxnSpLocks/>
          </p:cNvCxnSpPr>
          <p:nvPr/>
        </p:nvCxnSpPr>
        <p:spPr>
          <a:xfrm>
            <a:off x="971600" y="1134145"/>
            <a:ext cx="7065928" cy="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74B02B3D-0977-40AB-BA33-C2DF43BDB7FB}"/>
              </a:ext>
            </a:extLst>
          </p:cNvPr>
          <p:cNvCxnSpPr>
            <a:cxnSpLocks/>
          </p:cNvCxnSpPr>
          <p:nvPr/>
        </p:nvCxnSpPr>
        <p:spPr>
          <a:xfrm>
            <a:off x="1082059" y="3068960"/>
            <a:ext cx="7065928" cy="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C65B5614-7C20-4B5C-81D7-972792DBDABF}"/>
              </a:ext>
            </a:extLst>
          </p:cNvPr>
          <p:cNvCxnSpPr>
            <a:cxnSpLocks/>
          </p:cNvCxnSpPr>
          <p:nvPr/>
        </p:nvCxnSpPr>
        <p:spPr>
          <a:xfrm>
            <a:off x="961090" y="1196752"/>
            <a:ext cx="7065928" cy="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9DACB3B9-CFB4-4C75-B829-CE959BD82D0A}"/>
              </a:ext>
            </a:extLst>
          </p:cNvPr>
          <p:cNvCxnSpPr>
            <a:cxnSpLocks/>
          </p:cNvCxnSpPr>
          <p:nvPr/>
        </p:nvCxnSpPr>
        <p:spPr>
          <a:xfrm>
            <a:off x="1039036" y="2924944"/>
            <a:ext cx="7065928" cy="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Signo de multiplicación 55">
            <a:extLst>
              <a:ext uri="{FF2B5EF4-FFF2-40B4-BE49-F238E27FC236}">
                <a16:creationId xmlns:a16="http://schemas.microsoft.com/office/drawing/2014/main" id="{DA518BCD-CFAD-4D3B-A388-892E3AB929AE}"/>
              </a:ext>
            </a:extLst>
          </p:cNvPr>
          <p:cNvSpPr/>
          <p:nvPr/>
        </p:nvSpPr>
        <p:spPr>
          <a:xfrm>
            <a:off x="3707281" y="2853167"/>
            <a:ext cx="144639" cy="143554"/>
          </a:xfrm>
          <a:prstGeom prst="mathMultiply">
            <a:avLst/>
          </a:prstGeom>
          <a:solidFill>
            <a:srgbClr val="000E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7" name="Signo de multiplicación 56">
            <a:extLst>
              <a:ext uri="{FF2B5EF4-FFF2-40B4-BE49-F238E27FC236}">
                <a16:creationId xmlns:a16="http://schemas.microsoft.com/office/drawing/2014/main" id="{850BEF50-44FC-48D8-AF6C-B1DA895FA9A1}"/>
              </a:ext>
            </a:extLst>
          </p:cNvPr>
          <p:cNvSpPr/>
          <p:nvPr/>
        </p:nvSpPr>
        <p:spPr>
          <a:xfrm>
            <a:off x="5453786" y="2981338"/>
            <a:ext cx="144639" cy="175244"/>
          </a:xfrm>
          <a:prstGeom prst="mathMultiply">
            <a:avLst/>
          </a:prstGeom>
          <a:solidFill>
            <a:srgbClr val="000E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2E97FA19-44F8-4F00-88AA-4818AEE79853}"/>
              </a:ext>
            </a:extLst>
          </p:cNvPr>
          <p:cNvCxnSpPr>
            <a:cxnSpLocks/>
          </p:cNvCxnSpPr>
          <p:nvPr/>
        </p:nvCxnSpPr>
        <p:spPr>
          <a:xfrm>
            <a:off x="3806246" y="2921559"/>
            <a:ext cx="1818824" cy="153425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7127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DBF216-2EEF-41A0-9660-E46483E78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P3-Bomba calor con subenfriamiento y sobrecalentamiento y pérdidas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377F76B-4FC3-4379-8BD8-0D99AE5E60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3937761-C80C-49EE-8308-C38105D2D55B}" type="slidenum">
              <a:rPr lang="es-ES" altLang="es-ES" smtClean="0"/>
              <a:pPr>
                <a:defRPr/>
              </a:pPr>
              <a:t>9</a:t>
            </a:fld>
            <a:endParaRPr lang="es-ES" altLang="es-ES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6D6C4772-DBCE-45E4-BA69-55C6391F24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04"/>
          <a:stretch/>
        </p:blipFill>
        <p:spPr bwMode="auto">
          <a:xfrm>
            <a:off x="395536" y="481385"/>
            <a:ext cx="8280920" cy="6071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F7AF1ACC-1FF7-4F18-AC7D-03987399ACAB}"/>
              </a:ext>
            </a:extLst>
          </p:cNvPr>
          <p:cNvCxnSpPr>
            <a:cxnSpLocks/>
          </p:cNvCxnSpPr>
          <p:nvPr/>
        </p:nvCxnSpPr>
        <p:spPr>
          <a:xfrm flipV="1">
            <a:off x="3923928" y="1123812"/>
            <a:ext cx="2471273" cy="7294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33FD7303-F99D-4CE6-8FD2-37C3C7FF445E}"/>
              </a:ext>
            </a:extLst>
          </p:cNvPr>
          <p:cNvCxnSpPr>
            <a:cxnSpLocks/>
          </p:cNvCxnSpPr>
          <p:nvPr/>
        </p:nvCxnSpPr>
        <p:spPr>
          <a:xfrm>
            <a:off x="3664872" y="2921700"/>
            <a:ext cx="1842996" cy="20326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2">
            <a:extLst>
              <a:ext uri="{FF2B5EF4-FFF2-40B4-BE49-F238E27FC236}">
                <a16:creationId xmlns:a16="http://schemas.microsoft.com/office/drawing/2014/main" id="{BF7D5C05-CE8E-49C3-95D9-1EE3B399D4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6606" y="2336431"/>
            <a:ext cx="1301262" cy="241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74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es-ES" altLang="es-ES" sz="1600" kern="0" dirty="0"/>
              <a:t>COP=2.57</a:t>
            </a:r>
          </a:p>
        </p:txBody>
      </p:sp>
      <p:sp>
        <p:nvSpPr>
          <p:cNvPr id="7" name="Signo de multiplicación 6">
            <a:extLst>
              <a:ext uri="{FF2B5EF4-FFF2-40B4-BE49-F238E27FC236}">
                <a16:creationId xmlns:a16="http://schemas.microsoft.com/office/drawing/2014/main" id="{3BDBCF3E-08BF-4011-89B0-A44FF2321DAC}"/>
              </a:ext>
            </a:extLst>
          </p:cNvPr>
          <p:cNvSpPr/>
          <p:nvPr/>
        </p:nvSpPr>
        <p:spPr>
          <a:xfrm>
            <a:off x="3563265" y="1109130"/>
            <a:ext cx="144639" cy="175244"/>
          </a:xfrm>
          <a:prstGeom prst="mathMultiply">
            <a:avLst/>
          </a:prstGeom>
          <a:solidFill>
            <a:srgbClr val="000E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74E92605-4E97-437D-AB87-AD81C751B21A}"/>
              </a:ext>
            </a:extLst>
          </p:cNvPr>
          <p:cNvCxnSpPr>
            <a:cxnSpLocks/>
            <a:stCxn id="33" idx="1"/>
          </p:cNvCxnSpPr>
          <p:nvPr/>
        </p:nvCxnSpPr>
        <p:spPr>
          <a:xfrm flipV="1">
            <a:off x="5561644" y="1168328"/>
            <a:ext cx="901181" cy="1895282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A4B268B2-7DBB-4A5B-AB2F-3380E4AC4836}"/>
              </a:ext>
            </a:extLst>
          </p:cNvPr>
          <p:cNvCxnSpPr>
            <a:cxnSpLocks/>
          </p:cNvCxnSpPr>
          <p:nvPr/>
        </p:nvCxnSpPr>
        <p:spPr>
          <a:xfrm flipH="1" flipV="1">
            <a:off x="5532295" y="3017710"/>
            <a:ext cx="1" cy="2995124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Object 2">
            <a:extLst>
              <a:ext uri="{FF2B5EF4-FFF2-40B4-BE49-F238E27FC236}">
                <a16:creationId xmlns:a16="http://schemas.microsoft.com/office/drawing/2014/main" id="{B5733548-F754-4377-ADD5-8070912BAD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90716" y="4312801"/>
          <a:ext cx="592138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0" name="Equation" r:id="rId4" imgW="355320" imgH="228600" progId="Equation.DSMT4">
                  <p:embed/>
                </p:oleObj>
              </mc:Choice>
              <mc:Fallback>
                <p:oleObj name="Equation" r:id="rId4" imgW="355320" imgH="228600" progId="Equation.DSMT4">
                  <p:embed/>
                  <p:pic>
                    <p:nvPicPr>
                      <p:cNvPr id="27" name="Object 2">
                        <a:extLst>
                          <a:ext uri="{FF2B5EF4-FFF2-40B4-BE49-F238E27FC236}">
                            <a16:creationId xmlns:a16="http://schemas.microsoft.com/office/drawing/2014/main" id="{B5733548-F754-4377-ADD5-8070912BAD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0716" y="4312801"/>
                        <a:ext cx="592138" cy="3825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6E76252A-BFE4-48B3-8371-23615B36930F}"/>
              </a:ext>
            </a:extLst>
          </p:cNvPr>
          <p:cNvCxnSpPr>
            <a:cxnSpLocks/>
          </p:cNvCxnSpPr>
          <p:nvPr/>
        </p:nvCxnSpPr>
        <p:spPr>
          <a:xfrm flipV="1">
            <a:off x="6464313" y="516170"/>
            <a:ext cx="9389" cy="5474603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BC3A5225-157F-4C9D-A15F-0FFCE6FC7965}"/>
              </a:ext>
            </a:extLst>
          </p:cNvPr>
          <p:cNvCxnSpPr>
            <a:cxnSpLocks/>
          </p:cNvCxnSpPr>
          <p:nvPr/>
        </p:nvCxnSpPr>
        <p:spPr>
          <a:xfrm flipV="1">
            <a:off x="5543173" y="4981297"/>
            <a:ext cx="930529" cy="30008"/>
          </a:xfrm>
          <a:prstGeom prst="line">
            <a:avLst/>
          </a:prstGeom>
          <a:ln w="9525">
            <a:solidFill>
              <a:schemeClr val="tx2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52F0A0FE-981C-42AA-9876-29BB9997CBA6}"/>
              </a:ext>
            </a:extLst>
          </p:cNvPr>
          <p:cNvCxnSpPr>
            <a:cxnSpLocks/>
          </p:cNvCxnSpPr>
          <p:nvPr/>
        </p:nvCxnSpPr>
        <p:spPr>
          <a:xfrm flipV="1">
            <a:off x="5544095" y="1123113"/>
            <a:ext cx="1116137" cy="1990598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Signo de multiplicación 32">
            <a:extLst>
              <a:ext uri="{FF2B5EF4-FFF2-40B4-BE49-F238E27FC236}">
                <a16:creationId xmlns:a16="http://schemas.microsoft.com/office/drawing/2014/main" id="{5B54951D-A408-469D-B745-3E438967F16F}"/>
              </a:ext>
            </a:extLst>
          </p:cNvPr>
          <p:cNvSpPr/>
          <p:nvPr/>
        </p:nvSpPr>
        <p:spPr>
          <a:xfrm>
            <a:off x="5451744" y="3021521"/>
            <a:ext cx="144639" cy="175244"/>
          </a:xfrm>
          <a:prstGeom prst="mathMultiply">
            <a:avLst/>
          </a:prstGeom>
          <a:solidFill>
            <a:srgbClr val="000E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D123598C-4E86-4854-91AA-0CDAF0F7BB37}"/>
              </a:ext>
            </a:extLst>
          </p:cNvPr>
          <p:cNvCxnSpPr>
            <a:cxnSpLocks/>
          </p:cNvCxnSpPr>
          <p:nvPr/>
        </p:nvCxnSpPr>
        <p:spPr>
          <a:xfrm flipV="1">
            <a:off x="3626745" y="620688"/>
            <a:ext cx="9389" cy="5474603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7602386A-4B57-4FF6-9306-4525341C6FA6}"/>
              </a:ext>
            </a:extLst>
          </p:cNvPr>
          <p:cNvCxnSpPr>
            <a:cxnSpLocks/>
          </p:cNvCxnSpPr>
          <p:nvPr/>
        </p:nvCxnSpPr>
        <p:spPr>
          <a:xfrm flipV="1">
            <a:off x="3611705" y="3854860"/>
            <a:ext cx="2861997" cy="41420"/>
          </a:xfrm>
          <a:prstGeom prst="line">
            <a:avLst/>
          </a:prstGeom>
          <a:ln w="9525">
            <a:solidFill>
              <a:schemeClr val="tx2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Object 2">
            <a:extLst>
              <a:ext uri="{FF2B5EF4-FFF2-40B4-BE49-F238E27FC236}">
                <a16:creationId xmlns:a16="http://schemas.microsoft.com/office/drawing/2014/main" id="{E4F3F75C-AF7A-4123-B37C-E35AE48DC4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46671" y="3471474"/>
          <a:ext cx="576262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1" name="Equation" r:id="rId6" imgW="342720" imgH="228600" progId="Equation.DSMT4">
                  <p:embed/>
                </p:oleObj>
              </mc:Choice>
              <mc:Fallback>
                <p:oleObj name="Equation" r:id="rId6" imgW="342720" imgH="228600" progId="Equation.DSMT4">
                  <p:embed/>
                  <p:pic>
                    <p:nvPicPr>
                      <p:cNvPr id="40" name="Object 2">
                        <a:extLst>
                          <a:ext uri="{FF2B5EF4-FFF2-40B4-BE49-F238E27FC236}">
                            <a16:creationId xmlns:a16="http://schemas.microsoft.com/office/drawing/2014/main" id="{E4F3F75C-AF7A-4123-B37C-E35AE48DC4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6671" y="3471474"/>
                        <a:ext cx="576262" cy="3841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Signo de multiplicación 41">
            <a:extLst>
              <a:ext uri="{FF2B5EF4-FFF2-40B4-BE49-F238E27FC236}">
                <a16:creationId xmlns:a16="http://schemas.microsoft.com/office/drawing/2014/main" id="{B2EB98AE-42A7-40F8-9321-C3504F4292D1}"/>
              </a:ext>
            </a:extLst>
          </p:cNvPr>
          <p:cNvSpPr/>
          <p:nvPr/>
        </p:nvSpPr>
        <p:spPr>
          <a:xfrm>
            <a:off x="3559119" y="2821708"/>
            <a:ext cx="144639" cy="175244"/>
          </a:xfrm>
          <a:prstGeom prst="mathMultiply">
            <a:avLst/>
          </a:prstGeom>
          <a:solidFill>
            <a:srgbClr val="000E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FADBFEED-3D73-4BE9-8566-1BF68D86A889}"/>
              </a:ext>
            </a:extLst>
          </p:cNvPr>
          <p:cNvCxnSpPr>
            <a:cxnSpLocks/>
          </p:cNvCxnSpPr>
          <p:nvPr/>
        </p:nvCxnSpPr>
        <p:spPr>
          <a:xfrm>
            <a:off x="1475656" y="1124744"/>
            <a:ext cx="7065928" cy="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74B02B3D-0977-40AB-BA33-C2DF43BDB7FB}"/>
              </a:ext>
            </a:extLst>
          </p:cNvPr>
          <p:cNvCxnSpPr>
            <a:cxnSpLocks/>
          </p:cNvCxnSpPr>
          <p:nvPr/>
        </p:nvCxnSpPr>
        <p:spPr>
          <a:xfrm>
            <a:off x="1039036" y="2924944"/>
            <a:ext cx="7065928" cy="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B4352AC7-0C3E-45F7-B236-6FB78DF8D0A6}"/>
              </a:ext>
            </a:extLst>
          </p:cNvPr>
          <p:cNvCxnSpPr>
            <a:cxnSpLocks/>
          </p:cNvCxnSpPr>
          <p:nvPr/>
        </p:nvCxnSpPr>
        <p:spPr>
          <a:xfrm flipH="1">
            <a:off x="3635896" y="1196752"/>
            <a:ext cx="288032" cy="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907AFA83-55D5-480A-BB2E-A117E8226298}"/>
              </a:ext>
            </a:extLst>
          </p:cNvPr>
          <p:cNvCxnSpPr>
            <a:cxnSpLocks/>
          </p:cNvCxnSpPr>
          <p:nvPr/>
        </p:nvCxnSpPr>
        <p:spPr>
          <a:xfrm flipH="1">
            <a:off x="5440244" y="2932678"/>
            <a:ext cx="100112" cy="2045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Signo de multiplicación 45">
            <a:extLst>
              <a:ext uri="{FF2B5EF4-FFF2-40B4-BE49-F238E27FC236}">
                <a16:creationId xmlns:a16="http://schemas.microsoft.com/office/drawing/2014/main" id="{61A86350-94E4-4302-8A10-4596C374A94E}"/>
              </a:ext>
            </a:extLst>
          </p:cNvPr>
          <p:cNvSpPr/>
          <p:nvPr/>
        </p:nvSpPr>
        <p:spPr>
          <a:xfrm>
            <a:off x="6587601" y="1036421"/>
            <a:ext cx="144639" cy="175244"/>
          </a:xfrm>
          <a:prstGeom prst="mathMultiply">
            <a:avLst/>
          </a:prstGeom>
          <a:solidFill>
            <a:srgbClr val="000E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58D5F106-8283-4D2D-9BF2-3EDBE6144477}"/>
              </a:ext>
            </a:extLst>
          </p:cNvPr>
          <p:cNvCxnSpPr>
            <a:cxnSpLocks/>
          </p:cNvCxnSpPr>
          <p:nvPr/>
        </p:nvCxnSpPr>
        <p:spPr>
          <a:xfrm flipH="1">
            <a:off x="6282854" y="1124744"/>
            <a:ext cx="464181" cy="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2790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Diapositiva 1 - &amp;quot;Sistema térmico&amp;quot;&quot;/&gt;&lt;property id=&quot;20307&quot; value=&quot;391&quot;/&gt;&lt;/object&gt;&lt;object type=&quot;3&quot; unique_id=&quot;10005&quot;&gt;&lt;property id=&quot;20148&quot; value=&quot;5&quot;/&gt;&lt;property id=&quot;20300&quot; value=&quot;Diapositiva 2 - &amp;quot;Ecuaciones de conservación&amp;quot;&quot;/&gt;&lt;property id=&quot;20307&quot; value=&quot;324&quot;/&gt;&lt;/object&gt;&lt;object type=&quot;3&quot; unique_id=&quot;10006&quot;&gt;&lt;property id=&quot;20148&quot; value=&quot;5&quot;/&gt;&lt;property id=&quot;20300&quot; value=&quot;Diapositiva 3 - &amp;quot;Flujo convectivo total&amp;quot;&quot;/&gt;&lt;property id=&quot;20307&quot; value=&quot;326&quot;/&gt;&lt;/object&gt;&lt;object type=&quot;3&quot; unique_id=&quot;10007&quot;&gt;&lt;property id=&quot;20148&quot; value=&quot;5&quot;/&gt;&lt;property id=&quot;20300&quot; value=&quot;Diapositiva 4&quot;/&gt;&lt;property id=&quot;20307&quot; value=&quot;328&quot;/&gt;&lt;/object&gt;&lt;object type=&quot;3&quot; unique_id=&quot;10008&quot;&gt;&lt;property id=&quot;20148&quot; value=&quot;5&quot;/&gt;&lt;property id=&quot;20300&quot; value=&quot;Diapositiva 5&quot;/&gt;&lt;property id=&quot;20307&quot; value=&quot;329&quot;/&gt;&lt;/object&gt;&lt;object type=&quot;3&quot; unique_id=&quot;10009&quot;&gt;&lt;property id=&quot;20148&quot; value=&quot;5&quot;/&gt;&lt;property id=&quot;20300&quot; value=&quot;Diapositiva 6&quot;/&gt;&lt;property id=&quot;20307&quot; value=&quot;330&quot;/&gt;&lt;/object&gt;&lt;object type=&quot;3&quot; unique_id=&quot;10010&quot;&gt;&lt;property id=&quot;20148&quot; value=&quot;5&quot;/&gt;&lt;property id=&quot;20300&quot; value=&quot;Diapositiva 7&quot;/&gt;&lt;property id=&quot;20307&quot; value=&quot;331&quot;/&gt;&lt;/object&gt;&lt;object type=&quot;3&quot; unique_id=&quot;10011&quot;&gt;&lt;property id=&quot;20148&quot; value=&quot;5&quot;/&gt;&lt;property id=&quot;20300&quot; value=&quot;Diapositiva 8&quot;/&gt;&lt;property id=&quot;20307&quot; value=&quot;332&quot;/&gt;&lt;/object&gt;&lt;object type=&quot;3&quot; unique_id=&quot;10012&quot;&gt;&lt;property id=&quot;20148&quot; value=&quot;5&quot;/&gt;&lt;property id=&quot;20300&quot; value=&quot;Diapositiva 9&quot;/&gt;&lt;property id=&quot;20307&quot; value=&quot;333&quot;/&gt;&lt;/object&gt;&lt;object type=&quot;3&quot; unique_id=&quot;10013&quot;&gt;&lt;property id=&quot;20148&quot; value=&quot;5&quot;/&gt;&lt;property id=&quot;20300&quot; value=&quot;Diapositiva 10&quot;/&gt;&lt;property id=&quot;20307&quot; value=&quot;335&quot;/&gt;&lt;/object&gt;&lt;object type=&quot;3&quot; unique_id=&quot;10014&quot;&gt;&lt;property id=&quot;20148&quot; value=&quot;5&quot;/&gt;&lt;property id=&quot;20300&quot; value=&quot;Diapositiva 11&quot;/&gt;&lt;property id=&quot;20307&quot; value=&quot;336&quot;/&gt;&lt;/object&gt;&lt;object type=&quot;3&quot; unique_id=&quot;10015&quot;&gt;&lt;property id=&quot;20148&quot; value=&quot;5&quot;/&gt;&lt;property id=&quot;20300&quot; value=&quot;Diapositiva 12&quot;/&gt;&lt;property id=&quot;20307&quot; value=&quot;337&quot;/&gt;&lt;/object&gt;&lt;object type=&quot;3&quot; unique_id=&quot;10016&quot;&gt;&lt;property id=&quot;20148&quot; value=&quot;5&quot;/&gt;&lt;property id=&quot;20300&quot; value=&quot;Diapositiva 13&quot;/&gt;&lt;property id=&quot;20307&quot; value=&quot;338&quot;/&gt;&lt;/object&gt;&lt;object type=&quot;3&quot; unique_id=&quot;10017&quot;&gt;&lt;property id=&quot;20148&quot; value=&quot;5&quot;/&gt;&lt;property id=&quot;20300&quot; value=&quot;Diapositiva 14&quot;/&gt;&lt;property id=&quot;20307&quot; value=&quot;339&quot;/&gt;&lt;/object&gt;&lt;object type=&quot;3&quot; unique_id=&quot;10018&quot;&gt;&lt;property id=&quot;20148&quot; value=&quot;5&quot;/&gt;&lt;property id=&quot;20300&quot; value=&quot;Diapositiva 15&quot;/&gt;&lt;property id=&quot;20307&quot; value=&quot;340&quot;/&gt;&lt;/object&gt;&lt;object type=&quot;3&quot; unique_id=&quot;10019&quot;&gt;&lt;property id=&quot;20148&quot; value=&quot;5&quot;/&gt;&lt;property id=&quot;20300&quot; value=&quot;Diapositiva 16&quot;/&gt;&lt;property id=&quot;20307&quot; value=&quot;341&quot;/&gt;&lt;/object&gt;&lt;object type=&quot;3&quot; unique_id=&quot;10020&quot;&gt;&lt;property id=&quot;20148&quot; value=&quot;5&quot;/&gt;&lt;property id=&quot;20300&quot; value=&quot;Diapositiva 17&quot;/&gt;&lt;property id=&quot;20307&quot; value=&quot;342&quot;/&gt;&lt;/object&gt;&lt;object type=&quot;3&quot; unique_id=&quot;10021&quot;&gt;&lt;property id=&quot;20148&quot; value=&quot;5&quot;/&gt;&lt;property id=&quot;20300&quot; value=&quot;Diapositiva 18&quot;/&gt;&lt;property id=&quot;20307&quot; value=&quot;343&quot;/&gt;&lt;/object&gt;&lt;object type=&quot;3&quot; unique_id=&quot;10022&quot;&gt;&lt;property id=&quot;20148&quot; value=&quot;5&quot;/&gt;&lt;property id=&quot;20300&quot; value=&quot;Diapositiva 19&quot;/&gt;&lt;property id=&quot;20307&quot; value=&quot;344&quot;/&gt;&lt;/object&gt;&lt;object type=&quot;3&quot; unique_id=&quot;10023&quot;&gt;&lt;property id=&quot;20148&quot; value=&quot;5&quot;/&gt;&lt;property id=&quot;20300&quot; value=&quot;Diapositiva 20&quot;/&gt;&lt;property id=&quot;20307&quot; value=&quot;345&quot;/&gt;&lt;/object&gt;&lt;object type=&quot;3&quot; unique_id=&quot;10024&quot;&gt;&lt;property id=&quot;20148&quot; value=&quot;5&quot;/&gt;&lt;property id=&quot;20300&quot; value=&quot;Diapositiva 21&quot;/&gt;&lt;property id=&quot;20307&quot; value=&quot;346&quot;/&gt;&lt;/object&gt;&lt;object type=&quot;3&quot; unique_id=&quot;10025&quot;&gt;&lt;property id=&quot;20148&quot; value=&quot;5&quot;/&gt;&lt;property id=&quot;20300&quot; value=&quot;Diapositiva 22&quot;/&gt;&lt;property id=&quot;20307&quot; value=&quot;347&quot;/&gt;&lt;/object&gt;&lt;object type=&quot;3&quot; unique_id=&quot;10026&quot;&gt;&lt;property id=&quot;20148&quot; value=&quot;5&quot;/&gt;&lt;property id=&quot;20300&quot; value=&quot;Diapositiva 23&quot;/&gt;&lt;property id=&quot;20307&quot; value=&quot;348&quot;/&gt;&lt;/object&gt;&lt;object type=&quot;3&quot; unique_id=&quot;10027&quot;&gt;&lt;property id=&quot;20148&quot; value=&quot;5&quot;/&gt;&lt;property id=&quot;20300&quot; value=&quot;Diapositiva 24&quot;/&gt;&lt;property id=&quot;20307&quot; value=&quot;349&quot;/&gt;&lt;/object&gt;&lt;object type=&quot;3&quot; unique_id=&quot;10028&quot;&gt;&lt;property id=&quot;20148&quot; value=&quot;5&quot;/&gt;&lt;property id=&quot;20300&quot; value=&quot;Diapositiva 25&quot;/&gt;&lt;property id=&quot;20307&quot; value=&quot;350&quot;/&gt;&lt;/object&gt;&lt;object type=&quot;3&quot; unique_id=&quot;10029&quot;&gt;&lt;property id=&quot;20148&quot; value=&quot;5&quot;/&gt;&lt;property id=&quot;20300&quot; value=&quot;Diapositiva 26&quot;/&gt;&lt;property id=&quot;20307&quot; value=&quot;351&quot;/&gt;&lt;/object&gt;&lt;object type=&quot;3&quot; unique_id=&quot;10030&quot;&gt;&lt;property id=&quot;20148&quot; value=&quot;5&quot;/&gt;&lt;property id=&quot;20300&quot; value=&quot;Diapositiva 27&quot;/&gt;&lt;property id=&quot;20307&quot; value=&quot;352&quot;/&gt;&lt;/object&gt;&lt;object type=&quot;3&quot; unique_id=&quot;10031&quot;&gt;&lt;property id=&quot;20148&quot; value=&quot;5&quot;/&gt;&lt;property id=&quot;20300&quot; value=&quot;Diapositiva 28&quot;/&gt;&lt;property id=&quot;20307&quot; value=&quot;353&quot;/&gt;&lt;/object&gt;&lt;object type=&quot;3&quot; unique_id=&quot;10032&quot;&gt;&lt;property id=&quot;20148&quot; value=&quot;5&quot;/&gt;&lt;property id=&quot;20300&quot; value=&quot;Diapositiva 29&quot;/&gt;&lt;property id=&quot;20307&quot; value=&quot;354&quot;/&gt;&lt;/object&gt;&lt;object type=&quot;3&quot; unique_id=&quot;10033&quot;&gt;&lt;property id=&quot;20148&quot; value=&quot;5&quot;/&gt;&lt;property id=&quot;20300&quot; value=&quot;Diapositiva 30&quot;/&gt;&lt;property id=&quot;20307&quot; value=&quot;355&quot;/&gt;&lt;/object&gt;&lt;object type=&quot;3&quot; unique_id=&quot;10034&quot;&gt;&lt;property id=&quot;20148&quot; value=&quot;5&quot;/&gt;&lt;property id=&quot;20300&quot; value=&quot;Diapositiva 31&quot;/&gt;&lt;property id=&quot;20307&quot; value=&quot;356&quot;/&gt;&lt;/object&gt;&lt;object type=&quot;3&quot; unique_id=&quot;10035&quot;&gt;&lt;property id=&quot;20148&quot; value=&quot;5&quot;/&gt;&lt;property id=&quot;20300&quot; value=&quot;Diapositiva 32&quot;/&gt;&lt;property id=&quot;20307&quot; value=&quot;357&quot;/&gt;&lt;/object&gt;&lt;object type=&quot;3&quot; unique_id=&quot;10036&quot;&gt;&lt;property id=&quot;20148&quot; value=&quot;5&quot;/&gt;&lt;property id=&quot;20300&quot; value=&quot;Diapositiva 33&quot;/&gt;&lt;property id=&quot;20307&quot; value=&quot;358&quot;/&gt;&lt;/object&gt;&lt;object type=&quot;3&quot; unique_id=&quot;10037&quot;&gt;&lt;property id=&quot;20148&quot; value=&quot;5&quot;/&gt;&lt;property id=&quot;20300&quot; value=&quot;Diapositiva 34&quot;/&gt;&lt;property id=&quot;20307&quot; value=&quot;359&quot;/&gt;&lt;/object&gt;&lt;object type=&quot;3&quot; unique_id=&quot;10038&quot;&gt;&lt;property id=&quot;20148&quot; value=&quot;5&quot;/&gt;&lt;property id=&quot;20300&quot; value=&quot;Diapositiva 35&quot;/&gt;&lt;property id=&quot;20307&quot; value=&quot;360&quot;/&gt;&lt;/object&gt;&lt;object type=&quot;3&quot; unique_id=&quot;10039&quot;&gt;&lt;property id=&quot;20148&quot; value=&quot;5&quot;/&gt;&lt;property id=&quot;20300&quot; value=&quot;Diapositiva 36&quot;/&gt;&lt;property id=&quot;20307&quot; value=&quot;361&quot;/&gt;&lt;/object&gt;&lt;object type=&quot;3&quot; unique_id=&quot;10040&quot;&gt;&lt;property id=&quot;20148&quot; value=&quot;5&quot;/&gt;&lt;property id=&quot;20300&quot; value=&quot;Diapositiva 37&quot;/&gt;&lt;property id=&quot;20307&quot; value=&quot;362&quot;/&gt;&lt;/object&gt;&lt;object type=&quot;3&quot; unique_id=&quot;10041&quot;&gt;&lt;property id=&quot;20148&quot; value=&quot;5&quot;/&gt;&lt;property id=&quot;20300&quot; value=&quot;Diapositiva 38&quot;/&gt;&lt;property id=&quot;20307&quot; value=&quot;363&quot;/&gt;&lt;/object&gt;&lt;object type=&quot;3&quot; unique_id=&quot;10042&quot;&gt;&lt;property id=&quot;20148&quot; value=&quot;5&quot;/&gt;&lt;property id=&quot;20300&quot; value=&quot;Diapositiva 39&quot;/&gt;&lt;property id=&quot;20307&quot; value=&quot;364&quot;/&gt;&lt;/object&gt;&lt;object type=&quot;3&quot; unique_id=&quot;10043&quot;&gt;&lt;property id=&quot;20148&quot; value=&quot;5&quot;/&gt;&lt;property id=&quot;20300&quot; value=&quot;Diapositiva 40&quot;/&gt;&lt;property id=&quot;20307&quot; value=&quot;365&quot;/&gt;&lt;/object&gt;&lt;object type=&quot;3&quot; unique_id=&quot;10044&quot;&gt;&lt;property id=&quot;20148&quot; value=&quot;5&quot;/&gt;&lt;property id=&quot;20300&quot; value=&quot;Diapositiva 41&quot;/&gt;&lt;property id=&quot;20307&quot; value=&quot;366&quot;/&gt;&lt;/object&gt;&lt;object type=&quot;3&quot; unique_id=&quot;10045&quot;&gt;&lt;property id=&quot;20148&quot; value=&quot;5&quot;/&gt;&lt;property id=&quot;20300&quot; value=&quot;Diapositiva 42&quot;/&gt;&lt;property id=&quot;20307&quot; value=&quot;367&quot;/&gt;&lt;/object&gt;&lt;object type=&quot;3&quot; unique_id=&quot;10046&quot;&gt;&lt;property id=&quot;20148&quot; value=&quot;5&quot;/&gt;&lt;property id=&quot;20300&quot; value=&quot;Diapositiva 43&quot;/&gt;&lt;property id=&quot;20307&quot; value=&quot;368&quot;/&gt;&lt;/object&gt;&lt;object type=&quot;3&quot; unique_id=&quot;10047&quot;&gt;&lt;property id=&quot;20148&quot; value=&quot;5&quot;/&gt;&lt;property id=&quot;20300&quot; value=&quot;Diapositiva 44&quot;/&gt;&lt;property id=&quot;20307&quot; value=&quot;369&quot;/&gt;&lt;/object&gt;&lt;object type=&quot;3&quot; unique_id=&quot;10048&quot;&gt;&lt;property id=&quot;20148&quot; value=&quot;5&quot;/&gt;&lt;property id=&quot;20300&quot; value=&quot;Diapositiva 45&quot;/&gt;&lt;property id=&quot;20307&quot; value=&quot;370&quot;/&gt;&lt;/object&gt;&lt;object type=&quot;3&quot; unique_id=&quot;10049&quot;&gt;&lt;property id=&quot;20148&quot; value=&quot;5&quot;/&gt;&lt;property id=&quot;20300&quot; value=&quot;Diapositiva 46&quot;/&gt;&lt;property id=&quot;20307&quot; value=&quot;371&quot;/&gt;&lt;/object&gt;&lt;object type=&quot;3&quot; unique_id=&quot;10050&quot;&gt;&lt;property id=&quot;20148&quot; value=&quot;5&quot;/&gt;&lt;property id=&quot;20300&quot; value=&quot;Diapositiva 47&quot;/&gt;&lt;property id=&quot;20307&quot; value=&quot;372&quot;/&gt;&lt;/object&gt;&lt;object type=&quot;3&quot; unique_id=&quot;10051&quot;&gt;&lt;property id=&quot;20148&quot; value=&quot;5&quot;/&gt;&lt;property id=&quot;20300&quot; value=&quot;Diapositiva 48&quot;/&gt;&lt;property id=&quot;20307&quot; value=&quot;373&quot;/&gt;&lt;/object&gt;&lt;object type=&quot;3&quot; unique_id=&quot;10052&quot;&gt;&lt;property id=&quot;20148&quot; value=&quot;5&quot;/&gt;&lt;property id=&quot;20300&quot; value=&quot;Diapositiva 49&quot;/&gt;&lt;property id=&quot;20307&quot; value=&quot;374&quot;/&gt;&lt;/object&gt;&lt;object type=&quot;3&quot; unique_id=&quot;10053&quot;&gt;&lt;property id=&quot;20148&quot; value=&quot;5&quot;/&gt;&lt;property id=&quot;20300&quot; value=&quot;Diapositiva 50&quot;/&gt;&lt;property id=&quot;20307&quot; value=&quot;375&quot;/&gt;&lt;/object&gt;&lt;object type=&quot;3&quot; unique_id=&quot;10054&quot;&gt;&lt;property id=&quot;20148&quot; value=&quot;5&quot;/&gt;&lt;property id=&quot;20300&quot; value=&quot;Diapositiva 51&quot;/&gt;&lt;property id=&quot;20307&quot; value=&quot;376&quot;/&gt;&lt;/object&gt;&lt;object type=&quot;3&quot; unique_id=&quot;10055&quot;&gt;&lt;property id=&quot;20148&quot; value=&quot;5&quot;/&gt;&lt;property id=&quot;20300&quot; value=&quot;Diapositiva 52&quot;/&gt;&lt;property id=&quot;20307&quot; value=&quot;377&quot;/&gt;&lt;/object&gt;&lt;object type=&quot;3&quot; unique_id=&quot;10056&quot;&gt;&lt;property id=&quot;20148&quot; value=&quot;5&quot;/&gt;&lt;property id=&quot;20300&quot; value=&quot;Diapositiva 53&quot;/&gt;&lt;property id=&quot;20307&quot; value=&quot;378&quot;/&gt;&lt;/object&gt;&lt;object type=&quot;3&quot; unique_id=&quot;10057&quot;&gt;&lt;property id=&quot;20148&quot; value=&quot;5&quot;/&gt;&lt;property id=&quot;20300&quot; value=&quot;Diapositiva 54&quot;/&gt;&lt;property id=&quot;20307&quot; value=&quot;379&quot;/&gt;&lt;/object&gt;&lt;object type=&quot;3&quot; unique_id=&quot;10058&quot;&gt;&lt;property id=&quot;20148&quot; value=&quot;5&quot;/&gt;&lt;property id=&quot;20300&quot; value=&quot;Diapositiva 55&quot;/&gt;&lt;property id=&quot;20307&quot; value=&quot;380&quot;/&gt;&lt;/object&gt;&lt;object type=&quot;3&quot; unique_id=&quot;10059&quot;&gt;&lt;property id=&quot;20148&quot; value=&quot;5&quot;/&gt;&lt;property id=&quot;20300&quot; value=&quot;Diapositiva 56&quot;/&gt;&lt;property id=&quot;20307&quot; value=&quot;381&quot;/&gt;&lt;/object&gt;&lt;object type=&quot;3&quot; unique_id=&quot;10060&quot;&gt;&lt;property id=&quot;20148&quot; value=&quot;5&quot;/&gt;&lt;property id=&quot;20300&quot; value=&quot;Diapositiva 57&quot;/&gt;&lt;property id=&quot;20307&quot; value=&quot;382&quot;/&gt;&lt;/object&gt;&lt;object type=&quot;3&quot; unique_id=&quot;10061&quot;&gt;&lt;property id=&quot;20148&quot; value=&quot;5&quot;/&gt;&lt;property id=&quot;20300&quot; value=&quot;Diapositiva 58&quot;/&gt;&lt;property id=&quot;20307&quot; value=&quot;383&quot;/&gt;&lt;/object&gt;&lt;object type=&quot;3&quot; unique_id=&quot;10062&quot;&gt;&lt;property id=&quot;20148&quot; value=&quot;5&quot;/&gt;&lt;property id=&quot;20300&quot; value=&quot;Diapositiva 59&quot;/&gt;&lt;property id=&quot;20307&quot; value=&quot;384&quot;/&gt;&lt;/object&gt;&lt;object type=&quot;3&quot; unique_id=&quot;10063&quot;&gt;&lt;property id=&quot;20148&quot; value=&quot;5&quot;/&gt;&lt;property id=&quot;20300&quot; value=&quot;Diapositiva 60&quot;/&gt;&lt;property id=&quot;20307&quot; value=&quot;385&quot;/&gt;&lt;/object&gt;&lt;object type=&quot;3&quot; unique_id=&quot;10064&quot;&gt;&lt;property id=&quot;20148&quot; value=&quot;5&quot;/&gt;&lt;property id=&quot;20300&quot; value=&quot;Diapositiva 61&quot;/&gt;&lt;property id=&quot;20307&quot; value=&quot;386&quot;/&gt;&lt;/object&gt;&lt;object type=&quot;3&quot; unique_id=&quot;10065&quot;&gt;&lt;property id=&quot;20148&quot; value=&quot;5&quot;/&gt;&lt;property id=&quot;20300&quot; value=&quot;Diapositiva 62&quot;/&gt;&lt;property id=&quot;20307&quot; value=&quot;387&quot;/&gt;&lt;/object&gt;&lt;object type=&quot;3&quot; unique_id=&quot;10066&quot;&gt;&lt;property id=&quot;20148&quot; value=&quot;5&quot;/&gt;&lt;property id=&quot;20300&quot; value=&quot;Diapositiva 63&quot;/&gt;&lt;property id=&quot;20307&quot; value=&quot;388&quot;/&gt;&lt;/object&gt;&lt;object type=&quot;3&quot; unique_id=&quot;10067&quot;&gt;&lt;property id=&quot;20148&quot; value=&quot;5&quot;/&gt;&lt;property id=&quot;20300&quot; value=&quot;Diapositiva 64&quot;/&gt;&lt;property id=&quot;20307&quot; value=&quot;389&quot;/&gt;&lt;/object&gt;&lt;object type=&quot;3&quot; unique_id=&quot;10068&quot;&gt;&lt;property id=&quot;20148&quot; value=&quot;5&quot;/&gt;&lt;property id=&quot;20300&quot; value=&quot;Diapositiva 65&quot;/&gt;&lt;property id=&quot;20307&quot; value=&quot;390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1_docen">
  <a:themeElements>
    <a:clrScheme name="doce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ocen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oce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oce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oce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oce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oce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oce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oce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557</TotalTime>
  <Words>181</Words>
  <Application>Microsoft Office PowerPoint</Application>
  <PresentationFormat>Presentación en pantalla (4:3)</PresentationFormat>
  <Paragraphs>24</Paragraphs>
  <Slides>9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Times New Roman</vt:lpstr>
      <vt:lpstr>1_docen</vt:lpstr>
      <vt:lpstr>Equation</vt:lpstr>
      <vt:lpstr>P1-Bomba calor ideal</vt:lpstr>
      <vt:lpstr>P1-Bomba calor ideal</vt:lpstr>
      <vt:lpstr>P1-Bomba calor ideal</vt:lpstr>
      <vt:lpstr>P2-Bomba calor con subenfriamiento y sobrecalentamiento</vt:lpstr>
      <vt:lpstr>P2-Bomba calor con subenfriamiento y sobrecalentamiento</vt:lpstr>
      <vt:lpstr>P2-Bomba calor con subenfriamiento y sobrecalentamiento</vt:lpstr>
      <vt:lpstr>P3-Bomba calor con subenfriamiento y sobrecalentamiento y pérdidas</vt:lpstr>
      <vt:lpstr>P3-Bomba calor con subenfriamiento y sobrecalentamiento y pérdidas</vt:lpstr>
      <vt:lpstr>P3-Bomba calor con subenfriamiento y sobrecalentamiento y pérdidas</vt:lpstr>
    </vt:vector>
  </TitlesOfParts>
  <Company>uc3m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dsantana</dc:creator>
  <cp:lastModifiedBy>Celia Sobrino Fernández</cp:lastModifiedBy>
  <cp:revision>713</cp:revision>
  <cp:lastPrinted>2019-10-03T13:24:43Z</cp:lastPrinted>
  <dcterms:created xsi:type="dcterms:W3CDTF">2004-03-30T10:38:42Z</dcterms:created>
  <dcterms:modified xsi:type="dcterms:W3CDTF">2023-11-21T13:09:12Z</dcterms:modified>
</cp:coreProperties>
</file>