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2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34.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ags/tag4.xml" ContentType="application/vnd.openxmlformats-officedocument.presentationml.tags+xml"/>
  <Override PartName="/ppt/tags/tag5.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6.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7.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46.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7.xml" ContentType="application/vnd.openxmlformats-officedocument.themeOverr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9" r:id="rId1"/>
  </p:sldMasterIdLst>
  <p:notesMasterIdLst>
    <p:notesMasterId r:id="rId65"/>
  </p:notesMasterIdLst>
  <p:sldIdLst>
    <p:sldId id="256" r:id="rId2"/>
    <p:sldId id="257" r:id="rId3"/>
    <p:sldId id="258" r:id="rId4"/>
    <p:sldId id="331" r:id="rId5"/>
    <p:sldId id="262" r:id="rId6"/>
    <p:sldId id="263" r:id="rId7"/>
    <p:sldId id="264" r:id="rId8"/>
    <p:sldId id="265" r:id="rId9"/>
    <p:sldId id="266" r:id="rId10"/>
    <p:sldId id="275" r:id="rId11"/>
    <p:sldId id="276" r:id="rId12"/>
    <p:sldId id="277" r:id="rId13"/>
    <p:sldId id="278" r:id="rId14"/>
    <p:sldId id="324" r:id="rId15"/>
    <p:sldId id="346" r:id="rId16"/>
    <p:sldId id="338" r:id="rId17"/>
    <p:sldId id="339" r:id="rId18"/>
    <p:sldId id="335" r:id="rId19"/>
    <p:sldId id="337" r:id="rId20"/>
    <p:sldId id="332" r:id="rId21"/>
    <p:sldId id="274" r:id="rId22"/>
    <p:sldId id="271" r:id="rId23"/>
    <p:sldId id="272" r:id="rId24"/>
    <p:sldId id="273" r:id="rId25"/>
    <p:sldId id="317" r:id="rId26"/>
    <p:sldId id="282" r:id="rId27"/>
    <p:sldId id="318" r:id="rId28"/>
    <p:sldId id="285" r:id="rId29"/>
    <p:sldId id="288" r:id="rId30"/>
    <p:sldId id="289" r:id="rId31"/>
    <p:sldId id="290" r:id="rId32"/>
    <p:sldId id="292" r:id="rId33"/>
    <p:sldId id="347" r:id="rId34"/>
    <p:sldId id="348" r:id="rId35"/>
    <p:sldId id="326" r:id="rId36"/>
    <p:sldId id="327" r:id="rId37"/>
    <p:sldId id="328" r:id="rId38"/>
    <p:sldId id="340" r:id="rId39"/>
    <p:sldId id="341" r:id="rId40"/>
    <p:sldId id="344" r:id="rId41"/>
    <p:sldId id="343"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29" r:id="rId55"/>
    <p:sldId id="308" r:id="rId56"/>
    <p:sldId id="309" r:id="rId57"/>
    <p:sldId id="310" r:id="rId58"/>
    <p:sldId id="311" r:id="rId59"/>
    <p:sldId id="312" r:id="rId60"/>
    <p:sldId id="313" r:id="rId61"/>
    <p:sldId id="322" r:id="rId62"/>
    <p:sldId id="345" r:id="rId63"/>
    <p:sldId id="294" r:id="rId64"/>
  </p:sldIdLst>
  <p:sldSz cx="9144000" cy="6858000" type="screen4x3"/>
  <p:notesSz cx="6794500" cy="9906000"/>
  <p:embeddedFontLst>
    <p:embeddedFont>
      <p:font typeface="Cambria Math" panose="02040503050406030204" pitchFamily="18" charset="0"/>
      <p:regular r:id="rId66"/>
    </p:embeddedFont>
    <p:embeddedFont>
      <p:font typeface="Palatino Linotype" panose="02040502050505030304" pitchFamily="18" charset="0"/>
      <p:regular r:id="rId67"/>
      <p:bold r:id="rId68"/>
      <p:italic r:id="rId69"/>
      <p:boldItalic r:id="rId7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0">
          <p15:clr>
            <a:srgbClr val="A4A3A4"/>
          </p15:clr>
        </p15:guide>
        <p15:guide id="2" pos="214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4" roundtripDataSignature="AMtx7mgM6C0lT/NAdO7HU1c2cJzJyxVPg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RCIA GUTIERREZ, LUIS MIGUEL" initials="GGLM" lastIdx="4" clrIdx="0">
    <p:extLst>
      <p:ext uri="{19B8F6BF-5375-455C-9EA6-DF929625EA0E}">
        <p15:presenceInfo xmlns:p15="http://schemas.microsoft.com/office/powerpoint/2012/main" userId="S-1-5-21-1368424443-721911536-879972363-3599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Estilo medio 3 - Énfasis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2" autoAdjust="0"/>
    <p:restoredTop sz="83727" autoAdjust="0"/>
  </p:normalViewPr>
  <p:slideViewPr>
    <p:cSldViewPr snapToGrid="0">
      <p:cViewPr varScale="1">
        <p:scale>
          <a:sx n="118" d="100"/>
          <a:sy n="118" d="100"/>
        </p:scale>
        <p:origin x="120" y="348"/>
      </p:cViewPr>
      <p:guideLst>
        <p:guide orient="horz" pos="2160"/>
        <p:guide pos="2880"/>
      </p:guideLst>
    </p:cSldViewPr>
  </p:slideViewPr>
  <p:notesTextViewPr>
    <p:cViewPr>
      <p:scale>
        <a:sx n="125" d="100"/>
        <a:sy n="125" d="100"/>
      </p:scale>
      <p:origin x="0" y="0"/>
    </p:cViewPr>
  </p:notesTextViewPr>
  <p:notesViewPr>
    <p:cSldViewPr snapToGrid="0">
      <p:cViewPr varScale="1">
        <p:scale>
          <a:sx n="100" d="100"/>
          <a:sy n="100" d="100"/>
        </p:scale>
        <p:origin x="0" y="0"/>
      </p:cViewPr>
      <p:guideLst>
        <p:guide orient="horz" pos="3120"/>
        <p:guide pos="214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1.fntdata"/><Relationship Id="rId74" Type="http://customschemas.google.com/relationships/presentationmetadata" Target="meta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4.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5.fntdata"/><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Gr&#225;fico%20en%20Microsoft%20PowerPoint"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Gr&#225;fico%20en%20Microsoft%20PowerPoint"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package" Target="../embeddings/Microsoft_Excel_Worksheet6.xlsx"/></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s-ES" noProof="0" dirty="0"/>
              <a:t>% del total</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s-E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3CA0-4391-8359-DEF6A52102EE}"/>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3CA0-4391-8359-DEF6A52102EE}"/>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3CA0-4391-8359-DEF6A52102EE}"/>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4502-4122-AB60-E189F7E48566}"/>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6-4502-4122-AB60-E189F7E48566}"/>
              </c:ext>
            </c:extLst>
          </c:dPt>
          <c:dLbls>
            <c:dLbl>
              <c:idx val="0"/>
              <c:layout>
                <c:manualLayout>
                  <c:x val="-7.0444299907382782E-2"/>
                  <c:y val="0.13942536138424527"/>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CA0-4391-8359-DEF6A52102EE}"/>
                </c:ext>
              </c:extLst>
            </c:dLbl>
            <c:dLbl>
              <c:idx val="3"/>
              <c:layout>
                <c:manualLayout>
                  <c:x val="1.6896959869904801E-2"/>
                  <c:y val="8.8167242552529182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502-4122-AB60-E189F7E48566}"/>
                </c:ext>
              </c:extLst>
            </c:dLbl>
            <c:dLbl>
              <c:idx val="4"/>
              <c:layout>
                <c:manualLayout>
                  <c:x val="1.7556233889046514E-2"/>
                  <c:y val="0.12422578257839029"/>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6-4502-4122-AB60-E189F7E48566}"/>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Hoja1!$A$2:$E$2</c:f>
              <c:strCache>
                <c:ptCount val="5"/>
                <c:pt idx="0">
                  <c:v>Producción</c:v>
                </c:pt>
                <c:pt idx="1">
                  <c:v>Importaciones</c:v>
                </c:pt>
                <c:pt idx="2">
                  <c:v>Exportaciones</c:v>
                </c:pt>
                <c:pt idx="3">
                  <c:v>Búnkers internacionales</c:v>
                </c:pt>
                <c:pt idx="4">
                  <c:v>Cambios de stock</c:v>
                </c:pt>
              </c:strCache>
            </c:strRef>
          </c:cat>
          <c:val>
            <c:numRef>
              <c:f>Hoja1!$A$3:$E$3</c:f>
              <c:numCache>
                <c:formatCode>General</c:formatCode>
                <c:ptCount val="5"/>
                <c:pt idx="0">
                  <c:v>1406684</c:v>
                </c:pt>
                <c:pt idx="1">
                  <c:v>4543922</c:v>
                </c:pt>
                <c:pt idx="2">
                  <c:v>1187408</c:v>
                </c:pt>
                <c:pt idx="3">
                  <c:v>333005</c:v>
                </c:pt>
                <c:pt idx="4">
                  <c:v>98081</c:v>
                </c:pt>
              </c:numCache>
            </c:numRef>
          </c:val>
          <c:extLst>
            <c:ext xmlns:c16="http://schemas.microsoft.com/office/drawing/2014/chart" uri="{C3380CC4-5D6E-409C-BE32-E72D297353CC}">
              <c16:uniqueId val="{00000006-3CA0-4391-8359-DEF6A52102EE}"/>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62311108250550107"/>
          <c:y val="0.20500929640379006"/>
          <c:w val="0.33564369560731006"/>
          <c:h val="0.73716756871308953"/>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0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s-ES" noProof="0" dirty="0"/>
              <a:t>% energía entrante</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s-E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705D-4FAF-AC35-A4E3B81D0966}"/>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705D-4FAF-AC35-A4E3B81D0966}"/>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705D-4FAF-AC35-A4E3B81D0966}"/>
              </c:ext>
            </c:extLst>
          </c:dPt>
          <c:dLbls>
            <c:dLbl>
              <c:idx val="0"/>
              <c:layout>
                <c:manualLayout>
                  <c:x val="-7.0444299907382782E-2"/>
                  <c:y val="0.13942536138424527"/>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05D-4FAF-AC35-A4E3B81D0966}"/>
                </c:ext>
              </c:extLst>
            </c:dLbl>
            <c:dLbl>
              <c:idx val="2"/>
              <c:layout>
                <c:manualLayout>
                  <c:x val="1.7556233889046514E-2"/>
                  <c:y val="0.12422578257839029"/>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705D-4FAF-AC35-A4E3B81D0966}"/>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Hoja1!$A$2:$E$2</c:f>
              <c:strCache>
                <c:ptCount val="3"/>
                <c:pt idx="0">
                  <c:v>Producción</c:v>
                </c:pt>
                <c:pt idx="1">
                  <c:v>Importaciones</c:v>
                </c:pt>
                <c:pt idx="2">
                  <c:v>Cambios de stock</c:v>
                </c:pt>
              </c:strCache>
              <c:extLst/>
            </c:strRef>
          </c:cat>
          <c:val>
            <c:numRef>
              <c:f>Hoja1!$A$3:$E$3</c:f>
              <c:numCache>
                <c:formatCode>General</c:formatCode>
                <c:ptCount val="3"/>
                <c:pt idx="0">
                  <c:v>1406684</c:v>
                </c:pt>
                <c:pt idx="1">
                  <c:v>4543922</c:v>
                </c:pt>
                <c:pt idx="2">
                  <c:v>98081</c:v>
                </c:pt>
              </c:numCache>
              <c:extLst/>
            </c:numRef>
          </c:val>
          <c:extLst>
            <c:ext xmlns:c16="http://schemas.microsoft.com/office/drawing/2014/chart" uri="{C3380CC4-5D6E-409C-BE32-E72D297353CC}">
              <c16:uniqueId val="{0000000A-705D-4FAF-AC35-A4E3B81D0966}"/>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62311108250550107"/>
          <c:y val="0.20500929640379006"/>
          <c:w val="0.33564369560731006"/>
          <c:h val="0.73716756871308953"/>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0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s-ES" noProof="0" dirty="0"/>
              <a:t>2020</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s-E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9A01-4022-B720-F3428A17C6B7}"/>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9A01-4022-B720-F3428A17C6B7}"/>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9A01-4022-B720-F3428A17C6B7}"/>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9A01-4022-B720-F3428A17C6B7}"/>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(Hoja2!$A$2,Hoja2!$B$2,Hoja2!$C$2,Hoja2!$E$2)</c:f>
              <c:strCache>
                <c:ptCount val="4"/>
                <c:pt idx="0">
                  <c:v>Industria</c:v>
                </c:pt>
                <c:pt idx="1">
                  <c:v>Transporte</c:v>
                </c:pt>
                <c:pt idx="2">
                  <c:v>Otros</c:v>
                </c:pt>
                <c:pt idx="3">
                  <c:v>Uso no energético</c:v>
                </c:pt>
              </c:strCache>
            </c:strRef>
          </c:cat>
          <c:val>
            <c:numRef>
              <c:f>(Hoja2!$A$3,Hoja2!$B$3,Hoja2!$C$3,Hoja2!$E$3)</c:f>
              <c:numCache>
                <c:formatCode>General</c:formatCode>
                <c:ptCount val="4"/>
                <c:pt idx="0">
                  <c:v>788767</c:v>
                </c:pt>
                <c:pt idx="1">
                  <c:v>1104616</c:v>
                </c:pt>
                <c:pt idx="2">
                  <c:v>1113375</c:v>
                </c:pt>
                <c:pt idx="3">
                  <c:v>242798</c:v>
                </c:pt>
              </c:numCache>
            </c:numRef>
          </c:val>
          <c:extLst>
            <c:ext xmlns:c16="http://schemas.microsoft.com/office/drawing/2014/chart" uri="{C3380CC4-5D6E-409C-BE32-E72D297353CC}">
              <c16:uniqueId val="{00000008-9A01-4022-B720-F3428A17C6B7}"/>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s-ES" noProof="0" dirty="0"/>
              <a:t>2020</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s-E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1A72-4B0B-A74A-39371D03D6CE}"/>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1A72-4B0B-A74A-39371D03D6CE}"/>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1A72-4B0B-A74A-39371D03D6CE}"/>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1A72-4B0B-A74A-39371D03D6CE}"/>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1A72-4B0B-A74A-39371D03D6CE}"/>
              </c:ext>
            </c:extLst>
          </c:dPt>
          <c:dLbls>
            <c:dLbl>
              <c:idx val="0"/>
              <c:layout>
                <c:manualLayout>
                  <c:x val="-7.0444299907382782E-2"/>
                  <c:y val="0.13942536138424527"/>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A72-4B0B-A74A-39371D03D6CE}"/>
                </c:ext>
              </c:extLst>
            </c:dLbl>
            <c:dLbl>
              <c:idx val="3"/>
              <c:layout>
                <c:manualLayout>
                  <c:x val="1.6896959869904801E-2"/>
                  <c:y val="8.8167242552529182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A72-4B0B-A74A-39371D03D6CE}"/>
                </c:ext>
              </c:extLst>
            </c:dLbl>
            <c:dLbl>
              <c:idx val="4"/>
              <c:layout>
                <c:manualLayout>
                  <c:x val="1.7556233889046514E-2"/>
                  <c:y val="0.12422578257839029"/>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1A72-4B0B-A74A-39371D03D6CE}"/>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Hoja1!$A$2:$E$2</c:f>
              <c:strCache>
                <c:ptCount val="5"/>
                <c:pt idx="0">
                  <c:v>Producción</c:v>
                </c:pt>
                <c:pt idx="1">
                  <c:v>Importaciones</c:v>
                </c:pt>
                <c:pt idx="2">
                  <c:v>Exportaciones</c:v>
                </c:pt>
                <c:pt idx="3">
                  <c:v>Búnkers internacionales</c:v>
                </c:pt>
                <c:pt idx="4">
                  <c:v>Cambios de stock</c:v>
                </c:pt>
              </c:strCache>
            </c:strRef>
          </c:cat>
          <c:val>
            <c:numRef>
              <c:f>Hoja1!$A$3:$E$3</c:f>
              <c:numCache>
                <c:formatCode>General</c:formatCode>
                <c:ptCount val="5"/>
                <c:pt idx="0">
                  <c:v>1406684</c:v>
                </c:pt>
                <c:pt idx="1">
                  <c:v>4543922</c:v>
                </c:pt>
                <c:pt idx="2">
                  <c:v>1187408</c:v>
                </c:pt>
                <c:pt idx="3">
                  <c:v>333005</c:v>
                </c:pt>
                <c:pt idx="4">
                  <c:v>98081</c:v>
                </c:pt>
              </c:numCache>
            </c:numRef>
          </c:val>
          <c:extLst>
            <c:ext xmlns:c16="http://schemas.microsoft.com/office/drawing/2014/chart" uri="{C3380CC4-5D6E-409C-BE32-E72D297353CC}">
              <c16:uniqueId val="{0000000A-1A72-4B0B-A74A-39371D03D6CE}"/>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62311108250550107"/>
          <c:y val="0.20500929640379006"/>
          <c:w val="0.33564369560731006"/>
          <c:h val="0.73716756871308953"/>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0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s-ES" noProof="0" dirty="0"/>
              <a:t>Consumo final</a:t>
            </a:r>
            <a:r>
              <a:rPr lang="es-ES" baseline="0" noProof="0" dirty="0"/>
              <a:t> (</a:t>
            </a:r>
            <a:r>
              <a:rPr lang="es-ES" noProof="0" dirty="0"/>
              <a:t>2021)</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s-E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6CFA-48A9-8F8F-D035865A2DB5}"/>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6CFA-48A9-8F8F-D035865A2DB5}"/>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6CFA-48A9-8F8F-D035865A2DB5}"/>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6CFA-48A9-8F8F-D035865A2DB5}"/>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(Hoja2!$A$2,Hoja2!$B$2,Hoja2!$C$2,Hoja2!$E$2)</c:f>
              <c:strCache>
                <c:ptCount val="4"/>
                <c:pt idx="0">
                  <c:v>Industria</c:v>
                </c:pt>
                <c:pt idx="1">
                  <c:v>Transporte</c:v>
                </c:pt>
                <c:pt idx="2">
                  <c:v>Otros</c:v>
                </c:pt>
                <c:pt idx="3">
                  <c:v>Uso no energético</c:v>
                </c:pt>
              </c:strCache>
            </c:strRef>
          </c:cat>
          <c:val>
            <c:numRef>
              <c:f>(Hoja2!$A$5,Hoja2!$B$5,Hoja2!$C$5,Hoja2!$E$5)</c:f>
              <c:numCache>
                <c:formatCode>General</c:formatCode>
                <c:ptCount val="4"/>
                <c:pt idx="0">
                  <c:v>842970</c:v>
                </c:pt>
                <c:pt idx="1">
                  <c:v>1270698</c:v>
                </c:pt>
                <c:pt idx="2">
                  <c:v>1177475</c:v>
                </c:pt>
                <c:pt idx="3">
                  <c:v>225957</c:v>
                </c:pt>
              </c:numCache>
            </c:numRef>
          </c:val>
          <c:extLst>
            <c:ext xmlns:c16="http://schemas.microsoft.com/office/drawing/2014/chart" uri="{C3380CC4-5D6E-409C-BE32-E72D297353CC}">
              <c16:uniqueId val="{00000008-6CFA-48A9-8F8F-D035865A2DB5}"/>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s-ES" noProof="0" dirty="0"/>
              <a:t>% energía entrante (2021)</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s-E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7D91-46A5-A6CB-8B6095F52A8D}"/>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7D91-46A5-A6CB-8B6095F52A8D}"/>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7D91-46A5-A6CB-8B6095F52A8D}"/>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('Consumo energía primaria'!$A$6,'Consumo energía primaria'!$B$6,'Consumo energía primaria'!$E$6)</c:f>
              <c:strCache>
                <c:ptCount val="3"/>
                <c:pt idx="0">
                  <c:v>Producción</c:v>
                </c:pt>
                <c:pt idx="1">
                  <c:v>Importaciones</c:v>
                </c:pt>
                <c:pt idx="2">
                  <c:v>Cambios de stock</c:v>
                </c:pt>
              </c:strCache>
            </c:strRef>
          </c:cat>
          <c:val>
            <c:numRef>
              <c:f>('Consumo energía primaria'!$A$7,'Consumo energía primaria'!$B$7,'Consumo energía primaria'!$E$7)</c:f>
              <c:numCache>
                <c:formatCode>General</c:formatCode>
                <c:ptCount val="3"/>
                <c:pt idx="0">
                  <c:v>1518628</c:v>
                </c:pt>
                <c:pt idx="1">
                  <c:v>4893892</c:v>
                </c:pt>
                <c:pt idx="2">
                  <c:v>130235</c:v>
                </c:pt>
              </c:numCache>
            </c:numRef>
          </c:val>
          <c:extLst>
            <c:ext xmlns:c16="http://schemas.microsoft.com/office/drawing/2014/chart" uri="{C3380CC4-5D6E-409C-BE32-E72D297353CC}">
              <c16:uniqueId val="{00000006-7D91-46A5-A6CB-8B6095F52A8D}"/>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s-ES"/>
        </a:p>
      </c:txPr>
    </c:title>
    <c:autoTitleDeleted val="0"/>
    <c:plotArea>
      <c:layout/>
      <c:pieChart>
        <c:varyColors val="1"/>
        <c:ser>
          <c:idx val="0"/>
          <c:order val="0"/>
          <c:tx>
            <c:strRef>
              <c:f>'2025'!$B$2</c:f>
              <c:strCache>
                <c:ptCount val="1"/>
                <c:pt idx="0">
                  <c:v>Mundo</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7208-4760-9DA7-21CBFE1294B4}"/>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7208-4760-9DA7-21CBFE1294B4}"/>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7208-4760-9DA7-21CBFE1294B4}"/>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7208-4760-9DA7-21CBFE1294B4}"/>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7208-4760-9DA7-21CBFE1294B4}"/>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7208-4760-9DA7-21CBFE1294B4}"/>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'2025'!$A$3:$A$8</c:f>
              <c:strCache>
                <c:ptCount val="6"/>
                <c:pt idx="0">
                  <c:v>oil</c:v>
                </c:pt>
                <c:pt idx="1">
                  <c:v>Natural Gas</c:v>
                </c:pt>
                <c:pt idx="2">
                  <c:v>Coal</c:v>
                </c:pt>
                <c:pt idx="3">
                  <c:v>Nuclear</c:v>
                </c:pt>
                <c:pt idx="4">
                  <c:v>Hydro</c:v>
                </c:pt>
                <c:pt idx="5">
                  <c:v>Renewables</c:v>
                </c:pt>
              </c:strCache>
            </c:strRef>
          </c:cat>
          <c:val>
            <c:numRef>
              <c:f>'2025'!$B$3:$B$8</c:f>
              <c:numCache>
                <c:formatCode>General</c:formatCode>
                <c:ptCount val="6"/>
                <c:pt idx="0">
                  <c:v>200.97</c:v>
                </c:pt>
                <c:pt idx="1">
                  <c:v>150.69999999999999</c:v>
                </c:pt>
                <c:pt idx="2">
                  <c:v>166.03</c:v>
                </c:pt>
                <c:pt idx="3">
                  <c:v>31.04</c:v>
                </c:pt>
                <c:pt idx="4">
                  <c:v>16.12</c:v>
                </c:pt>
                <c:pt idx="5">
                  <c:v>35.450000000000003</c:v>
                </c:pt>
              </c:numCache>
            </c:numRef>
          </c:val>
          <c:extLst>
            <c:ext xmlns:c16="http://schemas.microsoft.com/office/drawing/2014/chart" uri="{C3380CC4-5D6E-409C-BE32-E72D297353CC}">
              <c16:uniqueId val="{0000000C-7208-4760-9DA7-21CBFE1294B4}"/>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s-ES" noProof="0" dirty="0"/>
              <a:t>España </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s-ES"/>
        </a:p>
      </c:txPr>
    </c:title>
    <c:autoTitleDeleted val="0"/>
    <c:plotArea>
      <c:layout/>
      <c:pieChart>
        <c:varyColors val="1"/>
        <c:ser>
          <c:idx val="1"/>
          <c:order val="0"/>
          <c:tx>
            <c:strRef>
              <c:f>'2025'!$C$2</c:f>
              <c:strCache>
                <c:ptCount val="1"/>
                <c:pt idx="0">
                  <c:v>España</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13F9-4696-A63A-8FC38875EAF9}"/>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13F9-4696-A63A-8FC38875EAF9}"/>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13F9-4696-A63A-8FC38875EAF9}"/>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13F9-4696-A63A-8FC38875EAF9}"/>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13F9-4696-A63A-8FC38875EAF9}"/>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13F9-4696-A63A-8FC38875EAF9}"/>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'2025'!$A$3:$A$8</c:f>
              <c:strCache>
                <c:ptCount val="6"/>
                <c:pt idx="0">
                  <c:v>oil</c:v>
                </c:pt>
                <c:pt idx="1">
                  <c:v>Natural Gas</c:v>
                </c:pt>
                <c:pt idx="2">
                  <c:v>Coal</c:v>
                </c:pt>
                <c:pt idx="3">
                  <c:v>Nuclear</c:v>
                </c:pt>
                <c:pt idx="4">
                  <c:v>Hydro</c:v>
                </c:pt>
                <c:pt idx="5">
                  <c:v>Renewables</c:v>
                </c:pt>
              </c:strCache>
            </c:strRef>
          </c:cat>
          <c:val>
            <c:numRef>
              <c:f>'2025'!$C$3:$C$8</c:f>
              <c:numCache>
                <c:formatCode>General</c:formatCode>
                <c:ptCount val="6"/>
                <c:pt idx="0">
                  <c:v>2.65</c:v>
                </c:pt>
                <c:pt idx="1">
                  <c:v>1.1299999999999999</c:v>
                </c:pt>
                <c:pt idx="2">
                  <c:v>0.09</c:v>
                </c:pt>
                <c:pt idx="3">
                  <c:v>0.59</c:v>
                </c:pt>
                <c:pt idx="4">
                  <c:v>0.12</c:v>
                </c:pt>
                <c:pt idx="5">
                  <c:v>0.62</c:v>
                </c:pt>
              </c:numCache>
            </c:numRef>
          </c:val>
          <c:extLst>
            <c:ext xmlns:c16="http://schemas.microsoft.com/office/drawing/2014/chart" uri="{C3380CC4-5D6E-409C-BE32-E72D297353CC}">
              <c16:uniqueId val="{0000000C-13F9-4696-A63A-8FC38875EAF9}"/>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rtl="0">
            <a:defRPr lang="en-US" sz="11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s-ES"/>
        </a:p>
      </c:txPr>
    </c:title>
    <c:autoTitleDeleted val="0"/>
    <c:plotArea>
      <c:layout/>
      <c:pieChart>
        <c:varyColors val="1"/>
        <c:ser>
          <c:idx val="0"/>
          <c:order val="0"/>
          <c:tx>
            <c:strRef>
              <c:f>'2025'!$E$2</c:f>
              <c:strCache>
                <c:ptCount val="1"/>
                <c:pt idx="0">
                  <c:v>Mundo</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00F5-403E-854D-32929032AF7C}"/>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00F5-403E-854D-32929032AF7C}"/>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00F5-403E-854D-32929032AF7C}"/>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00F5-403E-854D-32929032AF7C}"/>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00F5-403E-854D-32929032AF7C}"/>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00F5-403E-854D-32929032AF7C}"/>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00F5-403E-854D-32929032AF7C}"/>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'2025'!$A$3:$A$9</c:f>
              <c:strCache>
                <c:ptCount val="7"/>
                <c:pt idx="0">
                  <c:v>oil</c:v>
                </c:pt>
                <c:pt idx="1">
                  <c:v>Natural Gas</c:v>
                </c:pt>
                <c:pt idx="2">
                  <c:v>Coal</c:v>
                </c:pt>
                <c:pt idx="3">
                  <c:v>Nuclear</c:v>
                </c:pt>
                <c:pt idx="4">
                  <c:v>Hydro</c:v>
                </c:pt>
                <c:pt idx="5">
                  <c:v>Renewables</c:v>
                </c:pt>
                <c:pt idx="6">
                  <c:v>Others</c:v>
                </c:pt>
              </c:strCache>
            </c:strRef>
          </c:cat>
          <c:val>
            <c:numRef>
              <c:f>'2025'!$E$3:$E$9</c:f>
              <c:numCache>
                <c:formatCode>General</c:formatCode>
                <c:ptCount val="7"/>
                <c:pt idx="0">
                  <c:v>710.9</c:v>
                </c:pt>
                <c:pt idx="1">
                  <c:v>7041.6</c:v>
                </c:pt>
                <c:pt idx="2">
                  <c:v>10511</c:v>
                </c:pt>
                <c:pt idx="3">
                  <c:v>2845.4</c:v>
                </c:pt>
                <c:pt idx="4">
                  <c:v>4479.2</c:v>
                </c:pt>
                <c:pt idx="5">
                  <c:v>6270.1</c:v>
                </c:pt>
                <c:pt idx="6">
                  <c:v>343.8</c:v>
                </c:pt>
              </c:numCache>
            </c:numRef>
          </c:val>
          <c:extLst>
            <c:ext xmlns:c16="http://schemas.microsoft.com/office/drawing/2014/chart" uri="{C3380CC4-5D6E-409C-BE32-E72D297353CC}">
              <c16:uniqueId val="{0000000E-00F5-403E-854D-32929032AF7C}"/>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egendEntry>
        <c:idx val="1"/>
        <c:txPr>
          <a:bodyPr rot="0" spcFirstLastPara="1" vertOverflow="ellipsis" vert="horz" wrap="square" anchor="ctr" anchorCtr="1"/>
          <a:lstStyle/>
          <a:p>
            <a:pPr algn="l" rtl="0">
              <a:defRPr lang="en-US" sz="1100" b="0" i="0" u="none" strike="noStrike" kern="1200" baseline="0">
                <a:solidFill>
                  <a:schemeClr val="dk1">
                    <a:lumMod val="75000"/>
                    <a:lumOff val="25000"/>
                  </a:schemeClr>
                </a:solidFill>
                <a:latin typeface="+mn-lt"/>
                <a:ea typeface="+mn-ea"/>
                <a:cs typeface="+mn-cs"/>
              </a:defRPr>
            </a:pPr>
            <a:endParaRPr lang="es-ES"/>
          </a:p>
        </c:txPr>
      </c:legendEntry>
      <c:overlay val="0"/>
      <c:spPr>
        <a:solidFill>
          <a:schemeClr val="lt1">
            <a:lumMod val="95000"/>
            <a:alpha val="39000"/>
          </a:schemeClr>
        </a:solidFill>
        <a:ln>
          <a:noFill/>
        </a:ln>
        <a:effectLst/>
      </c:spPr>
      <c:txPr>
        <a:bodyPr rot="0" spcFirstLastPara="1" vertOverflow="ellipsis" vert="horz" wrap="square" anchor="ctr" anchorCtr="1"/>
        <a:lstStyle/>
        <a:p>
          <a:pPr algn="l" rtl="0">
            <a:defRPr lang="en-US" sz="11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s-ES" noProof="0" dirty="0"/>
              <a:t>España </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s-ES"/>
        </a:p>
      </c:txPr>
    </c:title>
    <c:autoTitleDeleted val="0"/>
    <c:plotArea>
      <c:layout/>
      <c:pieChart>
        <c:varyColors val="1"/>
        <c:ser>
          <c:idx val="1"/>
          <c:order val="0"/>
          <c:tx>
            <c:strRef>
              <c:f>'2025'!$F$2</c:f>
              <c:strCache>
                <c:ptCount val="1"/>
                <c:pt idx="0">
                  <c:v>España</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3F80-4251-AF52-C1C5354489AE}"/>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3F80-4251-AF52-C1C5354489AE}"/>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3F80-4251-AF52-C1C5354489AE}"/>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3F80-4251-AF52-C1C5354489AE}"/>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3F80-4251-AF52-C1C5354489AE}"/>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3F80-4251-AF52-C1C5354489AE}"/>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3F80-4251-AF52-C1C5354489AE}"/>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'2025'!$A$3:$A$9</c:f>
              <c:strCache>
                <c:ptCount val="7"/>
                <c:pt idx="0">
                  <c:v>oil</c:v>
                </c:pt>
                <c:pt idx="1">
                  <c:v>Natural Gas</c:v>
                </c:pt>
                <c:pt idx="2">
                  <c:v>Coal</c:v>
                </c:pt>
                <c:pt idx="3">
                  <c:v>Nuclear</c:v>
                </c:pt>
                <c:pt idx="4">
                  <c:v>Hydro</c:v>
                </c:pt>
                <c:pt idx="5">
                  <c:v>Renewables</c:v>
                </c:pt>
                <c:pt idx="6">
                  <c:v>Others</c:v>
                </c:pt>
              </c:strCache>
            </c:strRef>
          </c:cat>
          <c:val>
            <c:numRef>
              <c:f>'2025'!$F$3:$F$9</c:f>
              <c:numCache>
                <c:formatCode>General</c:formatCode>
                <c:ptCount val="7"/>
                <c:pt idx="0">
                  <c:v>10.3</c:v>
                </c:pt>
                <c:pt idx="1">
                  <c:v>63.1</c:v>
                </c:pt>
                <c:pt idx="2">
                  <c:v>1.8</c:v>
                </c:pt>
                <c:pt idx="3">
                  <c:v>54.2</c:v>
                </c:pt>
                <c:pt idx="4">
                  <c:v>33.700000000000003</c:v>
                </c:pt>
                <c:pt idx="5">
                  <c:v>130.69999999999999</c:v>
                </c:pt>
                <c:pt idx="6">
                  <c:v>7.6</c:v>
                </c:pt>
              </c:numCache>
            </c:numRef>
          </c:val>
          <c:extLst>
            <c:ext xmlns:c16="http://schemas.microsoft.com/office/drawing/2014/chart" uri="{C3380CC4-5D6E-409C-BE32-E72D297353CC}">
              <c16:uniqueId val="{0000000E-3F80-4251-AF52-C1C5354489AE}"/>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lgn="l" rtl="0">
            <a:defRPr lang="en-US" sz="11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ES"/>
              <a:t>Mundo</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E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numRef>
              <c:f>'[Gráfico en Microsoft PowerPoint]Hoja2'!$B$2:$AA$2</c:f>
              <c:numCache>
                <c:formatCode>General</c:formatCode>
                <c:ptCount val="26"/>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numCache>
            </c:numRef>
          </c:cat>
          <c:val>
            <c:numRef>
              <c:f>'[Gráfico en Microsoft PowerPoint]Hoja2'!$B$6:$AA$6</c:f>
              <c:numCache>
                <c:formatCode>0</c:formatCode>
                <c:ptCount val="26"/>
                <c:pt idx="0">
                  <c:v>23.673404210409149</c:v>
                </c:pt>
                <c:pt idx="1">
                  <c:v>24.0072118830529</c:v>
                </c:pt>
                <c:pt idx="2">
                  <c:v>24.545238018944751</c:v>
                </c:pt>
                <c:pt idx="3">
                  <c:v>25.755390939193489</c:v>
                </c:pt>
                <c:pt idx="4">
                  <c:v>27.117602823227219</c:v>
                </c:pt>
                <c:pt idx="5">
                  <c:v>28.203199725848719</c:v>
                </c:pt>
                <c:pt idx="6">
                  <c:v>29.07913433195511</c:v>
                </c:pt>
                <c:pt idx="7">
                  <c:v>30.11961761163311</c:v>
                </c:pt>
                <c:pt idx="8">
                  <c:v>30.393166124480299</c:v>
                </c:pt>
                <c:pt idx="9">
                  <c:v>29.72196645001711</c:v>
                </c:pt>
                <c:pt idx="10">
                  <c:v>31.03286238091026</c:v>
                </c:pt>
                <c:pt idx="11">
                  <c:v>31.871249049323911</c:v>
                </c:pt>
                <c:pt idx="12">
                  <c:v>32.219799509942838</c:v>
                </c:pt>
                <c:pt idx="13">
                  <c:v>32.676790273042343</c:v>
                </c:pt>
                <c:pt idx="14">
                  <c:v>32.779022831792709</c:v>
                </c:pt>
                <c:pt idx="15">
                  <c:v>32.773711969485355</c:v>
                </c:pt>
                <c:pt idx="16">
                  <c:v>32.818008061436338</c:v>
                </c:pt>
                <c:pt idx="17">
                  <c:v>33.306180643384081</c:v>
                </c:pt>
                <c:pt idx="18">
                  <c:v>34.013900792871304</c:v>
                </c:pt>
                <c:pt idx="19">
                  <c:v>34.04398221478683</c:v>
                </c:pt>
                <c:pt idx="20">
                  <c:v>32.284869494726621</c:v>
                </c:pt>
                <c:pt idx="21">
                  <c:v>34.052219380877375</c:v>
                </c:pt>
                <c:pt idx="22">
                  <c:v>34.513199999999998</c:v>
                </c:pt>
                <c:pt idx="23">
                  <c:v>35.023900000000005</c:v>
                </c:pt>
                <c:pt idx="24">
                  <c:v>35.497399999999999</c:v>
                </c:pt>
                <c:pt idx="25">
                  <c:v>35.806199999999997</c:v>
                </c:pt>
              </c:numCache>
            </c:numRef>
          </c:val>
          <c:extLst>
            <c:ext xmlns:c16="http://schemas.microsoft.com/office/drawing/2014/chart" uri="{C3380CC4-5D6E-409C-BE32-E72D297353CC}">
              <c16:uniqueId val="{00000000-0526-4085-B6E2-FF0073138CD2}"/>
            </c:ext>
          </c:extLst>
        </c:ser>
        <c:dLbls>
          <c:showLegendKey val="0"/>
          <c:showVal val="0"/>
          <c:showCatName val="0"/>
          <c:showSerName val="0"/>
          <c:showPercent val="0"/>
          <c:showBubbleSize val="0"/>
        </c:dLbls>
        <c:gapWidth val="100"/>
        <c:overlap val="-24"/>
        <c:axId val="689958959"/>
        <c:axId val="733887775"/>
      </c:barChart>
      <c:catAx>
        <c:axId val="689958959"/>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ES"/>
          </a:p>
        </c:txPr>
        <c:crossAx val="733887775"/>
        <c:crosses val="autoZero"/>
        <c:auto val="1"/>
        <c:lblAlgn val="ctr"/>
        <c:lblOffset val="100"/>
        <c:noMultiLvlLbl val="0"/>
      </c:catAx>
      <c:valAx>
        <c:axId val="73388777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s-ES" sz="1800"/>
                  <a:t>GtCO2</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E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ES"/>
          </a:p>
        </c:txPr>
        <c:crossAx val="68995895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s-ES"/>
              <a:t>España</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E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numRef>
              <c:f>'[Gráfico en Microsoft PowerPoint]Hoja2'!$B$2:$AA$2</c:f>
              <c:numCache>
                <c:formatCode>General</c:formatCode>
                <c:ptCount val="26"/>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numCache>
            </c:numRef>
          </c:cat>
          <c:val>
            <c:numRef>
              <c:f>'[Gráfico en Microsoft PowerPoint]Hoja2'!$B$4:$AA$4</c:f>
              <c:numCache>
                <c:formatCode>[&gt;0.05]0.000;[=0]\-;\^</c:formatCode>
                <c:ptCount val="26"/>
                <c:pt idx="0">
                  <c:v>0.30932446141913528</c:v>
                </c:pt>
                <c:pt idx="1">
                  <c:v>0.31399185738712548</c:v>
                </c:pt>
                <c:pt idx="2">
                  <c:v>0.33230140166357158</c:v>
                </c:pt>
                <c:pt idx="3">
                  <c:v>0.34008160391589631</c:v>
                </c:pt>
                <c:pt idx="4">
                  <c:v>0.36209397541917859</c:v>
                </c:pt>
                <c:pt idx="5">
                  <c:v>0.37494185513583939</c:v>
                </c:pt>
                <c:pt idx="6">
                  <c:v>0.36937047416297719</c:v>
                </c:pt>
                <c:pt idx="7">
                  <c:v>0.38053829378820964</c:v>
                </c:pt>
                <c:pt idx="8">
                  <c:v>0.35479975495859983</c:v>
                </c:pt>
                <c:pt idx="9">
                  <c:v>0.31627353952452542</c:v>
                </c:pt>
                <c:pt idx="10">
                  <c:v>0.30014985658228399</c:v>
                </c:pt>
                <c:pt idx="11">
                  <c:v>0.30852929513342681</c:v>
                </c:pt>
                <c:pt idx="12">
                  <c:v>0.30627406421862541</c:v>
                </c:pt>
                <c:pt idx="13">
                  <c:v>0.27450774695351721</c:v>
                </c:pt>
                <c:pt idx="14">
                  <c:v>0.27185402811784298</c:v>
                </c:pt>
                <c:pt idx="15">
                  <c:v>0.28787017940543591</c:v>
                </c:pt>
                <c:pt idx="16">
                  <c:v>0.28062132733128958</c:v>
                </c:pt>
                <c:pt idx="17">
                  <c:v>0.2982515146043152</c:v>
                </c:pt>
                <c:pt idx="18">
                  <c:v>0.29300769516173752</c:v>
                </c:pt>
                <c:pt idx="19">
                  <c:v>0.27616382190119482</c:v>
                </c:pt>
                <c:pt idx="20">
                  <c:v>0.2233382225325331</c:v>
                </c:pt>
                <c:pt idx="21">
                  <c:v>0.24357483083382248</c:v>
                </c:pt>
                <c:pt idx="22">
                  <c:v>0.26094423450343313</c:v>
                </c:pt>
                <c:pt idx="23">
                  <c:v>0.24159999999999998</c:v>
                </c:pt>
                <c:pt idx="24">
                  <c:v>0.24890000000000001</c:v>
                </c:pt>
                <c:pt idx="25">
                  <c:v>0.25340000000000001</c:v>
                </c:pt>
              </c:numCache>
            </c:numRef>
          </c:val>
          <c:extLst>
            <c:ext xmlns:c16="http://schemas.microsoft.com/office/drawing/2014/chart" uri="{C3380CC4-5D6E-409C-BE32-E72D297353CC}">
              <c16:uniqueId val="{00000000-DE7D-4833-9EB3-45B0E117342F}"/>
            </c:ext>
          </c:extLst>
        </c:ser>
        <c:dLbls>
          <c:showLegendKey val="0"/>
          <c:showVal val="0"/>
          <c:showCatName val="0"/>
          <c:showSerName val="0"/>
          <c:showPercent val="0"/>
          <c:showBubbleSize val="0"/>
        </c:dLbls>
        <c:gapWidth val="100"/>
        <c:overlap val="-24"/>
        <c:axId val="323993295"/>
        <c:axId val="733884031"/>
      </c:barChart>
      <c:catAx>
        <c:axId val="323993295"/>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ES"/>
          </a:p>
        </c:txPr>
        <c:crossAx val="733884031"/>
        <c:crosses val="autoZero"/>
        <c:auto val="1"/>
        <c:lblAlgn val="ctr"/>
        <c:lblOffset val="100"/>
        <c:noMultiLvlLbl val="0"/>
      </c:catAx>
      <c:valAx>
        <c:axId val="73388403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s-ES" sz="1800"/>
                  <a:t>GtCO2</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ES"/>
            </a:p>
          </c:txPr>
        </c:title>
        <c:numFmt formatCode="[&gt;0.05]0.0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ES"/>
          </a:p>
        </c:txPr>
        <c:crossAx val="3239932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A14E-484F-8A98-E31DC9FFCAC1}"/>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A14E-484F-8A98-E31DC9FFCAC1}"/>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A14E-484F-8A98-E31DC9FFCAC1}"/>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A14E-484F-8A98-E31DC9FFCAC1}"/>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A14E-484F-8A98-E31DC9FFCAC1}"/>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A14E-484F-8A98-E31DC9FFCAC1}"/>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lt1"/>
                    </a:solidFill>
                    <a:latin typeface="+mn-lt"/>
                    <a:ea typeface="+mn-ea"/>
                    <a:cs typeface="+mn-cs"/>
                  </a:defRPr>
                </a:pPr>
                <a:endParaRPr lang="es-E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Hoja1!$I$3:$N$3</c:f>
              <c:strCache>
                <c:ptCount val="6"/>
                <c:pt idx="0">
                  <c:v>Oil</c:v>
                </c:pt>
                <c:pt idx="1">
                  <c:v>Natural Gas</c:v>
                </c:pt>
                <c:pt idx="2">
                  <c:v>Coal</c:v>
                </c:pt>
                <c:pt idx="3">
                  <c:v>Nuclear energy</c:v>
                </c:pt>
                <c:pt idx="4">
                  <c:v>Hydro electric</c:v>
                </c:pt>
                <c:pt idx="5">
                  <c:v>Renew- ables</c:v>
                </c:pt>
              </c:strCache>
            </c:strRef>
          </c:cat>
          <c:val>
            <c:numRef>
              <c:f>Hoja1!$I$100:$N$100</c:f>
              <c:numCache>
                <c:formatCode>0</c:formatCode>
                <c:ptCount val="6"/>
                <c:pt idx="0">
                  <c:v>46.159191015842772</c:v>
                </c:pt>
                <c:pt idx="1">
                  <c:v>20.702418961413258</c:v>
                </c:pt>
                <c:pt idx="2">
                  <c:v>2.9343351975225733</c:v>
                </c:pt>
                <c:pt idx="3">
                  <c:v>9.169865424085657</c:v>
                </c:pt>
                <c:pt idx="4">
                  <c:v>2.9740270620999358</c:v>
                </c:pt>
                <c:pt idx="5">
                  <c:v>18.060162339035788</c:v>
                </c:pt>
              </c:numCache>
            </c:numRef>
          </c:val>
          <c:extLst>
            <c:ext xmlns:c16="http://schemas.microsoft.com/office/drawing/2014/chart" uri="{C3380CC4-5D6E-409C-BE32-E72D297353CC}">
              <c16:uniqueId val="{0000000C-A14E-484F-8A98-E31DC9FFCAC1}"/>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s-ES"/>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026074074074074"/>
          <c:y val="3.9513473338783904E-2"/>
          <c:w val="0.76799444444444442"/>
          <c:h val="0.78524475481146416"/>
        </c:manualLayout>
      </c:layout>
      <c:areaChart>
        <c:grouping val="stacked"/>
        <c:varyColors val="0"/>
        <c:ser>
          <c:idx val="0"/>
          <c:order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38100" cap="flat" cmpd="sng" algn="ctr">
              <a:solidFill>
                <a:schemeClr val="accent1">
                  <a:shade val="95000"/>
                </a:schemeClr>
              </a:solidFill>
              <a:round/>
            </a:ln>
            <a:effectLst/>
          </c:spPr>
          <c:cat>
            <c:numRef>
              <c:f>'Primary Energy Consumption (2)'!$B$3:$X$3</c:f>
              <c:numCache>
                <c:formatCode>General</c:formatCode>
                <c:ptCount val="23"/>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numCache>
            </c:numRef>
          </c:cat>
          <c:val>
            <c:numRef>
              <c:f>'Primary Energy Consumption (2)'!$B$50:$X$50</c:f>
              <c:numCache>
                <c:formatCode>[&gt;0.005]0.00;[=0]\-;\^</c:formatCode>
                <c:ptCount val="23"/>
                <c:pt idx="0">
                  <c:v>5.4994930845456107</c:v>
                </c:pt>
                <c:pt idx="1">
                  <c:v>5.7522712049492082</c:v>
                </c:pt>
                <c:pt idx="2">
                  <c:v>5.8142701871735971</c:v>
                </c:pt>
                <c:pt idx="3">
                  <c:v>6.1447305208019234</c:v>
                </c:pt>
                <c:pt idx="4">
                  <c:v>6.3695874511748833</c:v>
                </c:pt>
                <c:pt idx="5">
                  <c:v>6.413209718735585</c:v>
                </c:pt>
                <c:pt idx="6">
                  <c:v>6.5059200287553614</c:v>
                </c:pt>
                <c:pt idx="7">
                  <c:v>6.6485751888783131</c:v>
                </c:pt>
                <c:pt idx="8">
                  <c:v>6.4649340165908411</c:v>
                </c:pt>
                <c:pt idx="9">
                  <c:v>5.9933015264043377</c:v>
                </c:pt>
                <c:pt idx="10">
                  <c:v>6.1555764045649024</c:v>
                </c:pt>
                <c:pt idx="11">
                  <c:v>6.0394658154925693</c:v>
                </c:pt>
                <c:pt idx="12">
                  <c:v>6.005973591510247</c:v>
                </c:pt>
                <c:pt idx="13">
                  <c:v>5.7056072875895154</c:v>
                </c:pt>
                <c:pt idx="14">
                  <c:v>5.5999843065722867</c:v>
                </c:pt>
                <c:pt idx="15">
                  <c:v>5.66986401052446</c:v>
                </c:pt>
                <c:pt idx="16">
                  <c:v>5.7239073293612721</c:v>
                </c:pt>
                <c:pt idx="17">
                  <c:v>5.7891995223968529</c:v>
                </c:pt>
                <c:pt idx="18">
                  <c:v>5.8934889764868279</c:v>
                </c:pt>
                <c:pt idx="19">
                  <c:v>5.7289837302308069</c:v>
                </c:pt>
                <c:pt idx="20">
                  <c:v>5.1820097847668878</c:v>
                </c:pt>
                <c:pt idx="21">
                  <c:v>5.5545435038206206</c:v>
                </c:pt>
                <c:pt idx="22">
                  <c:v>5.7553172138034858</c:v>
                </c:pt>
              </c:numCache>
            </c:numRef>
          </c:val>
          <c:extLst>
            <c:ext xmlns:c16="http://schemas.microsoft.com/office/drawing/2014/chart" uri="{C3380CC4-5D6E-409C-BE32-E72D297353CC}">
              <c16:uniqueId val="{00000000-61D0-4689-82A8-056096754B26}"/>
            </c:ext>
          </c:extLst>
        </c:ser>
        <c:dLbls>
          <c:showLegendKey val="0"/>
          <c:showVal val="0"/>
          <c:showCatName val="0"/>
          <c:showSerName val="0"/>
          <c:showPercent val="0"/>
          <c:showBubbleSize val="0"/>
        </c:dLbls>
        <c:axId val="1060299328"/>
        <c:axId val="1256489199"/>
      </c:areaChart>
      <c:catAx>
        <c:axId val="106029932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s-ES"/>
          </a:p>
        </c:txPr>
        <c:crossAx val="1256489199"/>
        <c:crosses val="autoZero"/>
        <c:auto val="1"/>
        <c:lblAlgn val="ctr"/>
        <c:lblOffset val="100"/>
        <c:noMultiLvlLbl val="0"/>
      </c:catAx>
      <c:valAx>
        <c:axId val="125648919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cap="all" baseline="0">
                    <a:solidFill>
                      <a:sysClr val="windowText" lastClr="000000"/>
                    </a:solidFill>
                    <a:latin typeface="+mn-lt"/>
                    <a:ea typeface="+mn-ea"/>
                    <a:cs typeface="+mn-cs"/>
                  </a:defRPr>
                </a:pPr>
                <a:r>
                  <a:rPr lang="es-ES" sz="1200" noProof="0" dirty="0">
                    <a:solidFill>
                      <a:sysClr val="windowText" lastClr="000000"/>
                    </a:solidFill>
                  </a:rPr>
                  <a:t>Energía </a:t>
                </a:r>
                <a:r>
                  <a:rPr lang="es-ES" sz="1200" noProof="0" dirty="0" err="1">
                    <a:solidFill>
                      <a:sysClr val="windowText" lastClr="000000"/>
                    </a:solidFill>
                  </a:rPr>
                  <a:t>consUmida</a:t>
                </a:r>
                <a:r>
                  <a:rPr lang="es-ES" sz="1200" noProof="0" dirty="0">
                    <a:solidFill>
                      <a:sysClr val="windowText" lastClr="000000"/>
                    </a:solidFill>
                  </a:rPr>
                  <a:t> (EJ)</a:t>
                </a:r>
              </a:p>
            </c:rich>
          </c:tx>
          <c:overlay val="0"/>
          <c:spPr>
            <a:noFill/>
            <a:ln>
              <a:noFill/>
            </a:ln>
            <a:effectLst/>
          </c:spPr>
          <c:txPr>
            <a:bodyPr rot="-5400000" spcFirstLastPara="1" vertOverflow="ellipsis" vert="horz" wrap="square" anchor="ctr" anchorCtr="1"/>
            <a:lstStyle/>
            <a:p>
              <a:pPr>
                <a:defRPr sz="1200" b="0" i="0" u="none" strike="noStrike" kern="1200" cap="all" baseline="0">
                  <a:solidFill>
                    <a:sysClr val="windowText" lastClr="000000"/>
                  </a:solidFill>
                  <a:latin typeface="+mn-lt"/>
                  <a:ea typeface="+mn-ea"/>
                  <a:cs typeface="+mn-cs"/>
                </a:defRPr>
              </a:pPr>
              <a:endParaRPr lang="es-ES"/>
            </a:p>
          </c:txPr>
        </c:title>
        <c:numFmt formatCode="[&gt;0.005]0.00;[=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s-ES"/>
          </a:p>
        </c:txPr>
        <c:crossAx val="1060299328"/>
        <c:crosses val="autoZero"/>
        <c:crossBetween val="midCat"/>
      </c:valAx>
      <c:spPr>
        <a:noFill/>
        <a:ln cap="rnd" cmpd="sng">
          <a:solidFill>
            <a:schemeClr val="accent1">
              <a:shade val="95000"/>
            </a:schemeClr>
          </a:solidFill>
        </a:ln>
        <a:effectLst/>
      </c:spPr>
    </c:plotArea>
    <c:plotVisOnly val="1"/>
    <c:dispBlanksAs val="zero"/>
    <c:showDLblsOverMax val="0"/>
  </c:chart>
  <c:spPr>
    <a:noFill/>
    <a:ln>
      <a:noFill/>
    </a:ln>
    <a:effectLst/>
  </c:spPr>
  <c:txPr>
    <a:bodyPr/>
    <a:lstStyle/>
    <a:p>
      <a:pPr>
        <a:defRPr/>
      </a:pPr>
      <a:endParaRPr lang="es-E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3.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4813" cy="4968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48100" y="0"/>
            <a:ext cx="2944813" cy="4968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67263"/>
            <a:ext cx="5435600" cy="390048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09113"/>
            <a:ext cx="2944813" cy="4968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48100" y="9409113"/>
            <a:ext cx="2944813" cy="4968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Times New Roman"/>
                <a:ea typeface="Times New Roman"/>
                <a:cs typeface="Times New Roman"/>
                <a:sym typeface="Times New Roman"/>
              </a:rPr>
              <a:t>‹Nº›</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1: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 name="Google Shape;24;p1: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 name="Google Shape;29;p2: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3: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 name="Google Shape;36;p3: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p5: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4549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7: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7: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8: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8: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9: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9: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0: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0: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1: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11: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0: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0: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1: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2" name="Google Shape;242;p21: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2: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22: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3: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9" name="Google Shape;259;p23: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3: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r>
              <a:rPr lang="es-ES" b="1" dirty="0"/>
              <a:t>1. Método de la Energía Física Contenida</a:t>
            </a:r>
          </a:p>
          <a:p>
            <a:r>
              <a:rPr lang="es-ES" dirty="0"/>
              <a:t>Este método se centra en estimar la energía primaria equivalente generada por una fuente de energía no combustible, basándose en la </a:t>
            </a:r>
            <a:r>
              <a:rPr lang="es-ES" b="1" dirty="0"/>
              <a:t>cantidad de calor producido</a:t>
            </a:r>
            <a:r>
              <a:rPr lang="es-ES" dirty="0"/>
              <a:t>. Es particularmente relevante para formas primarias de energía que se manifiestan como calor, como la energía nuclear o la geotérmica.</a:t>
            </a:r>
          </a:p>
          <a:p>
            <a:r>
              <a:rPr lang="es-ES" b="1" dirty="0"/>
              <a:t>¿Qué representa?</a:t>
            </a:r>
            <a:r>
              <a:rPr lang="es-ES" dirty="0"/>
              <a:t> Busca reflejar la cantidad real de energía contenida en el "combustible" primario o la fuente original. En el caso nuclear, sería la energía latente en el uranio fisible; en la geotermia, el calor del subsuelo.</a:t>
            </a:r>
          </a:p>
          <a:p>
            <a:r>
              <a:rPr lang="es-ES" b="1" dirty="0"/>
              <a:t>Ventajas destacadas en tu imagen:</a:t>
            </a:r>
            <a:endParaRPr lang="es-ES" dirty="0"/>
          </a:p>
          <a:p>
            <a:pPr lvl="1"/>
            <a:r>
              <a:rPr lang="es-ES" b="1" dirty="0"/>
              <a:t>Refleja la cantidad real de energía contenida en el combustible:</a:t>
            </a:r>
            <a:r>
              <a:rPr lang="es-ES" dirty="0"/>
              <a:t> Esto sugiere que intenta cuantificar la energía potencial o intrínseca de la fuente.</a:t>
            </a:r>
          </a:p>
          <a:p>
            <a:r>
              <a:rPr lang="es-ES" b="1" dirty="0"/>
              <a:t>Desventajas destacadas en tu imagen:</a:t>
            </a:r>
            <a:endParaRPr lang="es-ES" dirty="0"/>
          </a:p>
          <a:p>
            <a:pPr lvl="1"/>
            <a:r>
              <a:rPr lang="es-ES" b="1" dirty="0"/>
              <a:t>Subestima las energías renovables:</a:t>
            </a:r>
            <a:r>
              <a:rPr lang="es-ES" dirty="0"/>
              <a:t> Esto es un punto crítico. Fuentes como la solar fotovoltaica o la eólica no tienen una "cantidad de calor producido" directo o un "combustible" en el sentido tradicional. Aplicar este método a estas fuentes implicaría asignarles un factor de conversión de 1 (es decir, 1 unidad de energía generada = 1 unidad de energía primaria), lo que no refleja el esfuerzo energético real para su aprovechamiento o la energía de la fuente primaria que "pasa a través" del sistema.</a:t>
            </a:r>
          </a:p>
          <a:p>
            <a:pPr lvl="1"/>
            <a:r>
              <a:rPr lang="es-ES" b="1" dirty="0"/>
              <a:t>Necesita un factor de conversión para el calor producido:</a:t>
            </a:r>
            <a:r>
              <a:rPr lang="es-ES" dirty="0"/>
              <a:t> Como se menciona, se requieren eficiencias de conversión (ej., nuclear 33%, geotérmica 10%). Esto implica que se asume que la fuente no produce directamente energía eléctrica utilizable y que su calor debe ser convertido a otra forma (usualmente electricidad), implicando pérdidas.</a:t>
            </a:r>
          </a:p>
          <a:p>
            <a:r>
              <a:rPr lang="es-ES" b="1" dirty="0"/>
              <a:t>Crítica/Contexto adicional:</a:t>
            </a:r>
            <a:r>
              <a:rPr lang="es-ES" dirty="0"/>
              <a:t> Este método es más adecuado para fuentes térmicas que requieren una conversión a electricidad. Para renovables como la eólica o solar, es controvertido y a menudo se prefiere otros métodos para evitar subestimar su impacto en la energía primaria.</a:t>
            </a:r>
          </a:p>
          <a:p>
            <a:r>
              <a:rPr lang="es-ES" b="1" dirty="0"/>
              <a:t>2. Método de Sustitución Parcial</a:t>
            </a:r>
          </a:p>
          <a:p>
            <a:r>
              <a:rPr lang="es-ES" dirty="0"/>
              <a:t>Este método estima la energía primaria equivalente de una fuente de energía no combustible considerando </a:t>
            </a:r>
            <a:r>
              <a:rPr lang="es-ES" b="1" dirty="0"/>
              <a:t>qué cantidad de combustible fósil sería necesaria para producir la misma cantidad de electricidad</a:t>
            </a:r>
            <a:r>
              <a:rPr lang="es-ES" dirty="0"/>
              <a:t>.</a:t>
            </a:r>
          </a:p>
          <a:p>
            <a:r>
              <a:rPr lang="es-ES" b="1" dirty="0"/>
              <a:t>¿Qué representa?</a:t>
            </a:r>
            <a:r>
              <a:rPr lang="es-ES" dirty="0"/>
              <a:t> Es un enfoque contrafactual. No busca la energía intrínseca de la fuente no combustible, sino el ahorro de combustible fósil que se logra al utilizarla. Si una eólica produce 1 kWh, ¿cuánto gas o carbón se habría quemado en una central térmica para producir ese mismo kWh?</a:t>
            </a:r>
          </a:p>
          <a:p>
            <a:r>
              <a:rPr lang="es-ES" b="1" dirty="0"/>
              <a:t>Ventajas destacadas en tu imagen:</a:t>
            </a:r>
            <a:endParaRPr lang="es-ES" dirty="0"/>
          </a:p>
          <a:p>
            <a:pPr lvl="1"/>
            <a:r>
              <a:rPr lang="es-ES" b="1" dirty="0"/>
              <a:t>Permite conocer la cantidad de energía renovable equivalente a la de combustible fósil:</a:t>
            </a:r>
            <a:r>
              <a:rPr lang="es-ES" dirty="0"/>
              <a:t> Esto es muy útil para la contabilidad de las emisiones de carbono y para evaluar la contribución de las renovables en términos de desplazamiento de fósiles.</a:t>
            </a:r>
          </a:p>
          <a:p>
            <a:r>
              <a:rPr lang="es-ES" b="1" dirty="0"/>
              <a:t>Desventajas destacadas en tu imagen:</a:t>
            </a:r>
            <a:endParaRPr lang="es-ES" dirty="0"/>
          </a:p>
          <a:p>
            <a:pPr lvl="1"/>
            <a:r>
              <a:rPr lang="es-ES" b="1" dirty="0"/>
              <a:t>Depende de factores de conversión comparables con la eficiencia de una central térmica convencional (ej., carbón 38%):</a:t>
            </a:r>
            <a:r>
              <a:rPr lang="es-ES" dirty="0"/>
              <a:t> Esta es su principal limitación. El resultado de la energía primaria equivalente de una fuente renovable (o nuclear) variará drásticamente dependiendo de la eficiencia promedio del tipo de central térmica fósil que se tome como referencia (carbón, gas, ciclo combinado). Esto hace que la comparación no sea "absoluta" sino dependiente del contexto del </a:t>
            </a:r>
            <a:r>
              <a:rPr lang="es-ES" dirty="0" err="1"/>
              <a:t>mix</a:t>
            </a:r>
            <a:r>
              <a:rPr lang="es-ES" dirty="0"/>
              <a:t> energético de respaldo.</a:t>
            </a:r>
          </a:p>
          <a:p>
            <a:r>
              <a:rPr lang="es-ES" b="1" dirty="0"/>
              <a:t>Crítica/Contexto adicional:</a:t>
            </a:r>
            <a:r>
              <a:rPr lang="es-ES" dirty="0"/>
              <a:t> Es un método muy común y práctico para evaluar la contribución de las energías no fósiles al desplazamiento de la energía fósil, pero su valor numérico no representa la "energía intrínseca" de la fuente, sino un "equivalente de combustible fósil evitado".</a:t>
            </a:r>
          </a:p>
          <a:p>
            <a:r>
              <a:rPr lang="es-ES" b="1" dirty="0"/>
              <a:t>3. Método Equivalente Directo</a:t>
            </a:r>
          </a:p>
          <a:p>
            <a:r>
              <a:rPr lang="es-ES" dirty="0"/>
              <a:t>Este método es el más simple y calcula la energía primaria equivalente como la </a:t>
            </a:r>
            <a:r>
              <a:rPr lang="es-ES" b="1" dirty="0"/>
              <a:t>cantidad de electricidad generada por una fuente de energía</a:t>
            </a:r>
            <a:r>
              <a:rPr lang="es-ES" dirty="0"/>
              <a:t>.</a:t>
            </a:r>
          </a:p>
          <a:p>
            <a:r>
              <a:rPr lang="es-ES" b="1" dirty="0"/>
              <a:t>¿Qué representa?</a:t>
            </a:r>
            <a:r>
              <a:rPr lang="es-ES" dirty="0"/>
              <a:t> Asume una conversión directa de 1 a 1 entre la energía final generada (generalmente electricidad) y la energía primaria equivalente. Es decir, si una planta solar produce 1 kWh de electricidad, se considera que ha "utilizado" 1 kWh de energía primaria solar.</a:t>
            </a:r>
          </a:p>
          <a:p>
            <a:r>
              <a:rPr lang="es-ES" b="1" dirty="0"/>
              <a:t>Ventajas destacadas en tu imagen:</a:t>
            </a:r>
            <a:endParaRPr lang="es-ES" dirty="0"/>
          </a:p>
          <a:p>
            <a:pPr lvl="1"/>
            <a:r>
              <a:rPr lang="es-ES" b="1" dirty="0"/>
              <a:t>Método simple con una conversión directa:</a:t>
            </a:r>
            <a:r>
              <a:rPr lang="es-ES" dirty="0"/>
              <a:t> Su principal ventaja es su sencillez.</a:t>
            </a:r>
          </a:p>
          <a:p>
            <a:r>
              <a:rPr lang="es-ES" b="1" dirty="0"/>
              <a:t>Desventajas destacadas en tu imagen:</a:t>
            </a:r>
            <a:endParaRPr lang="es-ES" dirty="0"/>
          </a:p>
          <a:p>
            <a:pPr lvl="1"/>
            <a:r>
              <a:rPr lang="es-ES" b="1" dirty="0"/>
              <a:t>Los resultados no reflejan la cantidad de energía de forma no eléctrica empleada:</a:t>
            </a:r>
            <a:r>
              <a:rPr lang="es-ES" dirty="0"/>
              <a:t> Esta es su gran debilidad. No considera las pérdidas en la transformación de la energía primaria a electricidad si la fuente es térmica (ej., nuclear, geotérmica, donde hay pérdidas por termodinámica), ni el vasto recurso primario que es "aprovechado" por fuentes como la eólica o solar. En otras palabras, 1 kWh de electricidad generada por una nuclear requiere, en realidad, mucha más energía primaria de uranio de la que se convierte en electricidad. Este método ignora esas pérdidas.</a:t>
            </a:r>
          </a:p>
          <a:p>
            <a:r>
              <a:rPr lang="es-ES" b="1" dirty="0"/>
              <a:t>Crítica/Contexto adicional:</a:t>
            </a:r>
            <a:r>
              <a:rPr lang="es-ES" dirty="0"/>
              <a:t> Este método es a menudo criticado por su simplismo, ya que no permite una comparación justa entre fuentes primarias que pasan por procesos de conversión complejos (con pérdidas significativas, como la nuclear o térmica) y fuentes que producen electricidad directamente (eólica, solar fotovoltaica) o que son consumidas directamente. Tiende a subestimar la energía primaria asociada a las fuentes térmicas y a sobrestimar la de las renovables directas si el objetivo es reflejar la energía "original".</a:t>
            </a:r>
          </a:p>
          <a:p>
            <a:r>
              <a:rPr lang="es-ES" b="1" dirty="0"/>
              <a:t>Conclusión General</a:t>
            </a:r>
          </a:p>
          <a:p>
            <a:r>
              <a:rPr lang="es-ES" dirty="0"/>
              <a:t>La elección del método depende del </a:t>
            </a:r>
            <a:r>
              <a:rPr lang="es-ES" b="1" dirty="0"/>
              <a:t>propósito del cálculo</a:t>
            </a:r>
            <a:r>
              <a:rPr lang="es-ES" dirty="0"/>
              <a:t>.</a:t>
            </a:r>
          </a:p>
          <a:p>
            <a:r>
              <a:rPr lang="es-ES" dirty="0"/>
              <a:t>Si quieres entender la </a:t>
            </a:r>
            <a:r>
              <a:rPr lang="es-ES" b="1" dirty="0"/>
              <a:t>huella de recursos primarios y las pérdidas inherentes a la conversión de calor a electricidad</a:t>
            </a:r>
            <a:r>
              <a:rPr lang="es-ES" dirty="0"/>
              <a:t> (para nuclear o geotermia), el </a:t>
            </a:r>
            <a:r>
              <a:rPr lang="es-ES" b="1" dirty="0"/>
              <a:t>Método de la Energía Física Contenida</a:t>
            </a:r>
            <a:r>
              <a:rPr lang="es-ES" dirty="0"/>
              <a:t> es más pertinente.</a:t>
            </a:r>
          </a:p>
          <a:p>
            <a:r>
              <a:rPr lang="es-ES" dirty="0"/>
              <a:t>Si tu objetivo es cuantificar el </a:t>
            </a:r>
            <a:r>
              <a:rPr lang="es-ES" b="1" dirty="0"/>
              <a:t>ahorro de combustibles fósiles y las emisiones de CO2 evitadas</a:t>
            </a:r>
            <a:r>
              <a:rPr lang="es-ES" dirty="0"/>
              <a:t> gracias a las energías no combustibles, el </a:t>
            </a:r>
            <a:r>
              <a:rPr lang="es-ES" b="1" dirty="0"/>
              <a:t>Método de Sustitución Parcial</a:t>
            </a:r>
            <a:r>
              <a:rPr lang="es-ES" dirty="0"/>
              <a:t> es muy útil.</a:t>
            </a:r>
          </a:p>
          <a:p>
            <a:r>
              <a:rPr lang="es-ES" dirty="0"/>
              <a:t>El </a:t>
            </a:r>
            <a:r>
              <a:rPr lang="es-ES" b="1" dirty="0"/>
              <a:t>Método Equivalente Directo</a:t>
            </a:r>
            <a:r>
              <a:rPr lang="es-ES" dirty="0"/>
              <a:t> es el más sencillo, pero su simplicidad lo hace menos representativo de la realidad energética compleja y no permite comparaciones justas entre distintas tecnologías.</a:t>
            </a:r>
          </a:p>
          <a:p>
            <a:r>
              <a:rPr lang="es-ES" dirty="0"/>
              <a:t>En la práctica, los organismos de energía y normativas suelen especificar qué método o factores de conversión deben utilizarse para asegurar la coherencia en los informes y certificaciones. Por ejemplo, la directiva europea EPBD (Energy Performance </a:t>
            </a:r>
            <a:r>
              <a:rPr lang="es-ES" dirty="0" err="1"/>
              <a:t>of</a:t>
            </a:r>
            <a:r>
              <a:rPr lang="es-ES" dirty="0"/>
              <a:t> </a:t>
            </a:r>
            <a:r>
              <a:rPr lang="es-ES" dirty="0" err="1"/>
              <a:t>Buildings</a:t>
            </a:r>
            <a:r>
              <a:rPr lang="es-ES" dirty="0"/>
              <a:t> Directive) define factores de energía primaria para la electricidad de la red que consideran el </a:t>
            </a:r>
            <a:r>
              <a:rPr lang="es-ES" dirty="0" err="1"/>
              <a:t>mix</a:t>
            </a:r>
            <a:r>
              <a:rPr lang="es-ES" dirty="0"/>
              <a:t> energético nacional, que se asemeja más a un enfoque de sustitución o incluso a una mezcla compleja que considera las pérdidas de la red.</a:t>
            </a:r>
          </a:p>
          <a:p>
            <a:pPr marL="0" lvl="0" indent="0" algn="l" rtl="0">
              <a:spcBef>
                <a:spcPts val="0"/>
              </a:spcBef>
              <a:spcAft>
                <a:spcPts val="0"/>
              </a:spcAft>
              <a:buNone/>
            </a:pPr>
            <a:endParaRPr dirty="0"/>
          </a:p>
        </p:txBody>
      </p:sp>
      <p:sp>
        <p:nvSpPr>
          <p:cNvPr id="259" name="Google Shape;259;p23: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765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DFB5B29D-5177-A65F-9209-91407694FC81}"/>
            </a:ext>
          </a:extLst>
        </p:cNvPr>
        <p:cNvGrpSpPr/>
        <p:nvPr/>
      </p:nvGrpSpPr>
      <p:grpSpPr>
        <a:xfrm>
          <a:off x="0" y="0"/>
          <a:ext cx="0" cy="0"/>
          <a:chOff x="0" y="0"/>
          <a:chExt cx="0" cy="0"/>
        </a:xfrm>
      </p:grpSpPr>
      <p:sp>
        <p:nvSpPr>
          <p:cNvPr id="258" name="Google Shape;258;p23:notes">
            <a:extLst>
              <a:ext uri="{FF2B5EF4-FFF2-40B4-BE49-F238E27FC236}">
                <a16:creationId xmlns:a16="http://schemas.microsoft.com/office/drawing/2014/main" id="{7A07413B-3F35-6D1C-74F0-5B84C351F0DB}"/>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r>
              <a:rPr lang="es-ES" b="1" dirty="0"/>
              <a:t>1. Método de la Energía Física Contenida</a:t>
            </a:r>
          </a:p>
          <a:p>
            <a:r>
              <a:rPr lang="es-ES" dirty="0"/>
              <a:t>Este método se centra en estimar la energía primaria equivalente generada por una fuente de energía no combustible, basándose en la </a:t>
            </a:r>
            <a:r>
              <a:rPr lang="es-ES" b="1" dirty="0"/>
              <a:t>cantidad de calor producido</a:t>
            </a:r>
            <a:r>
              <a:rPr lang="es-ES" dirty="0"/>
              <a:t>. Es particularmente relevante para formas primarias de energía que se manifiestan como calor, como la energía nuclear o la geotérmica.</a:t>
            </a:r>
          </a:p>
          <a:p>
            <a:r>
              <a:rPr lang="es-ES" b="1" dirty="0"/>
              <a:t>¿Qué representa?</a:t>
            </a:r>
            <a:r>
              <a:rPr lang="es-ES" dirty="0"/>
              <a:t> Busca reflejar la cantidad real de energía contenida en el "combustible" primario o la fuente original. En el caso nuclear, sería la energía latente en el uranio fisible; en la geotermia, el calor del subsuelo.</a:t>
            </a:r>
          </a:p>
          <a:p>
            <a:r>
              <a:rPr lang="es-ES" b="1" dirty="0"/>
              <a:t>Ventajas destacadas en tu imagen:</a:t>
            </a:r>
            <a:endParaRPr lang="es-ES" dirty="0"/>
          </a:p>
          <a:p>
            <a:pPr lvl="1"/>
            <a:r>
              <a:rPr lang="es-ES" b="1" dirty="0"/>
              <a:t>Refleja la cantidad real de energía contenida en el combustible:</a:t>
            </a:r>
            <a:r>
              <a:rPr lang="es-ES" dirty="0"/>
              <a:t> Esto sugiere que intenta cuantificar la energía potencial o intrínseca de la fuente.</a:t>
            </a:r>
          </a:p>
          <a:p>
            <a:r>
              <a:rPr lang="es-ES" b="1" dirty="0"/>
              <a:t>Desventajas destacadas en tu imagen:</a:t>
            </a:r>
            <a:endParaRPr lang="es-ES" dirty="0"/>
          </a:p>
          <a:p>
            <a:pPr lvl="1"/>
            <a:r>
              <a:rPr lang="es-ES" b="1" dirty="0"/>
              <a:t>Subestima las energías renovables:</a:t>
            </a:r>
            <a:r>
              <a:rPr lang="es-ES" dirty="0"/>
              <a:t> Esto es un punto crítico. Fuentes como la solar fotovoltaica o la eólica no tienen una "cantidad de calor producido" directo o un "combustible" en el sentido tradicional. Aplicar este método a estas fuentes implicaría asignarles un factor de conversión de 1 (es decir, 1 unidad de energía generada = 1 unidad de energía primaria), lo que no refleja el esfuerzo energético real para su aprovechamiento o la energía de la fuente primaria que "pasa a través" del sistema.</a:t>
            </a:r>
          </a:p>
          <a:p>
            <a:pPr lvl="1"/>
            <a:r>
              <a:rPr lang="es-ES" b="1" dirty="0"/>
              <a:t>Necesita un factor de conversión para el calor producido:</a:t>
            </a:r>
            <a:r>
              <a:rPr lang="es-ES" dirty="0"/>
              <a:t> Como se menciona, se requieren eficiencias de conversión (ej., nuclear 33%, geotérmica 10%). Esto implica que se asume que la fuente no produce directamente energía eléctrica utilizable y que su calor debe ser convertido a otra forma (usualmente electricidad), implicando pérdidas.</a:t>
            </a:r>
          </a:p>
          <a:p>
            <a:r>
              <a:rPr lang="es-ES" b="1" dirty="0"/>
              <a:t>Crítica/Contexto adicional:</a:t>
            </a:r>
            <a:r>
              <a:rPr lang="es-ES" dirty="0"/>
              <a:t> Este método es más adecuado para fuentes térmicas que requieren una conversión a electricidad. Para renovables como la eólica o solar, es controvertido y a menudo se prefiere otros métodos para evitar subestimar su impacto en la energía primaria.</a:t>
            </a:r>
          </a:p>
          <a:p>
            <a:r>
              <a:rPr lang="es-ES" b="1" dirty="0"/>
              <a:t>2. Método de Sustitución Parcial</a:t>
            </a:r>
          </a:p>
          <a:p>
            <a:r>
              <a:rPr lang="es-ES" dirty="0"/>
              <a:t>Este método estima la energía primaria equivalente de una fuente de energía no combustible considerando </a:t>
            </a:r>
            <a:r>
              <a:rPr lang="es-ES" b="1" dirty="0"/>
              <a:t>qué cantidad de combustible fósil sería necesaria para producir la misma cantidad de electricidad</a:t>
            </a:r>
            <a:r>
              <a:rPr lang="es-ES" dirty="0"/>
              <a:t>.</a:t>
            </a:r>
          </a:p>
          <a:p>
            <a:r>
              <a:rPr lang="es-ES" b="1" dirty="0"/>
              <a:t>¿Qué representa?</a:t>
            </a:r>
            <a:r>
              <a:rPr lang="es-ES" dirty="0"/>
              <a:t> Es un enfoque contrafactual. No busca la energía intrínseca de la fuente no combustible, sino el ahorro de combustible fósil que se logra al utilizarla. Si una eólica produce 1 kWh, ¿cuánto gas o carbón se habría quemado en una central térmica para producir ese mismo kWh?</a:t>
            </a:r>
          </a:p>
          <a:p>
            <a:r>
              <a:rPr lang="es-ES" b="1" dirty="0"/>
              <a:t>Ventajas destacadas en tu imagen:</a:t>
            </a:r>
            <a:endParaRPr lang="es-ES" dirty="0"/>
          </a:p>
          <a:p>
            <a:pPr lvl="1"/>
            <a:r>
              <a:rPr lang="es-ES" b="1" dirty="0"/>
              <a:t>Permite conocer la cantidad de energía renovable equivalente a la de combustible fósil:</a:t>
            </a:r>
            <a:r>
              <a:rPr lang="es-ES" dirty="0"/>
              <a:t> Esto es muy útil para la contabilidad de las emisiones de carbono y para evaluar la contribución de las renovables en términos de desplazamiento de fósiles.</a:t>
            </a:r>
          </a:p>
          <a:p>
            <a:r>
              <a:rPr lang="es-ES" b="1" dirty="0"/>
              <a:t>Desventajas destacadas en tu imagen:</a:t>
            </a:r>
            <a:endParaRPr lang="es-ES" dirty="0"/>
          </a:p>
          <a:p>
            <a:pPr lvl="1"/>
            <a:r>
              <a:rPr lang="es-ES" b="1" dirty="0"/>
              <a:t>Depende de factores de conversión comparables con la eficiencia de una central térmica convencional (ej., carbón 38%):</a:t>
            </a:r>
            <a:r>
              <a:rPr lang="es-ES" dirty="0"/>
              <a:t> Esta es su principal limitación. El resultado de la energía primaria equivalente de una fuente renovable (o nuclear) variará drásticamente dependiendo de la eficiencia promedio del tipo de central térmica fósil que se tome como referencia (carbón, gas, ciclo combinado). Esto hace que la comparación no sea "absoluta" sino dependiente del contexto del </a:t>
            </a:r>
            <a:r>
              <a:rPr lang="es-ES" dirty="0" err="1"/>
              <a:t>mix</a:t>
            </a:r>
            <a:r>
              <a:rPr lang="es-ES" dirty="0"/>
              <a:t> energético de respaldo.</a:t>
            </a:r>
          </a:p>
          <a:p>
            <a:r>
              <a:rPr lang="es-ES" b="1" dirty="0"/>
              <a:t>Crítica/Contexto adicional:</a:t>
            </a:r>
            <a:r>
              <a:rPr lang="es-ES" dirty="0"/>
              <a:t> Es un método muy común y práctico para evaluar la contribución de las energías no fósiles al desplazamiento de la energía fósil, pero su valor numérico no representa la "energía intrínseca" de la fuente, sino un "equivalente de combustible fósil evitado".</a:t>
            </a:r>
          </a:p>
          <a:p>
            <a:r>
              <a:rPr lang="es-ES" b="1" dirty="0"/>
              <a:t>3. Método Equivalente Directo</a:t>
            </a:r>
          </a:p>
          <a:p>
            <a:r>
              <a:rPr lang="es-ES" dirty="0"/>
              <a:t>Este método es el más simple y calcula la energía primaria equivalente como la </a:t>
            </a:r>
            <a:r>
              <a:rPr lang="es-ES" b="1" dirty="0"/>
              <a:t>cantidad de electricidad generada por una fuente de energía</a:t>
            </a:r>
            <a:r>
              <a:rPr lang="es-ES" dirty="0"/>
              <a:t>.</a:t>
            </a:r>
          </a:p>
          <a:p>
            <a:r>
              <a:rPr lang="es-ES" b="1" dirty="0"/>
              <a:t>¿Qué representa?</a:t>
            </a:r>
            <a:r>
              <a:rPr lang="es-ES" dirty="0"/>
              <a:t> Asume una conversión directa de 1 a 1 entre la energía final generada (generalmente electricidad) y la energía primaria equivalente. Es decir, si una planta solar produce 1 kWh de electricidad, se considera que ha "utilizado" 1 kWh de energía primaria solar.</a:t>
            </a:r>
          </a:p>
          <a:p>
            <a:r>
              <a:rPr lang="es-ES" b="1" dirty="0"/>
              <a:t>Ventajas destacadas en tu imagen:</a:t>
            </a:r>
            <a:endParaRPr lang="es-ES" dirty="0"/>
          </a:p>
          <a:p>
            <a:pPr lvl="1"/>
            <a:r>
              <a:rPr lang="es-ES" b="1" dirty="0"/>
              <a:t>Método simple con una conversión directa:</a:t>
            </a:r>
            <a:r>
              <a:rPr lang="es-ES" dirty="0"/>
              <a:t> Su principal ventaja es su sencillez.</a:t>
            </a:r>
          </a:p>
          <a:p>
            <a:r>
              <a:rPr lang="es-ES" b="1" dirty="0"/>
              <a:t>Desventajas destacadas en tu imagen:</a:t>
            </a:r>
            <a:endParaRPr lang="es-ES" dirty="0"/>
          </a:p>
          <a:p>
            <a:pPr lvl="1"/>
            <a:r>
              <a:rPr lang="es-ES" b="1" dirty="0"/>
              <a:t>Los resultados no reflejan la cantidad de energía de forma no eléctrica empleada:</a:t>
            </a:r>
            <a:r>
              <a:rPr lang="es-ES" dirty="0"/>
              <a:t> Esta es su gran debilidad. No considera las pérdidas en la transformación de la energía primaria a electricidad si la fuente es térmica (ej., nuclear, geotérmica, donde hay pérdidas por termodinámica), ni el vasto recurso primario que es "aprovechado" por fuentes como la eólica o solar. En otras palabras, 1 kWh de electricidad generada por una nuclear requiere, en realidad, mucha más energía primaria de uranio de la que se convierte en electricidad. Este método ignora esas pérdidas.</a:t>
            </a:r>
          </a:p>
          <a:p>
            <a:r>
              <a:rPr lang="es-ES" b="1" dirty="0"/>
              <a:t>Crítica/Contexto adicional:</a:t>
            </a:r>
            <a:r>
              <a:rPr lang="es-ES" dirty="0"/>
              <a:t> Este método es a menudo criticado por su simplismo, ya que no permite una comparación justa entre fuentes primarias que pasan por procesos de conversión complejos (con pérdidas significativas, como la nuclear o térmica) y fuentes que producen electricidad directamente (eólica, solar fotovoltaica) o que son consumidas directamente. Tiende a subestimar la energía primaria asociada a las fuentes térmicas y a sobrestimar la de las renovables directas si el objetivo es reflejar la energía "original".</a:t>
            </a:r>
          </a:p>
          <a:p>
            <a:r>
              <a:rPr lang="es-ES" b="1" dirty="0"/>
              <a:t>Conclusión General</a:t>
            </a:r>
          </a:p>
          <a:p>
            <a:r>
              <a:rPr lang="es-ES" dirty="0"/>
              <a:t>La elección del método depende del </a:t>
            </a:r>
            <a:r>
              <a:rPr lang="es-ES" b="1" dirty="0"/>
              <a:t>propósito del cálculo</a:t>
            </a:r>
            <a:r>
              <a:rPr lang="es-ES" dirty="0"/>
              <a:t>.</a:t>
            </a:r>
          </a:p>
          <a:p>
            <a:r>
              <a:rPr lang="es-ES" dirty="0"/>
              <a:t>Si quieres entender la </a:t>
            </a:r>
            <a:r>
              <a:rPr lang="es-ES" b="1" dirty="0"/>
              <a:t>huella de recursos primarios y las pérdidas inherentes a la conversión de calor a electricidad</a:t>
            </a:r>
            <a:r>
              <a:rPr lang="es-ES" dirty="0"/>
              <a:t> (para nuclear o geotermia), el </a:t>
            </a:r>
            <a:r>
              <a:rPr lang="es-ES" b="1" dirty="0"/>
              <a:t>Método de la Energía Física Contenida</a:t>
            </a:r>
            <a:r>
              <a:rPr lang="es-ES" dirty="0"/>
              <a:t> es más pertinente.</a:t>
            </a:r>
          </a:p>
          <a:p>
            <a:r>
              <a:rPr lang="es-ES" dirty="0"/>
              <a:t>Si tu objetivo es cuantificar el </a:t>
            </a:r>
            <a:r>
              <a:rPr lang="es-ES" b="1" dirty="0"/>
              <a:t>ahorro de combustibles fósiles y las emisiones de CO2 evitadas</a:t>
            </a:r>
            <a:r>
              <a:rPr lang="es-ES" dirty="0"/>
              <a:t> gracias a las energías no combustibles, el </a:t>
            </a:r>
            <a:r>
              <a:rPr lang="es-ES" b="1" dirty="0"/>
              <a:t>Método de Sustitución Parcial</a:t>
            </a:r>
            <a:r>
              <a:rPr lang="es-ES" dirty="0"/>
              <a:t> es muy útil.</a:t>
            </a:r>
          </a:p>
          <a:p>
            <a:r>
              <a:rPr lang="es-ES" dirty="0"/>
              <a:t>El </a:t>
            </a:r>
            <a:r>
              <a:rPr lang="es-ES" b="1" dirty="0"/>
              <a:t>Método Equivalente Directo</a:t>
            </a:r>
            <a:r>
              <a:rPr lang="es-ES" dirty="0"/>
              <a:t> es el más sencillo, pero su simplicidad lo hace menos representativo de la realidad energética compleja y no permite comparaciones justas entre distintas tecnologías.</a:t>
            </a:r>
          </a:p>
          <a:p>
            <a:r>
              <a:rPr lang="es-ES" dirty="0"/>
              <a:t>En la práctica, los organismos de energía y normativas suelen especificar qué método o factores de conversión deben utilizarse para asegurar la coherencia en los informes y certificaciones. Por ejemplo, la directiva europea EPBD (Energy Performance </a:t>
            </a:r>
            <a:r>
              <a:rPr lang="es-ES" dirty="0" err="1"/>
              <a:t>of</a:t>
            </a:r>
            <a:r>
              <a:rPr lang="es-ES" dirty="0"/>
              <a:t> </a:t>
            </a:r>
            <a:r>
              <a:rPr lang="es-ES" dirty="0" err="1"/>
              <a:t>Buildings</a:t>
            </a:r>
            <a:r>
              <a:rPr lang="es-ES" dirty="0"/>
              <a:t> Directive) define factores de energía primaria para la electricidad de la red que consideran el </a:t>
            </a:r>
            <a:r>
              <a:rPr lang="es-ES" dirty="0" err="1"/>
              <a:t>mix</a:t>
            </a:r>
            <a:r>
              <a:rPr lang="es-ES" dirty="0"/>
              <a:t> energético nacional, que se asemeja más a un enfoque de sustitución o incluso a una mezcla compleja que considera las pérdidas de la red.</a:t>
            </a:r>
          </a:p>
          <a:p>
            <a:pPr marL="0" lvl="0" indent="0" algn="l" rtl="0">
              <a:spcBef>
                <a:spcPts val="0"/>
              </a:spcBef>
              <a:spcAft>
                <a:spcPts val="0"/>
              </a:spcAft>
              <a:buNone/>
            </a:pPr>
            <a:endParaRPr dirty="0"/>
          </a:p>
        </p:txBody>
      </p:sp>
      <p:sp>
        <p:nvSpPr>
          <p:cNvPr id="259" name="Google Shape;259;p23:notes">
            <a:extLst>
              <a:ext uri="{FF2B5EF4-FFF2-40B4-BE49-F238E27FC236}">
                <a16:creationId xmlns:a16="http://schemas.microsoft.com/office/drawing/2014/main" id="{E9E8ECC5-A75B-1B66-32A7-ABA90389D277}"/>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7774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DBC43963-0CF3-972B-48E5-F92E70397119}"/>
            </a:ext>
          </a:extLst>
        </p:cNvPr>
        <p:cNvGrpSpPr/>
        <p:nvPr/>
      </p:nvGrpSpPr>
      <p:grpSpPr>
        <a:xfrm>
          <a:off x="0" y="0"/>
          <a:ext cx="0" cy="0"/>
          <a:chOff x="0" y="0"/>
          <a:chExt cx="0" cy="0"/>
        </a:xfrm>
      </p:grpSpPr>
      <p:sp>
        <p:nvSpPr>
          <p:cNvPr id="258" name="Google Shape;258;p23:notes">
            <a:extLst>
              <a:ext uri="{FF2B5EF4-FFF2-40B4-BE49-F238E27FC236}">
                <a16:creationId xmlns:a16="http://schemas.microsoft.com/office/drawing/2014/main" id="{4669A3A3-D52E-2F67-3DA5-699534C79A0C}"/>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r>
              <a:rPr lang="es-ES" b="1" dirty="0"/>
              <a:t>1. Método de la Energía Física Contenida</a:t>
            </a:r>
          </a:p>
          <a:p>
            <a:r>
              <a:rPr lang="es-ES" dirty="0"/>
              <a:t>Este método se centra en estimar la energía primaria equivalente generada por una fuente de energía no combustible, basándose en la </a:t>
            </a:r>
            <a:r>
              <a:rPr lang="es-ES" b="1" dirty="0"/>
              <a:t>cantidad de calor producido</a:t>
            </a:r>
            <a:r>
              <a:rPr lang="es-ES" dirty="0"/>
              <a:t>. Es particularmente relevante para formas primarias de energía que se manifiestan como calor, como la energía nuclear o la geotérmica.</a:t>
            </a:r>
          </a:p>
          <a:p>
            <a:r>
              <a:rPr lang="es-ES" b="1" dirty="0"/>
              <a:t>¿Qué representa?</a:t>
            </a:r>
            <a:r>
              <a:rPr lang="es-ES" dirty="0"/>
              <a:t> Busca reflejar la cantidad real de energía contenida en el "combustible" primario o la fuente original. En el caso nuclear, sería la energía latente en el uranio fisible; en la geotermia, el calor del subsuelo.</a:t>
            </a:r>
          </a:p>
          <a:p>
            <a:r>
              <a:rPr lang="es-ES" b="1" dirty="0"/>
              <a:t>Ventajas destacadas en tu imagen:</a:t>
            </a:r>
            <a:endParaRPr lang="es-ES" dirty="0"/>
          </a:p>
          <a:p>
            <a:pPr lvl="1"/>
            <a:r>
              <a:rPr lang="es-ES" b="1" dirty="0"/>
              <a:t>Refleja la cantidad real de energía contenida en el combustible:</a:t>
            </a:r>
            <a:r>
              <a:rPr lang="es-ES" dirty="0"/>
              <a:t> Esto sugiere que intenta cuantificar la energía potencial o intrínseca de la fuente.</a:t>
            </a:r>
          </a:p>
          <a:p>
            <a:r>
              <a:rPr lang="es-ES" b="1" dirty="0"/>
              <a:t>Desventajas destacadas en tu imagen:</a:t>
            </a:r>
            <a:endParaRPr lang="es-ES" dirty="0"/>
          </a:p>
          <a:p>
            <a:pPr lvl="1"/>
            <a:r>
              <a:rPr lang="es-ES" b="1" dirty="0"/>
              <a:t>Subestima las energías renovables:</a:t>
            </a:r>
            <a:r>
              <a:rPr lang="es-ES" dirty="0"/>
              <a:t> Esto es un punto crítico. Fuentes como la solar fotovoltaica o la eólica no tienen una "cantidad de calor producido" directo o un "combustible" en el sentido tradicional. Aplicar este método a estas fuentes implicaría asignarles un factor de conversión de 1 (es decir, 1 unidad de energía generada = 1 unidad de energía primaria), lo que no refleja el esfuerzo energético real para su aprovechamiento o la energía de la fuente primaria que "pasa a través" del sistema.</a:t>
            </a:r>
          </a:p>
          <a:p>
            <a:pPr lvl="1"/>
            <a:r>
              <a:rPr lang="es-ES" b="1" dirty="0"/>
              <a:t>Necesita un factor de conversión para el calor producido:</a:t>
            </a:r>
            <a:r>
              <a:rPr lang="es-ES" dirty="0"/>
              <a:t> Como se menciona, se requieren eficiencias de conversión (ej., nuclear 33%, geotérmica 10%). Esto implica que se asume que la fuente no produce directamente energía eléctrica utilizable y que su calor debe ser convertido a otra forma (usualmente electricidad), implicando pérdidas.</a:t>
            </a:r>
          </a:p>
          <a:p>
            <a:r>
              <a:rPr lang="es-ES" b="1" dirty="0"/>
              <a:t>Crítica/Contexto adicional:</a:t>
            </a:r>
            <a:r>
              <a:rPr lang="es-ES" dirty="0"/>
              <a:t> Este método es más adecuado para fuentes térmicas que requieren una conversión a electricidad. Para renovables como la eólica o solar, es controvertido y a menudo se prefiere otros métodos para evitar subestimar su impacto en la energía primaria.</a:t>
            </a:r>
          </a:p>
          <a:p>
            <a:r>
              <a:rPr lang="es-ES" b="1" dirty="0"/>
              <a:t>2. Método de Sustitución Parcial</a:t>
            </a:r>
          </a:p>
          <a:p>
            <a:r>
              <a:rPr lang="es-ES" dirty="0"/>
              <a:t>Este método estima la energía primaria equivalente de una fuente de energía no combustible considerando </a:t>
            </a:r>
            <a:r>
              <a:rPr lang="es-ES" b="1" dirty="0"/>
              <a:t>qué cantidad de combustible fósil sería necesaria para producir la misma cantidad de electricidad</a:t>
            </a:r>
            <a:r>
              <a:rPr lang="es-ES" dirty="0"/>
              <a:t>.</a:t>
            </a:r>
          </a:p>
          <a:p>
            <a:r>
              <a:rPr lang="es-ES" b="1" dirty="0"/>
              <a:t>¿Qué representa?</a:t>
            </a:r>
            <a:r>
              <a:rPr lang="es-ES" dirty="0"/>
              <a:t> Es un enfoque contrafactual. No busca la energía intrínseca de la fuente no combustible, sino el ahorro de combustible fósil que se logra al utilizarla. Si una eólica produce 1 kWh, ¿cuánto gas o carbón se habría quemado en una central térmica para producir ese mismo kWh?</a:t>
            </a:r>
          </a:p>
          <a:p>
            <a:r>
              <a:rPr lang="es-ES" b="1" dirty="0"/>
              <a:t>Ventajas destacadas en tu imagen:</a:t>
            </a:r>
            <a:endParaRPr lang="es-ES" dirty="0"/>
          </a:p>
          <a:p>
            <a:pPr lvl="1"/>
            <a:r>
              <a:rPr lang="es-ES" b="1" dirty="0"/>
              <a:t>Permite conocer la cantidad de energía renovable equivalente a la de combustible fósil:</a:t>
            </a:r>
            <a:r>
              <a:rPr lang="es-ES" dirty="0"/>
              <a:t> Esto es muy útil para la contabilidad de las emisiones de carbono y para evaluar la contribución de las renovables en términos de desplazamiento de fósiles.</a:t>
            </a:r>
          </a:p>
          <a:p>
            <a:r>
              <a:rPr lang="es-ES" b="1" dirty="0"/>
              <a:t>Desventajas destacadas en tu imagen:</a:t>
            </a:r>
            <a:endParaRPr lang="es-ES" dirty="0"/>
          </a:p>
          <a:p>
            <a:pPr lvl="1"/>
            <a:r>
              <a:rPr lang="es-ES" b="1" dirty="0"/>
              <a:t>Depende de factores de conversión comparables con la eficiencia de una central térmica convencional (ej., carbón 38%):</a:t>
            </a:r>
            <a:r>
              <a:rPr lang="es-ES" dirty="0"/>
              <a:t> Esta es su principal limitación. El resultado de la energía primaria equivalente de una fuente renovable (o nuclear) variará drásticamente dependiendo de la eficiencia promedio del tipo de central térmica fósil que se tome como referencia (carbón, gas, ciclo combinado). Esto hace que la comparación no sea "absoluta" sino dependiente del contexto del </a:t>
            </a:r>
            <a:r>
              <a:rPr lang="es-ES" dirty="0" err="1"/>
              <a:t>mix</a:t>
            </a:r>
            <a:r>
              <a:rPr lang="es-ES" dirty="0"/>
              <a:t> energético de respaldo.</a:t>
            </a:r>
          </a:p>
          <a:p>
            <a:r>
              <a:rPr lang="es-ES" b="1" dirty="0"/>
              <a:t>Crítica/Contexto adicional:</a:t>
            </a:r>
            <a:r>
              <a:rPr lang="es-ES" dirty="0"/>
              <a:t> Es un método muy común y práctico para evaluar la contribución de las energías no fósiles al desplazamiento de la energía fósil, pero su valor numérico no representa la "energía intrínseca" de la fuente, sino un "equivalente de combustible fósil evitado".</a:t>
            </a:r>
          </a:p>
          <a:p>
            <a:r>
              <a:rPr lang="es-ES" b="1" dirty="0"/>
              <a:t>3. Método Equivalente Directo</a:t>
            </a:r>
          </a:p>
          <a:p>
            <a:r>
              <a:rPr lang="es-ES" dirty="0"/>
              <a:t>Este método es el más simple y calcula la energía primaria equivalente como la </a:t>
            </a:r>
            <a:r>
              <a:rPr lang="es-ES" b="1" dirty="0"/>
              <a:t>cantidad de electricidad generada por una fuente de energía</a:t>
            </a:r>
            <a:r>
              <a:rPr lang="es-ES" dirty="0"/>
              <a:t>.</a:t>
            </a:r>
          </a:p>
          <a:p>
            <a:r>
              <a:rPr lang="es-ES" b="1" dirty="0"/>
              <a:t>¿Qué representa?</a:t>
            </a:r>
            <a:r>
              <a:rPr lang="es-ES" dirty="0"/>
              <a:t> Asume una conversión directa de 1 a 1 entre la energía final generada (generalmente electricidad) y la energía primaria equivalente. Es decir, si una planta solar produce 1 kWh de electricidad, se considera que ha "utilizado" 1 kWh de energía primaria solar.</a:t>
            </a:r>
          </a:p>
          <a:p>
            <a:r>
              <a:rPr lang="es-ES" b="1" dirty="0"/>
              <a:t>Ventajas destacadas en tu imagen:</a:t>
            </a:r>
            <a:endParaRPr lang="es-ES" dirty="0"/>
          </a:p>
          <a:p>
            <a:pPr lvl="1"/>
            <a:r>
              <a:rPr lang="es-ES" b="1" dirty="0"/>
              <a:t>Método simple con una conversión directa:</a:t>
            </a:r>
            <a:r>
              <a:rPr lang="es-ES" dirty="0"/>
              <a:t> Su principal ventaja es su sencillez.</a:t>
            </a:r>
          </a:p>
          <a:p>
            <a:r>
              <a:rPr lang="es-ES" b="1" dirty="0"/>
              <a:t>Desventajas destacadas en tu imagen:</a:t>
            </a:r>
            <a:endParaRPr lang="es-ES" dirty="0"/>
          </a:p>
          <a:p>
            <a:pPr lvl="1"/>
            <a:r>
              <a:rPr lang="es-ES" b="1" dirty="0"/>
              <a:t>Los resultados no reflejan la cantidad de energía de forma no eléctrica empleada:</a:t>
            </a:r>
            <a:r>
              <a:rPr lang="es-ES" dirty="0"/>
              <a:t> Esta es su gran debilidad. No considera las pérdidas en la transformación de la energía primaria a electricidad si la fuente es térmica (ej., nuclear, geotérmica, donde hay pérdidas por termodinámica), ni el vasto recurso primario que es "aprovechado" por fuentes como la eólica o solar. En otras palabras, 1 kWh de electricidad generada por una nuclear requiere, en realidad, mucha más energía primaria de uranio de la que se convierte en electricidad. Este método ignora esas pérdidas.</a:t>
            </a:r>
          </a:p>
          <a:p>
            <a:r>
              <a:rPr lang="es-ES" b="1" dirty="0"/>
              <a:t>Crítica/Contexto adicional:</a:t>
            </a:r>
            <a:r>
              <a:rPr lang="es-ES" dirty="0"/>
              <a:t> Este método es a menudo criticado por su simplismo, ya que no permite una comparación justa entre fuentes primarias que pasan por procesos de conversión complejos (con pérdidas significativas, como la nuclear o térmica) y fuentes que producen electricidad directamente (eólica, solar fotovoltaica) o que son consumidas directamente. Tiende a subestimar la energía primaria asociada a las fuentes térmicas y a sobrestimar la de las renovables directas si el objetivo es reflejar la energía "original".</a:t>
            </a:r>
          </a:p>
          <a:p>
            <a:r>
              <a:rPr lang="es-ES" b="1" dirty="0"/>
              <a:t>Conclusión General</a:t>
            </a:r>
          </a:p>
          <a:p>
            <a:r>
              <a:rPr lang="es-ES" dirty="0"/>
              <a:t>La elección del método depende del </a:t>
            </a:r>
            <a:r>
              <a:rPr lang="es-ES" b="1" dirty="0"/>
              <a:t>propósito del cálculo</a:t>
            </a:r>
            <a:r>
              <a:rPr lang="es-ES" dirty="0"/>
              <a:t>.</a:t>
            </a:r>
          </a:p>
          <a:p>
            <a:r>
              <a:rPr lang="es-ES" dirty="0"/>
              <a:t>Si quieres entender la </a:t>
            </a:r>
            <a:r>
              <a:rPr lang="es-ES" b="1" dirty="0"/>
              <a:t>huella de recursos primarios y las pérdidas inherentes a la conversión de calor a electricidad</a:t>
            </a:r>
            <a:r>
              <a:rPr lang="es-ES" dirty="0"/>
              <a:t> (para nuclear o geotermia), el </a:t>
            </a:r>
            <a:r>
              <a:rPr lang="es-ES" b="1" dirty="0"/>
              <a:t>Método de la Energía Física Contenida</a:t>
            </a:r>
            <a:r>
              <a:rPr lang="es-ES" dirty="0"/>
              <a:t> es más pertinente.</a:t>
            </a:r>
          </a:p>
          <a:p>
            <a:r>
              <a:rPr lang="es-ES" dirty="0"/>
              <a:t>Si tu objetivo es cuantificar el </a:t>
            </a:r>
            <a:r>
              <a:rPr lang="es-ES" b="1" dirty="0"/>
              <a:t>ahorro de combustibles fósiles y las emisiones de CO2 evitadas</a:t>
            </a:r>
            <a:r>
              <a:rPr lang="es-ES" dirty="0"/>
              <a:t> gracias a las energías no combustibles, el </a:t>
            </a:r>
            <a:r>
              <a:rPr lang="es-ES" b="1" dirty="0"/>
              <a:t>Método de Sustitución Parcial</a:t>
            </a:r>
            <a:r>
              <a:rPr lang="es-ES" dirty="0"/>
              <a:t> es muy útil.</a:t>
            </a:r>
          </a:p>
          <a:p>
            <a:r>
              <a:rPr lang="es-ES" dirty="0"/>
              <a:t>El </a:t>
            </a:r>
            <a:r>
              <a:rPr lang="es-ES" b="1" dirty="0"/>
              <a:t>Método Equivalente Directo</a:t>
            </a:r>
            <a:r>
              <a:rPr lang="es-ES" dirty="0"/>
              <a:t> es el más sencillo, pero su simplicidad lo hace menos representativo de la realidad energética compleja y no permite comparaciones justas entre distintas tecnologías.</a:t>
            </a:r>
          </a:p>
          <a:p>
            <a:r>
              <a:rPr lang="es-ES" dirty="0"/>
              <a:t>En la práctica, los organismos de energía y normativas suelen especificar qué método o factores de conversión deben utilizarse para asegurar la coherencia en los informes y certificaciones. Por ejemplo, la directiva europea EPBD (Energy Performance </a:t>
            </a:r>
            <a:r>
              <a:rPr lang="es-ES" dirty="0" err="1"/>
              <a:t>of</a:t>
            </a:r>
            <a:r>
              <a:rPr lang="es-ES" dirty="0"/>
              <a:t> </a:t>
            </a:r>
            <a:r>
              <a:rPr lang="es-ES" dirty="0" err="1"/>
              <a:t>Buildings</a:t>
            </a:r>
            <a:r>
              <a:rPr lang="es-ES" dirty="0"/>
              <a:t> Directive) define factores de energía primaria para la electricidad de la red que consideran el </a:t>
            </a:r>
            <a:r>
              <a:rPr lang="es-ES" dirty="0" err="1"/>
              <a:t>mix</a:t>
            </a:r>
            <a:r>
              <a:rPr lang="es-ES"/>
              <a:t> energético nacional, que se asemeja más a un enfoque de sustitución o incluso a una mezcla compleja que considera las pérdidas de la red.</a:t>
            </a:r>
          </a:p>
          <a:p>
            <a:pPr marL="0" lvl="0" indent="0" algn="l" rtl="0">
              <a:spcBef>
                <a:spcPts val="0"/>
              </a:spcBef>
              <a:spcAft>
                <a:spcPts val="0"/>
              </a:spcAft>
              <a:buNone/>
            </a:pPr>
            <a:endParaRPr/>
          </a:p>
        </p:txBody>
      </p:sp>
      <p:sp>
        <p:nvSpPr>
          <p:cNvPr id="259" name="Google Shape;259;p23:notes">
            <a:extLst>
              <a:ext uri="{FF2B5EF4-FFF2-40B4-BE49-F238E27FC236}">
                <a16:creationId xmlns:a16="http://schemas.microsoft.com/office/drawing/2014/main" id="{F39EEE62-A3A2-6D8A-6EAB-C964BA6F3983}"/>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8560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FD05F68E-C91D-B19A-E4F0-8B25C7352416}"/>
            </a:ext>
          </a:extLst>
        </p:cNvPr>
        <p:cNvGrpSpPr/>
        <p:nvPr/>
      </p:nvGrpSpPr>
      <p:grpSpPr>
        <a:xfrm>
          <a:off x="0" y="0"/>
          <a:ext cx="0" cy="0"/>
          <a:chOff x="0" y="0"/>
          <a:chExt cx="0" cy="0"/>
        </a:xfrm>
      </p:grpSpPr>
      <p:sp>
        <p:nvSpPr>
          <p:cNvPr id="258" name="Google Shape;258;p23:notes">
            <a:extLst>
              <a:ext uri="{FF2B5EF4-FFF2-40B4-BE49-F238E27FC236}">
                <a16:creationId xmlns:a16="http://schemas.microsoft.com/office/drawing/2014/main" id="{1804CE60-7A1B-F729-B5D3-E334DAE505D5}"/>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r>
              <a:rPr lang="es-ES" b="1" dirty="0"/>
              <a:t>1. Método de la Energía Física Contenida</a:t>
            </a:r>
          </a:p>
          <a:p>
            <a:r>
              <a:rPr lang="es-ES" dirty="0"/>
              <a:t>Este método se centra en estimar la energía primaria equivalente generada por una fuente de energía no combustible, basándose en la </a:t>
            </a:r>
            <a:r>
              <a:rPr lang="es-ES" b="1" dirty="0"/>
              <a:t>cantidad de calor producido</a:t>
            </a:r>
            <a:r>
              <a:rPr lang="es-ES" dirty="0"/>
              <a:t>. Es particularmente relevante para formas primarias de energía que se manifiestan como calor, como la energía nuclear o la geotérmica.</a:t>
            </a:r>
          </a:p>
          <a:p>
            <a:r>
              <a:rPr lang="es-ES" b="1" dirty="0"/>
              <a:t>¿Qué representa?</a:t>
            </a:r>
            <a:r>
              <a:rPr lang="es-ES" dirty="0"/>
              <a:t> Busca reflejar la cantidad real de energía contenida en el "combustible" primario o la fuente original. En el caso nuclear, sería la energía latente en el uranio fisible; en la geotermia, el calor del subsuelo.</a:t>
            </a:r>
          </a:p>
          <a:p>
            <a:r>
              <a:rPr lang="es-ES" b="1" dirty="0"/>
              <a:t>Ventajas destacadas en tu imagen:</a:t>
            </a:r>
            <a:endParaRPr lang="es-ES" dirty="0"/>
          </a:p>
          <a:p>
            <a:pPr lvl="1"/>
            <a:r>
              <a:rPr lang="es-ES" b="1" dirty="0"/>
              <a:t>Refleja la cantidad real de energía contenida en el combustible:</a:t>
            </a:r>
            <a:r>
              <a:rPr lang="es-ES" dirty="0"/>
              <a:t> Esto sugiere que intenta cuantificar la energía potencial o intrínseca de la fuente.</a:t>
            </a:r>
          </a:p>
          <a:p>
            <a:r>
              <a:rPr lang="es-ES" b="1" dirty="0"/>
              <a:t>Desventajas destacadas en tu imagen:</a:t>
            </a:r>
            <a:endParaRPr lang="es-ES" dirty="0"/>
          </a:p>
          <a:p>
            <a:pPr lvl="1"/>
            <a:r>
              <a:rPr lang="es-ES" b="1" dirty="0"/>
              <a:t>Subestima las energías renovables:</a:t>
            </a:r>
            <a:r>
              <a:rPr lang="es-ES" dirty="0"/>
              <a:t> Esto es un punto crítico. Fuentes como la solar fotovoltaica o la eólica no tienen una "cantidad de calor producido" directo o un "combustible" en el sentido tradicional. Aplicar este método a estas fuentes implicaría asignarles un factor de conversión de 1 (es decir, 1 unidad de energía generada = 1 unidad de energía primaria), lo que no refleja el esfuerzo energético real para su aprovechamiento o la energía de la fuente primaria que "pasa a través" del sistema.</a:t>
            </a:r>
          </a:p>
          <a:p>
            <a:pPr lvl="1"/>
            <a:r>
              <a:rPr lang="es-ES" b="1" dirty="0"/>
              <a:t>Necesita un factor de conversión para el calor producido:</a:t>
            </a:r>
            <a:r>
              <a:rPr lang="es-ES" dirty="0"/>
              <a:t> Como se menciona, se requieren eficiencias de conversión (ej., nuclear 33%, geotérmica 10%). Esto implica que se asume que la fuente no produce directamente energía eléctrica utilizable y que su calor debe ser convertido a otra forma (usualmente electricidad), implicando pérdidas.</a:t>
            </a:r>
          </a:p>
          <a:p>
            <a:r>
              <a:rPr lang="es-ES" b="1" dirty="0"/>
              <a:t>Crítica/Contexto adicional:</a:t>
            </a:r>
            <a:r>
              <a:rPr lang="es-ES" dirty="0"/>
              <a:t> Este método es más adecuado para fuentes térmicas que requieren una conversión a electricidad. Para renovables como la eólica o solar, es controvertido y a menudo se prefiere otros métodos para evitar subestimar su impacto en la energía primaria.</a:t>
            </a:r>
          </a:p>
          <a:p>
            <a:r>
              <a:rPr lang="es-ES" b="1" dirty="0"/>
              <a:t>2. Método de Sustitución Parcial</a:t>
            </a:r>
          </a:p>
          <a:p>
            <a:r>
              <a:rPr lang="es-ES" dirty="0"/>
              <a:t>Este método estima la energía primaria equivalente de una fuente de energía no combustible considerando </a:t>
            </a:r>
            <a:r>
              <a:rPr lang="es-ES" b="1" dirty="0"/>
              <a:t>qué cantidad de combustible fósil sería necesaria para producir la misma cantidad de electricidad</a:t>
            </a:r>
            <a:r>
              <a:rPr lang="es-ES" dirty="0"/>
              <a:t>.</a:t>
            </a:r>
          </a:p>
          <a:p>
            <a:r>
              <a:rPr lang="es-ES" b="1" dirty="0"/>
              <a:t>¿Qué representa?</a:t>
            </a:r>
            <a:r>
              <a:rPr lang="es-ES" dirty="0"/>
              <a:t> Es un enfoque contrafactual. No busca la energía intrínseca de la fuente no combustible, sino el ahorro de combustible fósil que se logra al utilizarla. Si una eólica produce 1 kWh, ¿cuánto gas o carbón se habría quemado en una central térmica para producir ese mismo kWh?</a:t>
            </a:r>
          </a:p>
          <a:p>
            <a:r>
              <a:rPr lang="es-ES" b="1" dirty="0"/>
              <a:t>Ventajas destacadas en tu imagen:</a:t>
            </a:r>
            <a:endParaRPr lang="es-ES" dirty="0"/>
          </a:p>
          <a:p>
            <a:pPr lvl="1"/>
            <a:r>
              <a:rPr lang="es-ES" b="1" dirty="0"/>
              <a:t>Permite conocer la cantidad de energía renovable equivalente a la de combustible fósil:</a:t>
            </a:r>
            <a:r>
              <a:rPr lang="es-ES" dirty="0"/>
              <a:t> Esto es muy útil para la contabilidad de las emisiones de carbono y para evaluar la contribución de las renovables en términos de desplazamiento de fósiles.</a:t>
            </a:r>
          </a:p>
          <a:p>
            <a:r>
              <a:rPr lang="es-ES" b="1" dirty="0"/>
              <a:t>Desventajas destacadas en tu imagen:</a:t>
            </a:r>
            <a:endParaRPr lang="es-ES" dirty="0"/>
          </a:p>
          <a:p>
            <a:pPr lvl="1"/>
            <a:r>
              <a:rPr lang="es-ES" b="1" dirty="0"/>
              <a:t>Depende de factores de conversión comparables con la eficiencia de una central térmica convencional (ej., carbón 38%):</a:t>
            </a:r>
            <a:r>
              <a:rPr lang="es-ES" dirty="0"/>
              <a:t> Esta es su principal limitación. El resultado de la energía primaria equivalente de una fuente renovable (o nuclear) variará drásticamente dependiendo de la eficiencia promedio del tipo de central térmica fósil que se tome como referencia (carbón, gas, ciclo combinado). Esto hace que la comparación no sea "absoluta" sino dependiente del contexto del </a:t>
            </a:r>
            <a:r>
              <a:rPr lang="es-ES" dirty="0" err="1"/>
              <a:t>mix</a:t>
            </a:r>
            <a:r>
              <a:rPr lang="es-ES" dirty="0"/>
              <a:t> energético de respaldo.</a:t>
            </a:r>
          </a:p>
          <a:p>
            <a:r>
              <a:rPr lang="es-ES" b="1" dirty="0"/>
              <a:t>Crítica/Contexto adicional:</a:t>
            </a:r>
            <a:r>
              <a:rPr lang="es-ES" dirty="0"/>
              <a:t> Es un método muy común y práctico para evaluar la contribución de las energías no fósiles al desplazamiento de la energía fósil, pero su valor numérico no representa la "energía intrínseca" de la fuente, sino un "equivalente de combustible fósil evitado".</a:t>
            </a:r>
          </a:p>
          <a:p>
            <a:r>
              <a:rPr lang="es-ES" b="1" dirty="0"/>
              <a:t>3. Método Equivalente Directo</a:t>
            </a:r>
          </a:p>
          <a:p>
            <a:r>
              <a:rPr lang="es-ES" dirty="0"/>
              <a:t>Este método es el más simple y calcula la energía primaria equivalente como la </a:t>
            </a:r>
            <a:r>
              <a:rPr lang="es-ES" b="1" dirty="0"/>
              <a:t>cantidad de electricidad generada por una fuente de energía</a:t>
            </a:r>
            <a:r>
              <a:rPr lang="es-ES" dirty="0"/>
              <a:t>.</a:t>
            </a:r>
          </a:p>
          <a:p>
            <a:r>
              <a:rPr lang="es-ES" b="1" dirty="0"/>
              <a:t>¿Qué representa?</a:t>
            </a:r>
            <a:r>
              <a:rPr lang="es-ES" dirty="0"/>
              <a:t> Asume una conversión directa de 1 a 1 entre la energía final generada (generalmente electricidad) y la energía primaria equivalente. Es decir, si una planta solar produce 1 kWh de electricidad, se considera que ha "utilizado" 1 kWh de energía primaria solar.</a:t>
            </a:r>
          </a:p>
          <a:p>
            <a:r>
              <a:rPr lang="es-ES" b="1" dirty="0"/>
              <a:t>Ventajas destacadas en tu imagen:</a:t>
            </a:r>
            <a:endParaRPr lang="es-ES" dirty="0"/>
          </a:p>
          <a:p>
            <a:pPr lvl="1"/>
            <a:r>
              <a:rPr lang="es-ES" b="1" dirty="0"/>
              <a:t>Método simple con una conversión directa:</a:t>
            </a:r>
            <a:r>
              <a:rPr lang="es-ES" dirty="0"/>
              <a:t> Su principal ventaja es su sencillez.</a:t>
            </a:r>
          </a:p>
          <a:p>
            <a:r>
              <a:rPr lang="es-ES" b="1" dirty="0"/>
              <a:t>Desventajas destacadas en tu imagen:</a:t>
            </a:r>
            <a:endParaRPr lang="es-ES" dirty="0"/>
          </a:p>
          <a:p>
            <a:pPr lvl="1"/>
            <a:r>
              <a:rPr lang="es-ES" b="1" dirty="0"/>
              <a:t>Los resultados no reflejan la cantidad de energía de forma no eléctrica empleada:</a:t>
            </a:r>
            <a:r>
              <a:rPr lang="es-ES" dirty="0"/>
              <a:t> Esta es su gran debilidad. No considera las pérdidas en la transformación de la energía primaria a electricidad si la fuente es térmica (ej., nuclear, geotérmica, donde hay pérdidas por termodinámica), ni el vasto recurso primario que es "aprovechado" por fuentes como la eólica o solar. En otras palabras, 1 kWh de electricidad generada por una nuclear requiere, en realidad, mucha más energía primaria de uranio de la que se convierte en electricidad. Este método ignora esas pérdidas.</a:t>
            </a:r>
          </a:p>
          <a:p>
            <a:r>
              <a:rPr lang="es-ES" b="1" dirty="0"/>
              <a:t>Crítica/Contexto adicional:</a:t>
            </a:r>
            <a:r>
              <a:rPr lang="es-ES" dirty="0"/>
              <a:t> Este método es a menudo criticado por su simplismo, ya que no permite una comparación justa entre fuentes primarias que pasan por procesos de conversión complejos (con pérdidas significativas, como la nuclear o térmica) y fuentes que producen electricidad directamente (eólica, solar fotovoltaica) o que son consumidas directamente. Tiende a subestimar la energía primaria asociada a las fuentes térmicas y a sobrestimar la de las renovables directas si el objetivo es reflejar la energía "original".</a:t>
            </a:r>
          </a:p>
          <a:p>
            <a:r>
              <a:rPr lang="es-ES" b="1" dirty="0"/>
              <a:t>Conclusión General</a:t>
            </a:r>
          </a:p>
          <a:p>
            <a:r>
              <a:rPr lang="es-ES" dirty="0"/>
              <a:t>La elección del método depende del </a:t>
            </a:r>
            <a:r>
              <a:rPr lang="es-ES" b="1" dirty="0"/>
              <a:t>propósito del cálculo</a:t>
            </a:r>
            <a:r>
              <a:rPr lang="es-ES" dirty="0"/>
              <a:t>.</a:t>
            </a:r>
          </a:p>
          <a:p>
            <a:r>
              <a:rPr lang="es-ES" dirty="0"/>
              <a:t>Si quieres entender la </a:t>
            </a:r>
            <a:r>
              <a:rPr lang="es-ES" b="1" dirty="0"/>
              <a:t>huella de recursos primarios y las pérdidas inherentes a la conversión de calor a electricidad</a:t>
            </a:r>
            <a:r>
              <a:rPr lang="es-ES" dirty="0"/>
              <a:t> (para nuclear o geotermia), el </a:t>
            </a:r>
            <a:r>
              <a:rPr lang="es-ES" b="1" dirty="0"/>
              <a:t>Método de la Energía Física Contenida</a:t>
            </a:r>
            <a:r>
              <a:rPr lang="es-ES" dirty="0"/>
              <a:t> es más pertinente.</a:t>
            </a:r>
          </a:p>
          <a:p>
            <a:r>
              <a:rPr lang="es-ES" dirty="0"/>
              <a:t>Si tu objetivo es cuantificar el </a:t>
            </a:r>
            <a:r>
              <a:rPr lang="es-ES" b="1" dirty="0"/>
              <a:t>ahorro de combustibles fósiles y las emisiones de CO2 evitadas</a:t>
            </a:r>
            <a:r>
              <a:rPr lang="es-ES" dirty="0"/>
              <a:t> gracias a las energías no combustibles, el </a:t>
            </a:r>
            <a:r>
              <a:rPr lang="es-ES" b="1" dirty="0"/>
              <a:t>Método de Sustitución Parcial</a:t>
            </a:r>
            <a:r>
              <a:rPr lang="es-ES" dirty="0"/>
              <a:t> es muy útil.</a:t>
            </a:r>
          </a:p>
          <a:p>
            <a:r>
              <a:rPr lang="es-ES" dirty="0"/>
              <a:t>El </a:t>
            </a:r>
            <a:r>
              <a:rPr lang="es-ES" b="1" dirty="0"/>
              <a:t>Método Equivalente Directo</a:t>
            </a:r>
            <a:r>
              <a:rPr lang="es-ES" dirty="0"/>
              <a:t> es el más sencillo, pero su simplicidad lo hace menos representativo de la realidad energética compleja y no permite comparaciones justas entre distintas tecnologías.</a:t>
            </a:r>
          </a:p>
          <a:p>
            <a:r>
              <a:rPr lang="es-ES" dirty="0"/>
              <a:t>En la práctica, los organismos de energía y normativas suelen especificar qué método o factores de conversión deben utilizarse para asegurar la coherencia en los informes y certificaciones. Por ejemplo, la directiva europea EPBD (Energy Performance </a:t>
            </a:r>
            <a:r>
              <a:rPr lang="es-ES" dirty="0" err="1"/>
              <a:t>of</a:t>
            </a:r>
            <a:r>
              <a:rPr lang="es-ES" dirty="0"/>
              <a:t> </a:t>
            </a:r>
            <a:r>
              <a:rPr lang="es-ES" dirty="0" err="1"/>
              <a:t>Buildings</a:t>
            </a:r>
            <a:r>
              <a:rPr lang="es-ES" dirty="0"/>
              <a:t> Directive) define factores de energía primaria para la electricidad de la red que consideran el </a:t>
            </a:r>
            <a:r>
              <a:rPr lang="es-ES" dirty="0" err="1"/>
              <a:t>mix</a:t>
            </a:r>
            <a:r>
              <a:rPr lang="es-ES"/>
              <a:t> energético nacional, que se asemeja más a un enfoque de sustitución o incluso a una mezcla compleja que considera las pérdidas de la red.</a:t>
            </a:r>
          </a:p>
          <a:p>
            <a:pPr marL="0" lvl="0" indent="0" algn="l" rtl="0">
              <a:spcBef>
                <a:spcPts val="0"/>
              </a:spcBef>
              <a:spcAft>
                <a:spcPts val="0"/>
              </a:spcAft>
              <a:buNone/>
            </a:pPr>
            <a:endParaRPr/>
          </a:p>
        </p:txBody>
      </p:sp>
      <p:sp>
        <p:nvSpPr>
          <p:cNvPr id="259" name="Google Shape;259;p23:notes">
            <a:extLst>
              <a:ext uri="{FF2B5EF4-FFF2-40B4-BE49-F238E27FC236}">
                <a16:creationId xmlns:a16="http://schemas.microsoft.com/office/drawing/2014/main" id="{FAEE1E67-2DFA-9C8C-6F9C-FD50B1BB0B3D}"/>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2431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A56AC7D3-12C3-AAEF-0E4B-1FED4B943C07}"/>
            </a:ext>
          </a:extLst>
        </p:cNvPr>
        <p:cNvGrpSpPr/>
        <p:nvPr/>
      </p:nvGrpSpPr>
      <p:grpSpPr>
        <a:xfrm>
          <a:off x="0" y="0"/>
          <a:ext cx="0" cy="0"/>
          <a:chOff x="0" y="0"/>
          <a:chExt cx="0" cy="0"/>
        </a:xfrm>
      </p:grpSpPr>
      <p:sp>
        <p:nvSpPr>
          <p:cNvPr id="258" name="Google Shape;258;p23:notes">
            <a:extLst>
              <a:ext uri="{FF2B5EF4-FFF2-40B4-BE49-F238E27FC236}">
                <a16:creationId xmlns:a16="http://schemas.microsoft.com/office/drawing/2014/main" id="{4A900A64-4624-F585-9D05-3D7E6DBB7899}"/>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r>
              <a:rPr lang="es-ES" b="1" dirty="0"/>
              <a:t>1. Método de la Energía Física Contenida</a:t>
            </a:r>
          </a:p>
          <a:p>
            <a:r>
              <a:rPr lang="es-ES" dirty="0"/>
              <a:t>Este método se centra en estimar la energía primaria equivalente generada por una fuente de energía no combustible, basándose en la </a:t>
            </a:r>
            <a:r>
              <a:rPr lang="es-ES" b="1" dirty="0"/>
              <a:t>cantidad de calor producido</a:t>
            </a:r>
            <a:r>
              <a:rPr lang="es-ES" dirty="0"/>
              <a:t>. Es particularmente relevante para formas primarias de energía que se manifiestan como calor, como la energía nuclear o la geotérmica.</a:t>
            </a:r>
          </a:p>
          <a:p>
            <a:r>
              <a:rPr lang="es-ES" b="1" dirty="0"/>
              <a:t>¿Qué representa?</a:t>
            </a:r>
            <a:r>
              <a:rPr lang="es-ES" dirty="0"/>
              <a:t> Busca reflejar la cantidad real de energía contenida en el "combustible" primario o la fuente original. En el caso nuclear, sería la energía latente en el uranio fisible; en la geotermia, el calor del subsuelo.</a:t>
            </a:r>
          </a:p>
          <a:p>
            <a:r>
              <a:rPr lang="es-ES" b="1" dirty="0"/>
              <a:t>Ventajas destacadas en tu imagen:</a:t>
            </a:r>
            <a:endParaRPr lang="es-ES" dirty="0"/>
          </a:p>
          <a:p>
            <a:pPr lvl="1"/>
            <a:r>
              <a:rPr lang="es-ES" b="1" dirty="0"/>
              <a:t>Refleja la cantidad real de energía contenida en el combustible:</a:t>
            </a:r>
            <a:r>
              <a:rPr lang="es-ES" dirty="0"/>
              <a:t> Esto sugiere que intenta cuantificar la energía potencial o intrínseca de la fuente.</a:t>
            </a:r>
          </a:p>
          <a:p>
            <a:r>
              <a:rPr lang="es-ES" b="1" dirty="0"/>
              <a:t>Desventajas destacadas en tu imagen:</a:t>
            </a:r>
            <a:endParaRPr lang="es-ES" dirty="0"/>
          </a:p>
          <a:p>
            <a:pPr lvl="1"/>
            <a:r>
              <a:rPr lang="es-ES" b="1" dirty="0"/>
              <a:t>Subestima las energías renovables:</a:t>
            </a:r>
            <a:r>
              <a:rPr lang="es-ES" dirty="0"/>
              <a:t> Esto es un punto crítico. Fuentes como la solar fotovoltaica o la eólica no tienen una "cantidad de calor producido" directo o un "combustible" en el sentido tradicional. Aplicar este método a estas fuentes implicaría asignarles un factor de conversión de 1 (es decir, 1 unidad de energía generada = 1 unidad de energía primaria), lo que no refleja el esfuerzo energético real para su aprovechamiento o la energía de la fuente primaria que "pasa a través" del sistema.</a:t>
            </a:r>
          </a:p>
          <a:p>
            <a:pPr lvl="1"/>
            <a:r>
              <a:rPr lang="es-ES" b="1" dirty="0"/>
              <a:t>Necesita un factor de conversión para el calor producido:</a:t>
            </a:r>
            <a:r>
              <a:rPr lang="es-ES" dirty="0"/>
              <a:t> Como se menciona, se requieren eficiencias de conversión (ej., nuclear 33%, geotérmica 10%). Esto implica que se asume que la fuente no produce directamente energía eléctrica utilizable y que su calor debe ser convertido a otra forma (usualmente electricidad), implicando pérdidas.</a:t>
            </a:r>
          </a:p>
          <a:p>
            <a:r>
              <a:rPr lang="es-ES" b="1" dirty="0"/>
              <a:t>Crítica/Contexto adicional:</a:t>
            </a:r>
            <a:r>
              <a:rPr lang="es-ES" dirty="0"/>
              <a:t> Este método es más adecuado para fuentes térmicas que requieren una conversión a electricidad. Para renovables como la eólica o solar, es controvertido y a menudo se prefiere otros métodos para evitar subestimar su impacto en la energía primaria.</a:t>
            </a:r>
          </a:p>
          <a:p>
            <a:r>
              <a:rPr lang="es-ES" b="1" dirty="0"/>
              <a:t>2. Método de Sustitución Parcial</a:t>
            </a:r>
          </a:p>
          <a:p>
            <a:r>
              <a:rPr lang="es-ES" dirty="0"/>
              <a:t>Este método estima la energía primaria equivalente de una fuente de energía no combustible considerando </a:t>
            </a:r>
            <a:r>
              <a:rPr lang="es-ES" b="1" dirty="0"/>
              <a:t>qué cantidad de combustible fósil sería necesaria para producir la misma cantidad de electricidad</a:t>
            </a:r>
            <a:r>
              <a:rPr lang="es-ES" dirty="0"/>
              <a:t>.</a:t>
            </a:r>
          </a:p>
          <a:p>
            <a:r>
              <a:rPr lang="es-ES" b="1" dirty="0"/>
              <a:t>¿Qué representa?</a:t>
            </a:r>
            <a:r>
              <a:rPr lang="es-ES" dirty="0"/>
              <a:t> Es un enfoque contrafactual. No busca la energía intrínseca de la fuente no combustible, sino el ahorro de combustible fósil que se logra al utilizarla. Si una eólica produce 1 kWh, ¿cuánto gas o carbón se habría quemado en una central térmica para producir ese mismo kWh?</a:t>
            </a:r>
          </a:p>
          <a:p>
            <a:r>
              <a:rPr lang="es-ES" b="1" dirty="0"/>
              <a:t>Ventajas destacadas en tu imagen:</a:t>
            </a:r>
            <a:endParaRPr lang="es-ES" dirty="0"/>
          </a:p>
          <a:p>
            <a:pPr lvl="1"/>
            <a:r>
              <a:rPr lang="es-ES" b="1" dirty="0"/>
              <a:t>Permite conocer la cantidad de energía renovable equivalente a la de combustible fósil:</a:t>
            </a:r>
            <a:r>
              <a:rPr lang="es-ES" dirty="0"/>
              <a:t> Esto es muy útil para la contabilidad de las emisiones de carbono y para evaluar la contribución de las renovables en términos de desplazamiento de fósiles.</a:t>
            </a:r>
          </a:p>
          <a:p>
            <a:r>
              <a:rPr lang="es-ES" b="1" dirty="0"/>
              <a:t>Desventajas destacadas en tu imagen:</a:t>
            </a:r>
            <a:endParaRPr lang="es-ES" dirty="0"/>
          </a:p>
          <a:p>
            <a:pPr lvl="1"/>
            <a:r>
              <a:rPr lang="es-ES" b="1" dirty="0"/>
              <a:t>Depende de factores de conversión comparables con la eficiencia de una central térmica convencional (ej., carbón 38%):</a:t>
            </a:r>
            <a:r>
              <a:rPr lang="es-ES" dirty="0"/>
              <a:t> Esta es su principal limitación. El resultado de la energía primaria equivalente de una fuente renovable (o nuclear) variará drásticamente dependiendo de la eficiencia promedio del tipo de central térmica fósil que se tome como referencia (carbón, gas, ciclo combinado). Esto hace que la comparación no sea "absoluta" sino dependiente del contexto del </a:t>
            </a:r>
            <a:r>
              <a:rPr lang="es-ES" dirty="0" err="1"/>
              <a:t>mix</a:t>
            </a:r>
            <a:r>
              <a:rPr lang="es-ES" dirty="0"/>
              <a:t> energético de respaldo.</a:t>
            </a:r>
          </a:p>
          <a:p>
            <a:r>
              <a:rPr lang="es-ES" b="1" dirty="0"/>
              <a:t>Crítica/Contexto adicional:</a:t>
            </a:r>
            <a:r>
              <a:rPr lang="es-ES" dirty="0"/>
              <a:t> Es un método muy común y práctico para evaluar la contribución de las energías no fósiles al desplazamiento de la energía fósil, pero su valor numérico no representa la "energía intrínseca" de la fuente, sino un "equivalente de combustible fósil evitado".</a:t>
            </a:r>
          </a:p>
          <a:p>
            <a:r>
              <a:rPr lang="es-ES" b="1" dirty="0"/>
              <a:t>3. Método Equivalente Directo</a:t>
            </a:r>
          </a:p>
          <a:p>
            <a:r>
              <a:rPr lang="es-ES" dirty="0"/>
              <a:t>Este método es el más simple y calcula la energía primaria equivalente como la </a:t>
            </a:r>
            <a:r>
              <a:rPr lang="es-ES" b="1" dirty="0"/>
              <a:t>cantidad de electricidad generada por una fuente de energía</a:t>
            </a:r>
            <a:r>
              <a:rPr lang="es-ES" dirty="0"/>
              <a:t>.</a:t>
            </a:r>
          </a:p>
          <a:p>
            <a:r>
              <a:rPr lang="es-ES" b="1" dirty="0"/>
              <a:t>¿Qué representa?</a:t>
            </a:r>
            <a:r>
              <a:rPr lang="es-ES" dirty="0"/>
              <a:t> Asume una conversión directa de 1 a 1 entre la energía final generada (generalmente electricidad) y la energía primaria equivalente. Es decir, si una planta solar produce 1 kWh de electricidad, se considera que ha "utilizado" 1 kWh de energía primaria solar.</a:t>
            </a:r>
          </a:p>
          <a:p>
            <a:r>
              <a:rPr lang="es-ES" b="1" dirty="0"/>
              <a:t>Ventajas destacadas en tu imagen:</a:t>
            </a:r>
            <a:endParaRPr lang="es-ES" dirty="0"/>
          </a:p>
          <a:p>
            <a:pPr lvl="1"/>
            <a:r>
              <a:rPr lang="es-ES" b="1" dirty="0"/>
              <a:t>Método simple con una conversión directa:</a:t>
            </a:r>
            <a:r>
              <a:rPr lang="es-ES" dirty="0"/>
              <a:t> Su principal ventaja es su sencillez.</a:t>
            </a:r>
          </a:p>
          <a:p>
            <a:r>
              <a:rPr lang="es-ES" b="1" dirty="0"/>
              <a:t>Desventajas destacadas en tu imagen:</a:t>
            </a:r>
            <a:endParaRPr lang="es-ES" dirty="0"/>
          </a:p>
          <a:p>
            <a:pPr lvl="1"/>
            <a:r>
              <a:rPr lang="es-ES" b="1" dirty="0"/>
              <a:t>Los resultados no reflejan la cantidad de energía de forma no eléctrica empleada:</a:t>
            </a:r>
            <a:r>
              <a:rPr lang="es-ES" dirty="0"/>
              <a:t> Esta es su gran debilidad. No considera las pérdidas en la transformación de la energía primaria a electricidad si la fuente es térmica (ej., nuclear, geotérmica, donde hay pérdidas por termodinámica), ni el vasto recurso primario que es "aprovechado" por fuentes como la eólica o solar. En otras palabras, 1 kWh de electricidad generada por una nuclear requiere, en realidad, mucha más energía primaria de uranio de la que se convierte en electricidad. Este método ignora esas pérdidas.</a:t>
            </a:r>
          </a:p>
          <a:p>
            <a:r>
              <a:rPr lang="es-ES" b="1" dirty="0"/>
              <a:t>Crítica/Contexto adicional:</a:t>
            </a:r>
            <a:r>
              <a:rPr lang="es-ES" dirty="0"/>
              <a:t> Este método es a menudo criticado por su simplismo, ya que no permite una comparación justa entre fuentes primarias que pasan por procesos de conversión complejos (con pérdidas significativas, como la nuclear o térmica) y fuentes que producen electricidad directamente (eólica, solar fotovoltaica) o que son consumidas directamente. Tiende a subestimar la energía primaria asociada a las fuentes térmicas y a sobrestimar la de las renovables directas si el objetivo es reflejar la energía "original".</a:t>
            </a:r>
          </a:p>
          <a:p>
            <a:r>
              <a:rPr lang="es-ES" b="1" dirty="0"/>
              <a:t>Conclusión General</a:t>
            </a:r>
          </a:p>
          <a:p>
            <a:r>
              <a:rPr lang="es-ES" dirty="0"/>
              <a:t>La elección del método depende del </a:t>
            </a:r>
            <a:r>
              <a:rPr lang="es-ES" b="1" dirty="0"/>
              <a:t>propósito del cálculo</a:t>
            </a:r>
            <a:r>
              <a:rPr lang="es-ES" dirty="0"/>
              <a:t>.</a:t>
            </a:r>
          </a:p>
          <a:p>
            <a:r>
              <a:rPr lang="es-ES" dirty="0"/>
              <a:t>Si quieres entender la </a:t>
            </a:r>
            <a:r>
              <a:rPr lang="es-ES" b="1" dirty="0"/>
              <a:t>huella de recursos primarios y las pérdidas inherentes a la conversión de calor a electricidad</a:t>
            </a:r>
            <a:r>
              <a:rPr lang="es-ES" dirty="0"/>
              <a:t> (para nuclear o geotermia), el </a:t>
            </a:r>
            <a:r>
              <a:rPr lang="es-ES" b="1" dirty="0"/>
              <a:t>Método de la Energía Física Contenida</a:t>
            </a:r>
            <a:r>
              <a:rPr lang="es-ES" dirty="0"/>
              <a:t> es más pertinente.</a:t>
            </a:r>
          </a:p>
          <a:p>
            <a:r>
              <a:rPr lang="es-ES" dirty="0"/>
              <a:t>Si tu objetivo es cuantificar el </a:t>
            </a:r>
            <a:r>
              <a:rPr lang="es-ES" b="1" dirty="0"/>
              <a:t>ahorro de combustibles fósiles y las emisiones de CO2 evitadas</a:t>
            </a:r>
            <a:r>
              <a:rPr lang="es-ES" dirty="0"/>
              <a:t> gracias a las energías no combustibles, el </a:t>
            </a:r>
            <a:r>
              <a:rPr lang="es-ES" b="1" dirty="0"/>
              <a:t>Método de Sustitución Parcial</a:t>
            </a:r>
            <a:r>
              <a:rPr lang="es-ES" dirty="0"/>
              <a:t> es muy útil.</a:t>
            </a:r>
          </a:p>
          <a:p>
            <a:r>
              <a:rPr lang="es-ES" dirty="0"/>
              <a:t>El </a:t>
            </a:r>
            <a:r>
              <a:rPr lang="es-ES" b="1" dirty="0"/>
              <a:t>Método Equivalente Directo</a:t>
            </a:r>
            <a:r>
              <a:rPr lang="es-ES" dirty="0"/>
              <a:t> es el más sencillo, pero su simplicidad lo hace menos representativo de la realidad energética compleja y no permite comparaciones justas entre distintas tecnologías.</a:t>
            </a:r>
          </a:p>
          <a:p>
            <a:r>
              <a:rPr lang="es-ES" dirty="0"/>
              <a:t>En la práctica, los organismos de energía y normativas suelen especificar qué método o factores de conversión deben utilizarse para asegurar la coherencia en los informes y certificaciones. Por ejemplo, la directiva europea EPBD (Energy Performance </a:t>
            </a:r>
            <a:r>
              <a:rPr lang="es-ES" dirty="0" err="1"/>
              <a:t>of</a:t>
            </a:r>
            <a:r>
              <a:rPr lang="es-ES" dirty="0"/>
              <a:t> </a:t>
            </a:r>
            <a:r>
              <a:rPr lang="es-ES" dirty="0" err="1"/>
              <a:t>Buildings</a:t>
            </a:r>
            <a:r>
              <a:rPr lang="es-ES" dirty="0"/>
              <a:t> Directive) define factores de energía primaria para la electricidad de la red que consideran el </a:t>
            </a:r>
            <a:r>
              <a:rPr lang="es-ES" dirty="0" err="1"/>
              <a:t>mix</a:t>
            </a:r>
            <a:r>
              <a:rPr lang="es-ES"/>
              <a:t> energético nacional, que se asemeja más a un enfoque de sustitución o incluso a una mezcla compleja que considera las pérdidas de la red.</a:t>
            </a:r>
          </a:p>
          <a:p>
            <a:pPr marL="0" lvl="0" indent="0" algn="l" rtl="0">
              <a:spcBef>
                <a:spcPts val="0"/>
              </a:spcBef>
              <a:spcAft>
                <a:spcPts val="0"/>
              </a:spcAft>
              <a:buNone/>
            </a:pPr>
            <a:endParaRPr/>
          </a:p>
        </p:txBody>
      </p:sp>
      <p:sp>
        <p:nvSpPr>
          <p:cNvPr id="259" name="Google Shape;259;p23:notes">
            <a:extLst>
              <a:ext uri="{FF2B5EF4-FFF2-40B4-BE49-F238E27FC236}">
                <a16:creationId xmlns:a16="http://schemas.microsoft.com/office/drawing/2014/main" id="{A5D98A0E-3BFB-2709-E8EA-4FDCA357BB23}"/>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9993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30AFA708-C8CC-F1A9-423E-1DC96A513C8F}"/>
            </a:ext>
          </a:extLst>
        </p:cNvPr>
        <p:cNvGrpSpPr/>
        <p:nvPr/>
      </p:nvGrpSpPr>
      <p:grpSpPr>
        <a:xfrm>
          <a:off x="0" y="0"/>
          <a:ext cx="0" cy="0"/>
          <a:chOff x="0" y="0"/>
          <a:chExt cx="0" cy="0"/>
        </a:xfrm>
      </p:grpSpPr>
      <p:sp>
        <p:nvSpPr>
          <p:cNvPr id="258" name="Google Shape;258;p23:notes">
            <a:extLst>
              <a:ext uri="{FF2B5EF4-FFF2-40B4-BE49-F238E27FC236}">
                <a16:creationId xmlns:a16="http://schemas.microsoft.com/office/drawing/2014/main" id="{9A6E213E-0DF6-DF7B-C42D-F0F58CE7791A}"/>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r>
              <a:rPr lang="es-ES" b="1" dirty="0"/>
              <a:t>1. Método de la Energía Física Contenida</a:t>
            </a:r>
          </a:p>
          <a:p>
            <a:r>
              <a:rPr lang="es-ES" dirty="0"/>
              <a:t>Este método se centra en estimar la energía primaria equivalente generada por una fuente de energía no combustible, basándose en la </a:t>
            </a:r>
            <a:r>
              <a:rPr lang="es-ES" b="1" dirty="0"/>
              <a:t>cantidad de calor producido</a:t>
            </a:r>
            <a:r>
              <a:rPr lang="es-ES" dirty="0"/>
              <a:t>. Es particularmente relevante para formas primarias de energía que se manifiestan como calor, como la energía nuclear o la geotérmica.</a:t>
            </a:r>
          </a:p>
          <a:p>
            <a:r>
              <a:rPr lang="es-ES" b="1" dirty="0"/>
              <a:t>¿Qué representa?</a:t>
            </a:r>
            <a:r>
              <a:rPr lang="es-ES" dirty="0"/>
              <a:t> Busca reflejar la cantidad real de energía contenida en el "combustible" primario o la fuente original. En el caso nuclear, sería la energía latente en el uranio fisible; en la geotermia, el calor del subsuelo.</a:t>
            </a:r>
          </a:p>
          <a:p>
            <a:r>
              <a:rPr lang="es-ES" b="1" dirty="0"/>
              <a:t>Ventajas destacadas en tu imagen:</a:t>
            </a:r>
            <a:endParaRPr lang="es-ES" dirty="0"/>
          </a:p>
          <a:p>
            <a:pPr lvl="1"/>
            <a:r>
              <a:rPr lang="es-ES" b="1" dirty="0"/>
              <a:t>Refleja la cantidad real de energía contenida en el combustible:</a:t>
            </a:r>
            <a:r>
              <a:rPr lang="es-ES" dirty="0"/>
              <a:t> Esto sugiere que intenta cuantificar la energía potencial o intrínseca de la fuente.</a:t>
            </a:r>
          </a:p>
          <a:p>
            <a:r>
              <a:rPr lang="es-ES" b="1" dirty="0"/>
              <a:t>Desventajas destacadas en tu imagen:</a:t>
            </a:r>
            <a:endParaRPr lang="es-ES" dirty="0"/>
          </a:p>
          <a:p>
            <a:pPr lvl="1"/>
            <a:r>
              <a:rPr lang="es-ES" b="1" dirty="0"/>
              <a:t>Subestima las energías renovables:</a:t>
            </a:r>
            <a:r>
              <a:rPr lang="es-ES" dirty="0"/>
              <a:t> Esto es un punto crítico. Fuentes como la solar fotovoltaica o la eólica no tienen una "cantidad de calor producido" directo o un "combustible" en el sentido tradicional. Aplicar este método a estas fuentes implicaría asignarles un factor de conversión de 1 (es decir, 1 unidad de energía generada = 1 unidad de energía primaria), lo que no refleja el esfuerzo energético real para su aprovechamiento o la energía de la fuente primaria que "pasa a través" del sistema.</a:t>
            </a:r>
          </a:p>
          <a:p>
            <a:pPr lvl="1"/>
            <a:r>
              <a:rPr lang="es-ES" b="1" dirty="0"/>
              <a:t>Necesita un factor de conversión para el calor producido:</a:t>
            </a:r>
            <a:r>
              <a:rPr lang="es-ES" dirty="0"/>
              <a:t> Como se menciona, se requieren eficiencias de conversión (ej., nuclear 33%, geotérmica 10%). Esto implica que se asume que la fuente no produce directamente energía eléctrica utilizable y que su calor debe ser convertido a otra forma (usualmente electricidad), implicando pérdidas.</a:t>
            </a:r>
          </a:p>
          <a:p>
            <a:r>
              <a:rPr lang="es-ES" b="1" dirty="0"/>
              <a:t>Crítica/Contexto adicional:</a:t>
            </a:r>
            <a:r>
              <a:rPr lang="es-ES" dirty="0"/>
              <a:t> Este método es más adecuado para fuentes térmicas que requieren una conversión a electricidad. Para renovables como la eólica o solar, es controvertido y a menudo se prefiere otros métodos para evitar subestimar su impacto en la energía primaria.</a:t>
            </a:r>
          </a:p>
          <a:p>
            <a:r>
              <a:rPr lang="es-ES" b="1" dirty="0"/>
              <a:t>2. Método de Sustitución Parcial</a:t>
            </a:r>
          </a:p>
          <a:p>
            <a:r>
              <a:rPr lang="es-ES" dirty="0"/>
              <a:t>Este método estima la energía primaria equivalente de una fuente de energía no combustible considerando </a:t>
            </a:r>
            <a:r>
              <a:rPr lang="es-ES" b="1" dirty="0"/>
              <a:t>qué cantidad de combustible fósil sería necesaria para producir la misma cantidad de electricidad</a:t>
            </a:r>
            <a:r>
              <a:rPr lang="es-ES" dirty="0"/>
              <a:t>.</a:t>
            </a:r>
          </a:p>
          <a:p>
            <a:r>
              <a:rPr lang="es-ES" b="1" dirty="0"/>
              <a:t>¿Qué representa?</a:t>
            </a:r>
            <a:r>
              <a:rPr lang="es-ES" dirty="0"/>
              <a:t> Es un enfoque contrafactual. No busca la energía intrínseca de la fuente no combustible, sino el ahorro de combustible fósil que se logra al utilizarla. Si una eólica produce 1 kWh, ¿cuánto gas o carbón se habría quemado en una central térmica para producir ese mismo kWh?</a:t>
            </a:r>
          </a:p>
          <a:p>
            <a:r>
              <a:rPr lang="es-ES" b="1" dirty="0"/>
              <a:t>Ventajas destacadas en tu imagen:</a:t>
            </a:r>
            <a:endParaRPr lang="es-ES" dirty="0"/>
          </a:p>
          <a:p>
            <a:pPr lvl="1"/>
            <a:r>
              <a:rPr lang="es-ES" b="1" dirty="0"/>
              <a:t>Permite conocer la cantidad de energía renovable equivalente a la de combustible fósil:</a:t>
            </a:r>
            <a:r>
              <a:rPr lang="es-ES" dirty="0"/>
              <a:t> Esto es muy útil para la contabilidad de las emisiones de carbono y para evaluar la contribución de las renovables en términos de desplazamiento de fósiles.</a:t>
            </a:r>
          </a:p>
          <a:p>
            <a:r>
              <a:rPr lang="es-ES" b="1" dirty="0"/>
              <a:t>Desventajas destacadas en tu imagen:</a:t>
            </a:r>
            <a:endParaRPr lang="es-ES" dirty="0"/>
          </a:p>
          <a:p>
            <a:pPr lvl="1"/>
            <a:r>
              <a:rPr lang="es-ES" b="1" dirty="0"/>
              <a:t>Depende de factores de conversión comparables con la eficiencia de una central térmica convencional (ej., carbón 38%):</a:t>
            </a:r>
            <a:r>
              <a:rPr lang="es-ES" dirty="0"/>
              <a:t> Esta es su principal limitación. El resultado de la energía primaria equivalente de una fuente renovable (o nuclear) variará drásticamente dependiendo de la eficiencia promedio del tipo de central térmica fósil que se tome como referencia (carbón, gas, ciclo combinado). Esto hace que la comparación no sea "absoluta" sino dependiente del contexto del </a:t>
            </a:r>
            <a:r>
              <a:rPr lang="es-ES" dirty="0" err="1"/>
              <a:t>mix</a:t>
            </a:r>
            <a:r>
              <a:rPr lang="es-ES" dirty="0"/>
              <a:t> energético de respaldo.</a:t>
            </a:r>
          </a:p>
          <a:p>
            <a:r>
              <a:rPr lang="es-ES" b="1" dirty="0"/>
              <a:t>Crítica/Contexto adicional:</a:t>
            </a:r>
            <a:r>
              <a:rPr lang="es-ES" dirty="0"/>
              <a:t> Es un método muy común y práctico para evaluar la contribución de las energías no fósiles al desplazamiento de la energía fósil, pero su valor numérico no representa la "energía intrínseca" de la fuente, sino un "equivalente de combustible fósil evitado".</a:t>
            </a:r>
          </a:p>
          <a:p>
            <a:r>
              <a:rPr lang="es-ES" b="1" dirty="0"/>
              <a:t>3. Método Equivalente Directo</a:t>
            </a:r>
          </a:p>
          <a:p>
            <a:r>
              <a:rPr lang="es-ES" dirty="0"/>
              <a:t>Este método es el más simple y calcula la energía primaria equivalente como la </a:t>
            </a:r>
            <a:r>
              <a:rPr lang="es-ES" b="1" dirty="0"/>
              <a:t>cantidad de electricidad generada por una fuente de energía</a:t>
            </a:r>
            <a:r>
              <a:rPr lang="es-ES" dirty="0"/>
              <a:t>.</a:t>
            </a:r>
          </a:p>
          <a:p>
            <a:r>
              <a:rPr lang="es-ES" b="1" dirty="0"/>
              <a:t>¿Qué representa?</a:t>
            </a:r>
            <a:r>
              <a:rPr lang="es-ES" dirty="0"/>
              <a:t> Asume una conversión directa de 1 a 1 entre la energía final generada (generalmente electricidad) y la energía primaria equivalente. Es decir, si una planta solar produce 1 kWh de electricidad, se considera que ha "utilizado" 1 kWh de energía primaria solar.</a:t>
            </a:r>
          </a:p>
          <a:p>
            <a:r>
              <a:rPr lang="es-ES" b="1" dirty="0"/>
              <a:t>Ventajas destacadas en tu imagen:</a:t>
            </a:r>
            <a:endParaRPr lang="es-ES" dirty="0"/>
          </a:p>
          <a:p>
            <a:pPr lvl="1"/>
            <a:r>
              <a:rPr lang="es-ES" b="1" dirty="0"/>
              <a:t>Método simple con una conversión directa:</a:t>
            </a:r>
            <a:r>
              <a:rPr lang="es-ES" dirty="0"/>
              <a:t> Su principal ventaja es su sencillez.</a:t>
            </a:r>
          </a:p>
          <a:p>
            <a:r>
              <a:rPr lang="es-ES" b="1" dirty="0"/>
              <a:t>Desventajas destacadas en tu imagen:</a:t>
            </a:r>
            <a:endParaRPr lang="es-ES" dirty="0"/>
          </a:p>
          <a:p>
            <a:pPr lvl="1"/>
            <a:r>
              <a:rPr lang="es-ES" b="1" dirty="0"/>
              <a:t>Los resultados no reflejan la cantidad de energía de forma no eléctrica empleada:</a:t>
            </a:r>
            <a:r>
              <a:rPr lang="es-ES" dirty="0"/>
              <a:t> Esta es su gran debilidad. No considera las pérdidas en la transformación de la energía primaria a electricidad si la fuente es térmica (ej., nuclear, geotérmica, donde hay pérdidas por termodinámica), ni el vasto recurso primario que es "aprovechado" por fuentes como la eólica o solar. En otras palabras, 1 kWh de electricidad generada por una nuclear requiere, en realidad, mucha más energía primaria de uranio de la que se convierte en electricidad. Este método ignora esas pérdidas.</a:t>
            </a:r>
          </a:p>
          <a:p>
            <a:r>
              <a:rPr lang="es-ES" b="1" dirty="0"/>
              <a:t>Crítica/Contexto adicional:</a:t>
            </a:r>
            <a:r>
              <a:rPr lang="es-ES" dirty="0"/>
              <a:t> Este método es a menudo criticado por su simplismo, ya que no permite una comparación justa entre fuentes primarias que pasan por procesos de conversión complejos (con pérdidas significativas, como la nuclear o térmica) y fuentes que producen electricidad directamente (eólica, solar fotovoltaica) o que son consumidas directamente. Tiende a subestimar la energía primaria asociada a las fuentes térmicas y a sobrestimar la de las renovables directas si el objetivo es reflejar la energía "original".</a:t>
            </a:r>
          </a:p>
          <a:p>
            <a:r>
              <a:rPr lang="es-ES" b="1" dirty="0"/>
              <a:t>Conclusión General</a:t>
            </a:r>
          </a:p>
          <a:p>
            <a:r>
              <a:rPr lang="es-ES" dirty="0"/>
              <a:t>La elección del método depende del </a:t>
            </a:r>
            <a:r>
              <a:rPr lang="es-ES" b="1" dirty="0"/>
              <a:t>propósito del cálculo</a:t>
            </a:r>
            <a:r>
              <a:rPr lang="es-ES" dirty="0"/>
              <a:t>.</a:t>
            </a:r>
          </a:p>
          <a:p>
            <a:r>
              <a:rPr lang="es-ES" dirty="0"/>
              <a:t>Si quieres entender la </a:t>
            </a:r>
            <a:r>
              <a:rPr lang="es-ES" b="1" dirty="0"/>
              <a:t>huella de recursos primarios y las pérdidas inherentes a la conversión de calor a electricidad</a:t>
            </a:r>
            <a:r>
              <a:rPr lang="es-ES" dirty="0"/>
              <a:t> (para nuclear o geotermia), el </a:t>
            </a:r>
            <a:r>
              <a:rPr lang="es-ES" b="1" dirty="0"/>
              <a:t>Método de la Energía Física Contenida</a:t>
            </a:r>
            <a:r>
              <a:rPr lang="es-ES" dirty="0"/>
              <a:t> es más pertinente.</a:t>
            </a:r>
          </a:p>
          <a:p>
            <a:r>
              <a:rPr lang="es-ES" dirty="0"/>
              <a:t>Si tu objetivo es cuantificar el </a:t>
            </a:r>
            <a:r>
              <a:rPr lang="es-ES" b="1" dirty="0"/>
              <a:t>ahorro de combustibles fósiles y las emisiones de CO2 evitadas</a:t>
            </a:r>
            <a:r>
              <a:rPr lang="es-ES" dirty="0"/>
              <a:t> gracias a las energías no combustibles, el </a:t>
            </a:r>
            <a:r>
              <a:rPr lang="es-ES" b="1" dirty="0"/>
              <a:t>Método de Sustitución Parcial</a:t>
            </a:r>
            <a:r>
              <a:rPr lang="es-ES" dirty="0"/>
              <a:t> es muy útil.</a:t>
            </a:r>
          </a:p>
          <a:p>
            <a:r>
              <a:rPr lang="es-ES" dirty="0"/>
              <a:t>El </a:t>
            </a:r>
            <a:r>
              <a:rPr lang="es-ES" b="1" dirty="0"/>
              <a:t>Método Equivalente Directo</a:t>
            </a:r>
            <a:r>
              <a:rPr lang="es-ES" dirty="0"/>
              <a:t> es el más sencillo, pero su simplicidad lo hace menos representativo de la realidad energética compleja y no permite comparaciones justas entre distintas tecnologías.</a:t>
            </a:r>
          </a:p>
          <a:p>
            <a:r>
              <a:rPr lang="es-ES" dirty="0"/>
              <a:t>En la práctica, los organismos de energía y normativas suelen especificar qué método o factores de conversión deben utilizarse para asegurar la coherencia en los informes y certificaciones. Por ejemplo, la directiva europea EPBD (Energy Performance </a:t>
            </a:r>
            <a:r>
              <a:rPr lang="es-ES" dirty="0" err="1"/>
              <a:t>of</a:t>
            </a:r>
            <a:r>
              <a:rPr lang="es-ES" dirty="0"/>
              <a:t> </a:t>
            </a:r>
            <a:r>
              <a:rPr lang="es-ES" dirty="0" err="1"/>
              <a:t>Buildings</a:t>
            </a:r>
            <a:r>
              <a:rPr lang="es-ES" dirty="0"/>
              <a:t> Directive) define factores de energía primaria para la electricidad de la red que consideran el </a:t>
            </a:r>
            <a:r>
              <a:rPr lang="es-ES" dirty="0" err="1"/>
              <a:t>mix</a:t>
            </a:r>
            <a:r>
              <a:rPr lang="es-ES"/>
              <a:t> energético nacional, que se asemeja más a un enfoque de sustitución o incluso a una mezcla compleja que considera las pérdidas de la red.</a:t>
            </a:r>
          </a:p>
          <a:p>
            <a:pPr marL="0" lvl="0" indent="0" algn="l" rtl="0">
              <a:spcBef>
                <a:spcPts val="0"/>
              </a:spcBef>
              <a:spcAft>
                <a:spcPts val="0"/>
              </a:spcAft>
              <a:buNone/>
            </a:pPr>
            <a:endParaRPr/>
          </a:p>
        </p:txBody>
      </p:sp>
      <p:sp>
        <p:nvSpPr>
          <p:cNvPr id="259" name="Google Shape;259;p23:notes">
            <a:extLst>
              <a:ext uri="{FF2B5EF4-FFF2-40B4-BE49-F238E27FC236}">
                <a16:creationId xmlns:a16="http://schemas.microsoft.com/office/drawing/2014/main" id="{D0C5645A-E3CE-CBFF-1F19-7E52C1AEE8A5}"/>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8199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3: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13: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31207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9: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9: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6: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6: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7: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7: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7: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27: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47690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7: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27: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7: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27: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99212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0: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30: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3: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33: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4: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34: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5: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35: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37: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19" name="Google Shape;419;p37: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a:extLst>
            <a:ext uri="{FF2B5EF4-FFF2-40B4-BE49-F238E27FC236}">
              <a16:creationId xmlns:a16="http://schemas.microsoft.com/office/drawing/2014/main" id="{97EE6288-9743-7F05-F3EB-D337668EAC42}"/>
            </a:ext>
          </a:extLst>
        </p:cNvPr>
        <p:cNvGrpSpPr/>
        <p:nvPr/>
      </p:nvGrpSpPr>
      <p:grpSpPr>
        <a:xfrm>
          <a:off x="0" y="0"/>
          <a:ext cx="0" cy="0"/>
          <a:chOff x="0" y="0"/>
          <a:chExt cx="0" cy="0"/>
        </a:xfrm>
      </p:grpSpPr>
      <p:sp>
        <p:nvSpPr>
          <p:cNvPr id="441" name="Google Shape;441;p39:notes">
            <a:extLst>
              <a:ext uri="{FF2B5EF4-FFF2-40B4-BE49-F238E27FC236}">
                <a16:creationId xmlns:a16="http://schemas.microsoft.com/office/drawing/2014/main" id="{CBC719D2-E874-BC69-A1CA-13A41ADD3A98}"/>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39:notes">
            <a:extLst>
              <a:ext uri="{FF2B5EF4-FFF2-40B4-BE49-F238E27FC236}">
                <a16:creationId xmlns:a16="http://schemas.microsoft.com/office/drawing/2014/main" id="{CAB0B59A-7D24-82C5-3B51-1FE767AD51CB}"/>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47253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a:extLst>
            <a:ext uri="{FF2B5EF4-FFF2-40B4-BE49-F238E27FC236}">
              <a16:creationId xmlns:a16="http://schemas.microsoft.com/office/drawing/2014/main" id="{393DE914-B9BC-514B-BCC2-6C90C990E8CD}"/>
            </a:ext>
          </a:extLst>
        </p:cNvPr>
        <p:cNvGrpSpPr/>
        <p:nvPr/>
      </p:nvGrpSpPr>
      <p:grpSpPr>
        <a:xfrm>
          <a:off x="0" y="0"/>
          <a:ext cx="0" cy="0"/>
          <a:chOff x="0" y="0"/>
          <a:chExt cx="0" cy="0"/>
        </a:xfrm>
      </p:grpSpPr>
      <p:sp>
        <p:nvSpPr>
          <p:cNvPr id="441" name="Google Shape;441;p39:notes">
            <a:extLst>
              <a:ext uri="{FF2B5EF4-FFF2-40B4-BE49-F238E27FC236}">
                <a16:creationId xmlns:a16="http://schemas.microsoft.com/office/drawing/2014/main" id="{A7DEEB85-5FDF-136D-EABE-4184E703AF03}"/>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2" name="Google Shape;442;p39:notes">
            <a:extLst>
              <a:ext uri="{FF2B5EF4-FFF2-40B4-BE49-F238E27FC236}">
                <a16:creationId xmlns:a16="http://schemas.microsoft.com/office/drawing/2014/main" id="{07229256-A356-F83A-2B01-1B96FAB1DE54}"/>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16380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9: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dirty="0"/>
              <a:t>La </a:t>
            </a:r>
            <a:r>
              <a:rPr lang="es-ES" b="1" dirty="0"/>
              <a:t>fórmula típica del LCOE</a:t>
            </a:r>
            <a:r>
              <a:rPr lang="es-ES" dirty="0"/>
              <a:t> proporciona un análisis detallado y sensible al tiempo, ideal para evaluaciones financieras exhaustivas. La </a:t>
            </a:r>
            <a:r>
              <a:rPr lang="es-ES" b="1" dirty="0"/>
              <a:t>fórmula del LCOE de NREL</a:t>
            </a:r>
            <a:r>
              <a:rPr lang="es-ES" dirty="0"/>
              <a:t> simplifica el cálculo, enfocándose en costos anualizados y ofreciendo una comparación más directa entre diferentes proyectos energéticos, particularmente en el contexto de energías renovables.</a:t>
            </a:r>
            <a:endParaRPr dirty="0"/>
          </a:p>
        </p:txBody>
      </p:sp>
      <p:sp>
        <p:nvSpPr>
          <p:cNvPr id="442" name="Google Shape;442;p39: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46971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9: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dirty="0" err="1"/>
              <a:t>Lazard</a:t>
            </a:r>
            <a:r>
              <a:rPr lang="es-ES" dirty="0"/>
              <a:t> hace análisis solo para EEUU</a:t>
            </a:r>
            <a:endParaRPr dirty="0"/>
          </a:p>
        </p:txBody>
      </p:sp>
      <p:sp>
        <p:nvSpPr>
          <p:cNvPr id="442" name="Google Shape;442;p39: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6728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9: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dirty="0" err="1"/>
              <a:t>Lazard</a:t>
            </a:r>
            <a:r>
              <a:rPr lang="es-ES" dirty="0"/>
              <a:t> hace análisis solo para EEUU</a:t>
            </a:r>
            <a:endParaRPr dirty="0"/>
          </a:p>
        </p:txBody>
      </p:sp>
      <p:sp>
        <p:nvSpPr>
          <p:cNvPr id="442" name="Google Shape;442;p39: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41123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a:extLst>
            <a:ext uri="{FF2B5EF4-FFF2-40B4-BE49-F238E27FC236}">
              <a16:creationId xmlns:a16="http://schemas.microsoft.com/office/drawing/2014/main" id="{1CF16437-4400-8668-BA89-32296FDA270F}"/>
            </a:ext>
          </a:extLst>
        </p:cNvPr>
        <p:cNvGrpSpPr/>
        <p:nvPr/>
      </p:nvGrpSpPr>
      <p:grpSpPr>
        <a:xfrm>
          <a:off x="0" y="0"/>
          <a:ext cx="0" cy="0"/>
          <a:chOff x="0" y="0"/>
          <a:chExt cx="0" cy="0"/>
        </a:xfrm>
      </p:grpSpPr>
      <p:sp>
        <p:nvSpPr>
          <p:cNvPr id="441" name="Google Shape;441;p39:notes">
            <a:extLst>
              <a:ext uri="{FF2B5EF4-FFF2-40B4-BE49-F238E27FC236}">
                <a16:creationId xmlns:a16="http://schemas.microsoft.com/office/drawing/2014/main" id="{9397CB73-F34F-8BF1-A987-8E81CA6FBFBA}"/>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dirty="0"/>
              <a:t>La </a:t>
            </a:r>
            <a:r>
              <a:rPr lang="es-ES" b="1" dirty="0"/>
              <a:t>fórmula típica del LCOE</a:t>
            </a:r>
            <a:r>
              <a:rPr lang="es-ES" dirty="0"/>
              <a:t> proporciona un análisis detallado y sensible al tiempo, ideal para evaluaciones financieras exhaustivas. La </a:t>
            </a:r>
            <a:r>
              <a:rPr lang="es-ES" b="1" dirty="0"/>
              <a:t>fórmula del LCOE de NREL</a:t>
            </a:r>
            <a:r>
              <a:rPr lang="es-ES" dirty="0"/>
              <a:t> simplifica el cálculo, enfocándose en costos anualizados y ofreciendo una comparación más directa entre diferentes proyectos energéticos, particularmente en el contexto de energías renovables.</a:t>
            </a:r>
            <a:endParaRPr dirty="0"/>
          </a:p>
        </p:txBody>
      </p:sp>
      <p:sp>
        <p:nvSpPr>
          <p:cNvPr id="442" name="Google Shape;442;p39:notes">
            <a:extLst>
              <a:ext uri="{FF2B5EF4-FFF2-40B4-BE49-F238E27FC236}">
                <a16:creationId xmlns:a16="http://schemas.microsoft.com/office/drawing/2014/main" id="{3B354EE3-CDA4-9518-4678-EC450A59F45B}"/>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44809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a:extLst>
            <a:ext uri="{FF2B5EF4-FFF2-40B4-BE49-F238E27FC236}">
              <a16:creationId xmlns:a16="http://schemas.microsoft.com/office/drawing/2014/main" id="{DE59FED7-EFA5-5277-207B-3A17718F856A}"/>
            </a:ext>
          </a:extLst>
        </p:cNvPr>
        <p:cNvGrpSpPr/>
        <p:nvPr/>
      </p:nvGrpSpPr>
      <p:grpSpPr>
        <a:xfrm>
          <a:off x="0" y="0"/>
          <a:ext cx="0" cy="0"/>
          <a:chOff x="0" y="0"/>
          <a:chExt cx="0" cy="0"/>
        </a:xfrm>
      </p:grpSpPr>
      <p:sp>
        <p:nvSpPr>
          <p:cNvPr id="441" name="Google Shape;441;p39:notes">
            <a:extLst>
              <a:ext uri="{FF2B5EF4-FFF2-40B4-BE49-F238E27FC236}">
                <a16:creationId xmlns:a16="http://schemas.microsoft.com/office/drawing/2014/main" id="{9D83F927-C3CE-1CEB-CD5C-E31F5FB4C968}"/>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dirty="0"/>
              <a:t>La </a:t>
            </a:r>
            <a:r>
              <a:rPr lang="es-ES" b="1" dirty="0"/>
              <a:t>fórmula típica del LCOE</a:t>
            </a:r>
            <a:r>
              <a:rPr lang="es-ES" dirty="0"/>
              <a:t> proporciona un análisis detallado y sensible al tiempo, ideal para evaluaciones financieras exhaustivas. La </a:t>
            </a:r>
            <a:r>
              <a:rPr lang="es-ES" b="1" dirty="0"/>
              <a:t>fórmula del LCOE de NREL</a:t>
            </a:r>
            <a:r>
              <a:rPr lang="es-ES" dirty="0"/>
              <a:t> simplifica el cálculo, enfocándose en costos anualizados y ofreciendo una comparación más directa entre diferentes proyectos energéticos, particularmente en el contexto de energías renovables.</a:t>
            </a:r>
            <a:endParaRPr dirty="0"/>
          </a:p>
        </p:txBody>
      </p:sp>
      <p:sp>
        <p:nvSpPr>
          <p:cNvPr id="442" name="Google Shape;442;p39:notes">
            <a:extLst>
              <a:ext uri="{FF2B5EF4-FFF2-40B4-BE49-F238E27FC236}">
                <a16:creationId xmlns:a16="http://schemas.microsoft.com/office/drawing/2014/main" id="{93B84967-B361-1375-BC7B-048A40BC9FF7}"/>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22474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a:extLst>
            <a:ext uri="{FF2B5EF4-FFF2-40B4-BE49-F238E27FC236}">
              <a16:creationId xmlns:a16="http://schemas.microsoft.com/office/drawing/2014/main" id="{DCDCBC38-2444-8F29-ED52-5F91B1490D6B}"/>
            </a:ext>
          </a:extLst>
        </p:cNvPr>
        <p:cNvGrpSpPr/>
        <p:nvPr/>
      </p:nvGrpSpPr>
      <p:grpSpPr>
        <a:xfrm>
          <a:off x="0" y="0"/>
          <a:ext cx="0" cy="0"/>
          <a:chOff x="0" y="0"/>
          <a:chExt cx="0" cy="0"/>
        </a:xfrm>
      </p:grpSpPr>
      <p:sp>
        <p:nvSpPr>
          <p:cNvPr id="441" name="Google Shape;441;p39:notes">
            <a:extLst>
              <a:ext uri="{FF2B5EF4-FFF2-40B4-BE49-F238E27FC236}">
                <a16:creationId xmlns:a16="http://schemas.microsoft.com/office/drawing/2014/main" id="{09EA3798-EED7-7120-372A-91F923186B66}"/>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dirty="0"/>
              <a:t>La </a:t>
            </a:r>
            <a:r>
              <a:rPr lang="es-ES" b="1" dirty="0"/>
              <a:t>fórmula típica del LCOE</a:t>
            </a:r>
            <a:r>
              <a:rPr lang="es-ES" dirty="0"/>
              <a:t> proporciona un análisis detallado y sensible al tiempo, ideal para evaluaciones financieras exhaustivas. La </a:t>
            </a:r>
            <a:r>
              <a:rPr lang="es-ES" b="1" dirty="0"/>
              <a:t>fórmula del LCOE de NREL</a:t>
            </a:r>
            <a:r>
              <a:rPr lang="es-ES" dirty="0"/>
              <a:t> simplifica el cálculo, enfocándose en costos anualizados y ofreciendo una comparación más directa entre diferentes proyectos energéticos, particularmente en el contexto de energías renovables.</a:t>
            </a:r>
            <a:endParaRPr dirty="0"/>
          </a:p>
        </p:txBody>
      </p:sp>
      <p:sp>
        <p:nvSpPr>
          <p:cNvPr id="442" name="Google Shape;442;p39:notes">
            <a:extLst>
              <a:ext uri="{FF2B5EF4-FFF2-40B4-BE49-F238E27FC236}">
                <a16:creationId xmlns:a16="http://schemas.microsoft.com/office/drawing/2014/main" id="{00DE0A32-ECD0-E061-9D28-1F8D95187433}"/>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05756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a:extLst>
            <a:ext uri="{FF2B5EF4-FFF2-40B4-BE49-F238E27FC236}">
              <a16:creationId xmlns:a16="http://schemas.microsoft.com/office/drawing/2014/main" id="{459C08A9-DD30-F1A9-A264-5839B1F4C54F}"/>
            </a:ext>
          </a:extLst>
        </p:cNvPr>
        <p:cNvGrpSpPr/>
        <p:nvPr/>
      </p:nvGrpSpPr>
      <p:grpSpPr>
        <a:xfrm>
          <a:off x="0" y="0"/>
          <a:ext cx="0" cy="0"/>
          <a:chOff x="0" y="0"/>
          <a:chExt cx="0" cy="0"/>
        </a:xfrm>
      </p:grpSpPr>
      <p:sp>
        <p:nvSpPr>
          <p:cNvPr id="441" name="Google Shape;441;p39:notes">
            <a:extLst>
              <a:ext uri="{FF2B5EF4-FFF2-40B4-BE49-F238E27FC236}">
                <a16:creationId xmlns:a16="http://schemas.microsoft.com/office/drawing/2014/main" id="{D6221A66-D1C8-4C52-E9C6-3AFC2225A1C9}"/>
              </a:ext>
            </a:extLst>
          </p:cNvPr>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dirty="0"/>
              <a:t>La </a:t>
            </a:r>
            <a:r>
              <a:rPr lang="es-ES" b="1" dirty="0"/>
              <a:t>fórmula típica del LCOE</a:t>
            </a:r>
            <a:r>
              <a:rPr lang="es-ES" dirty="0"/>
              <a:t> proporciona un análisis detallado y sensible al tiempo, ideal para evaluaciones financieras exhaustivas. La </a:t>
            </a:r>
            <a:r>
              <a:rPr lang="es-ES" b="1" dirty="0"/>
              <a:t>fórmula del LCOE de NREL</a:t>
            </a:r>
            <a:r>
              <a:rPr lang="es-ES" dirty="0"/>
              <a:t> simplifica el cálculo, enfocándose en costos anualizados y ofreciendo una comparación más directa entre diferentes proyectos energéticos, particularmente en el contexto de energías renovables.</a:t>
            </a:r>
            <a:endParaRPr dirty="0"/>
          </a:p>
        </p:txBody>
      </p:sp>
      <p:sp>
        <p:nvSpPr>
          <p:cNvPr id="442" name="Google Shape;442;p39:notes">
            <a:extLst>
              <a:ext uri="{FF2B5EF4-FFF2-40B4-BE49-F238E27FC236}">
                <a16:creationId xmlns:a16="http://schemas.microsoft.com/office/drawing/2014/main" id="{6B99B421-99F8-CF9E-4CB2-38AC6E1A9D2F}"/>
              </a:ext>
            </a:extLst>
          </p:cNvPr>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79393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40: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40: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1: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p41: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42: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p42: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43: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43: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4: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44: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5: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5: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6: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46: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47: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47: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48: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48: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49: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p49: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50: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50: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51: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9" name="Google Shape;579;p51: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52: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s-ES" sz="1200" dirty="0">
                <a:solidFill>
                  <a:schemeClr val="dk1"/>
                </a:solidFill>
                <a:latin typeface="Times New Roman"/>
                <a:cs typeface="Times New Roman"/>
              </a:rPr>
              <a:t>Por primera vez se comprometen todos los países a preparar, comunicar y mantener sus contribuciones a nivel nacional que deben incluir compromisos de reducción de emisiones. </a:t>
            </a:r>
          </a:p>
          <a:p>
            <a:pPr marL="0" lvl="0" indent="0" algn="l" rtl="0">
              <a:spcBef>
                <a:spcPts val="0"/>
              </a:spcBef>
              <a:spcAft>
                <a:spcPts val="0"/>
              </a:spcAft>
              <a:buNone/>
            </a:pPr>
            <a:endParaRPr dirty="0"/>
          </a:p>
        </p:txBody>
      </p:sp>
      <p:sp>
        <p:nvSpPr>
          <p:cNvPr id="586" name="Google Shape;586;p52: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6881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53: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4" name="Google Shape;594;p53: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54: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4" name="Google Shape;604;p54: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55: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55: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56: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3" name="Google Shape;623;p56: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57: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2" name="Google Shape;632;p57: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58: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2" name="Google Shape;642;p58: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58: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2" name="Google Shape;642;p58: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22296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9:notes"/>
          <p:cNvSpPr txBox="1">
            <a:spLocks noGrp="1"/>
          </p:cNvSpPr>
          <p:nvPr>
            <p:ph type="body" idx="1"/>
          </p:nvPr>
        </p:nvSpPr>
        <p:spPr>
          <a:xfrm>
            <a:off x="679450" y="4767263"/>
            <a:ext cx="54356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39:notes"/>
          <p:cNvSpPr>
            <a:spLocks noGrp="1" noRot="1" noChangeAspect="1"/>
          </p:cNvSpPr>
          <p:nvPr>
            <p:ph type="sldImg" idx="2"/>
          </p:nvPr>
        </p:nvSpPr>
        <p:spPr>
          <a:xfrm>
            <a:off x="1168400" y="1238250"/>
            <a:ext cx="4457700"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reserve="1">
  <p:cSld name="Diapositiva de título">
    <p:spTree>
      <p:nvGrpSpPr>
        <p:cNvPr id="1" name="Shape 16"/>
        <p:cNvGrpSpPr/>
        <p:nvPr/>
      </p:nvGrpSpPr>
      <p:grpSpPr>
        <a:xfrm>
          <a:off x="0" y="0"/>
          <a:ext cx="0" cy="0"/>
          <a:chOff x="0" y="0"/>
          <a:chExt cx="0" cy="0"/>
        </a:xfrm>
      </p:grpSpPr>
      <p:sp>
        <p:nvSpPr>
          <p:cNvPr id="17" name="Google Shape;17;p61"/>
          <p:cNvSpPr txBox="1">
            <a:spLocks noGrp="1"/>
          </p:cNvSpPr>
          <p:nvPr>
            <p:ph type="ctrTitle"/>
          </p:nvPr>
        </p:nvSpPr>
        <p:spPr>
          <a:xfrm>
            <a:off x="1752721" y="1885810"/>
            <a:ext cx="5638558" cy="14700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3200" b="0" i="0" u="none" strike="noStrike" cap="none">
                <a:solidFill>
                  <a:srgbClr val="000074"/>
                </a:solidFill>
                <a:latin typeface="Arial"/>
                <a:ea typeface="Arial"/>
                <a:cs typeface="Arial"/>
                <a:sym typeface="Arial"/>
              </a:defRPr>
            </a:lvl1pPr>
            <a:lvl2pPr marR="0" lvl="1" algn="ctr" rtl="0">
              <a:spcBef>
                <a:spcPts val="0"/>
              </a:spcBef>
              <a:spcAft>
                <a:spcPts val="0"/>
              </a:spcAft>
              <a:buSzPts val="1400"/>
              <a:buNone/>
              <a:defRPr sz="2400" b="0" i="0" u="none" strike="noStrike" cap="none">
                <a:solidFill>
                  <a:srgbClr val="000074"/>
                </a:solidFill>
                <a:latin typeface="Arial"/>
                <a:ea typeface="Arial"/>
                <a:cs typeface="Arial"/>
                <a:sym typeface="Arial"/>
              </a:defRPr>
            </a:lvl2pPr>
            <a:lvl3pPr marR="0" lvl="2" algn="ctr" rtl="0">
              <a:spcBef>
                <a:spcPts val="0"/>
              </a:spcBef>
              <a:spcAft>
                <a:spcPts val="0"/>
              </a:spcAft>
              <a:buSzPts val="1400"/>
              <a:buNone/>
              <a:defRPr sz="2400" b="0" i="0" u="none" strike="noStrike" cap="none">
                <a:solidFill>
                  <a:srgbClr val="000074"/>
                </a:solidFill>
                <a:latin typeface="Arial"/>
                <a:ea typeface="Arial"/>
                <a:cs typeface="Arial"/>
                <a:sym typeface="Arial"/>
              </a:defRPr>
            </a:lvl3pPr>
            <a:lvl4pPr marR="0" lvl="3" algn="ctr" rtl="0">
              <a:spcBef>
                <a:spcPts val="0"/>
              </a:spcBef>
              <a:spcAft>
                <a:spcPts val="0"/>
              </a:spcAft>
              <a:buSzPts val="1400"/>
              <a:buNone/>
              <a:defRPr sz="2400" b="0" i="0" u="none" strike="noStrike" cap="none">
                <a:solidFill>
                  <a:srgbClr val="000074"/>
                </a:solidFill>
                <a:latin typeface="Arial"/>
                <a:ea typeface="Arial"/>
                <a:cs typeface="Arial"/>
                <a:sym typeface="Arial"/>
              </a:defRPr>
            </a:lvl4pPr>
            <a:lvl5pPr marR="0" lvl="4" algn="ctr" rtl="0">
              <a:spcBef>
                <a:spcPts val="0"/>
              </a:spcBef>
              <a:spcAft>
                <a:spcPts val="0"/>
              </a:spcAft>
              <a:buSzPts val="1400"/>
              <a:buNone/>
              <a:defRPr sz="2400" b="0" i="0" u="none" strike="noStrike" cap="none">
                <a:solidFill>
                  <a:srgbClr val="000074"/>
                </a:solidFill>
                <a:latin typeface="Arial"/>
                <a:ea typeface="Arial"/>
                <a:cs typeface="Arial"/>
                <a:sym typeface="Arial"/>
              </a:defRPr>
            </a:lvl5pPr>
            <a:lvl6pPr marR="0" lvl="5" algn="ctr" rtl="0">
              <a:spcBef>
                <a:spcPts val="0"/>
              </a:spcBef>
              <a:spcAft>
                <a:spcPts val="0"/>
              </a:spcAft>
              <a:buSzPts val="1400"/>
              <a:buNone/>
              <a:defRPr sz="2400" b="0" i="0" u="none" strike="noStrike" cap="none">
                <a:solidFill>
                  <a:srgbClr val="000074"/>
                </a:solidFill>
                <a:latin typeface="Arial"/>
                <a:ea typeface="Arial"/>
                <a:cs typeface="Arial"/>
                <a:sym typeface="Arial"/>
              </a:defRPr>
            </a:lvl6pPr>
            <a:lvl7pPr marR="0" lvl="6" algn="ctr" rtl="0">
              <a:spcBef>
                <a:spcPts val="0"/>
              </a:spcBef>
              <a:spcAft>
                <a:spcPts val="0"/>
              </a:spcAft>
              <a:buSzPts val="1400"/>
              <a:buNone/>
              <a:defRPr sz="2400" b="0" i="0" u="none" strike="noStrike" cap="none">
                <a:solidFill>
                  <a:srgbClr val="000074"/>
                </a:solidFill>
                <a:latin typeface="Arial"/>
                <a:ea typeface="Arial"/>
                <a:cs typeface="Arial"/>
                <a:sym typeface="Arial"/>
              </a:defRPr>
            </a:lvl7pPr>
            <a:lvl8pPr marR="0" lvl="7" algn="ctr" rtl="0">
              <a:spcBef>
                <a:spcPts val="0"/>
              </a:spcBef>
              <a:spcAft>
                <a:spcPts val="0"/>
              </a:spcAft>
              <a:buSzPts val="1400"/>
              <a:buNone/>
              <a:defRPr sz="2400" b="0" i="0" u="none" strike="noStrike" cap="none">
                <a:solidFill>
                  <a:srgbClr val="000074"/>
                </a:solidFill>
                <a:latin typeface="Arial"/>
                <a:ea typeface="Arial"/>
                <a:cs typeface="Arial"/>
                <a:sym typeface="Arial"/>
              </a:defRPr>
            </a:lvl8pPr>
            <a:lvl9pPr marR="0" lvl="8" algn="ctr" rtl="0">
              <a:spcBef>
                <a:spcPts val="0"/>
              </a:spcBef>
              <a:spcAft>
                <a:spcPts val="0"/>
              </a:spcAft>
              <a:buSzPts val="1400"/>
              <a:buNone/>
              <a:defRPr sz="2400" b="0" i="0" u="none" strike="noStrike" cap="none">
                <a:solidFill>
                  <a:srgbClr val="000074"/>
                </a:solidFill>
                <a:latin typeface="Arial"/>
                <a:ea typeface="Arial"/>
                <a:cs typeface="Arial"/>
                <a:sym typeface="Arial"/>
              </a:defRPr>
            </a:lvl9pPr>
          </a:lstStyle>
          <a:p>
            <a:endParaRPr/>
          </a:p>
        </p:txBody>
      </p:sp>
    </p:spTree>
    <p:extLst>
      <p:ext uri="{BB962C8B-B14F-4D97-AF65-F5344CB8AC3E}">
        <p14:creationId xmlns:p14="http://schemas.microsoft.com/office/powerpoint/2010/main" val="573603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preserve="1">
  <p:cSld name="Título y objetos">
    <p:spTree>
      <p:nvGrpSpPr>
        <p:cNvPr id="1" name="Shape 18"/>
        <p:cNvGrpSpPr/>
        <p:nvPr/>
      </p:nvGrpSpPr>
      <p:grpSpPr>
        <a:xfrm>
          <a:off x="0" y="0"/>
          <a:ext cx="0" cy="0"/>
          <a:chOff x="0" y="0"/>
          <a:chExt cx="0" cy="0"/>
        </a:xfrm>
      </p:grpSpPr>
      <p:sp>
        <p:nvSpPr>
          <p:cNvPr id="19" name="Google Shape;19;p62"/>
          <p:cNvSpPr txBox="1">
            <a:spLocks noGrp="1"/>
          </p:cNvSpPr>
          <p:nvPr>
            <p:ph type="body" idx="1"/>
          </p:nvPr>
        </p:nvSpPr>
        <p:spPr>
          <a:xfrm>
            <a:off x="914400" y="620688"/>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20" name="Google Shape;20;p62"/>
          <p:cNvSpPr txBox="1">
            <a:spLocks noGrp="1"/>
          </p:cNvSpPr>
          <p:nvPr>
            <p:ph type="sldNum" idx="12"/>
          </p:nvPr>
        </p:nvSpPr>
        <p:spPr>
          <a:xfrm>
            <a:off x="0" y="6553200"/>
            <a:ext cx="504825" cy="304800"/>
          </a:xfrm>
          <a:prstGeom prst="rect">
            <a:avLst/>
          </a:prstGeom>
          <a:noFill/>
          <a:ln>
            <a:noFill/>
          </a:ln>
        </p:spPr>
        <p:txBody>
          <a:bodyPr spcFirstLastPara="1" wrap="square" lIns="91425" tIns="45700" rIns="91425" bIns="45700" anchor="t" anchorCtr="0">
            <a:noAutofit/>
          </a:bodyPr>
          <a:lstStyle>
            <a:lvl1pPr marL="0" marR="0" lvl="0" indent="0" algn="ctr">
              <a:spcBef>
                <a:spcPts val="0"/>
              </a:spcBef>
              <a:spcAft>
                <a:spcPts val="0"/>
              </a:spcAft>
              <a:buNone/>
              <a:defRPr sz="1200" b="1" i="0" u="none" strike="noStrike" cap="none">
                <a:solidFill>
                  <a:schemeClr val="lt1"/>
                </a:solidFill>
                <a:latin typeface="Arial"/>
                <a:ea typeface="Arial"/>
                <a:cs typeface="Arial"/>
                <a:sym typeface="Arial"/>
              </a:defRPr>
            </a:lvl1pPr>
            <a:lvl2pPr marL="0" marR="0" lvl="1" indent="0" algn="ctr">
              <a:spcBef>
                <a:spcPts val="0"/>
              </a:spcBef>
              <a:spcAft>
                <a:spcPts val="0"/>
              </a:spcAft>
              <a:buNone/>
              <a:defRPr sz="1200" b="1" i="0" u="none" strike="noStrike" cap="none">
                <a:solidFill>
                  <a:schemeClr val="lt1"/>
                </a:solidFill>
                <a:latin typeface="Arial"/>
                <a:ea typeface="Arial"/>
                <a:cs typeface="Arial"/>
                <a:sym typeface="Arial"/>
              </a:defRPr>
            </a:lvl2pPr>
            <a:lvl3pPr marL="0" marR="0" lvl="2" indent="0" algn="ctr">
              <a:spcBef>
                <a:spcPts val="0"/>
              </a:spcBef>
              <a:spcAft>
                <a:spcPts val="0"/>
              </a:spcAft>
              <a:buNone/>
              <a:defRPr sz="1200" b="1" i="0" u="none" strike="noStrike" cap="none">
                <a:solidFill>
                  <a:schemeClr val="lt1"/>
                </a:solidFill>
                <a:latin typeface="Arial"/>
                <a:ea typeface="Arial"/>
                <a:cs typeface="Arial"/>
                <a:sym typeface="Arial"/>
              </a:defRPr>
            </a:lvl3pPr>
            <a:lvl4pPr marL="0" marR="0" lvl="3" indent="0" algn="ctr">
              <a:spcBef>
                <a:spcPts val="0"/>
              </a:spcBef>
              <a:spcAft>
                <a:spcPts val="0"/>
              </a:spcAft>
              <a:buNone/>
              <a:defRPr sz="1200" b="1" i="0" u="none" strike="noStrike" cap="none">
                <a:solidFill>
                  <a:schemeClr val="lt1"/>
                </a:solidFill>
                <a:latin typeface="Arial"/>
                <a:ea typeface="Arial"/>
                <a:cs typeface="Arial"/>
                <a:sym typeface="Arial"/>
              </a:defRPr>
            </a:lvl4pPr>
            <a:lvl5pPr marL="0" marR="0" lvl="4" indent="0" algn="ctr">
              <a:spcBef>
                <a:spcPts val="0"/>
              </a:spcBef>
              <a:spcAft>
                <a:spcPts val="0"/>
              </a:spcAft>
              <a:buNone/>
              <a:defRPr sz="1200" b="1" i="0" u="none" strike="noStrike" cap="none">
                <a:solidFill>
                  <a:schemeClr val="lt1"/>
                </a:solidFill>
                <a:latin typeface="Arial"/>
                <a:ea typeface="Arial"/>
                <a:cs typeface="Arial"/>
                <a:sym typeface="Arial"/>
              </a:defRPr>
            </a:lvl5pPr>
            <a:lvl6pPr marL="0" marR="0" lvl="5" indent="0" algn="ctr">
              <a:spcBef>
                <a:spcPts val="0"/>
              </a:spcBef>
              <a:spcAft>
                <a:spcPts val="0"/>
              </a:spcAft>
              <a:buNone/>
              <a:defRPr sz="1200" b="1" i="0" u="none" strike="noStrike" cap="none">
                <a:solidFill>
                  <a:schemeClr val="lt1"/>
                </a:solidFill>
                <a:latin typeface="Arial"/>
                <a:ea typeface="Arial"/>
                <a:cs typeface="Arial"/>
                <a:sym typeface="Arial"/>
              </a:defRPr>
            </a:lvl6pPr>
            <a:lvl7pPr marL="0" marR="0" lvl="6" indent="0" algn="ctr">
              <a:spcBef>
                <a:spcPts val="0"/>
              </a:spcBef>
              <a:spcAft>
                <a:spcPts val="0"/>
              </a:spcAft>
              <a:buNone/>
              <a:defRPr sz="1200" b="1" i="0" u="none" strike="noStrike" cap="none">
                <a:solidFill>
                  <a:schemeClr val="lt1"/>
                </a:solidFill>
                <a:latin typeface="Arial"/>
                <a:ea typeface="Arial"/>
                <a:cs typeface="Arial"/>
                <a:sym typeface="Arial"/>
              </a:defRPr>
            </a:lvl7pPr>
            <a:lvl8pPr marL="0" marR="0" lvl="7" indent="0" algn="ctr">
              <a:spcBef>
                <a:spcPts val="0"/>
              </a:spcBef>
              <a:spcAft>
                <a:spcPts val="0"/>
              </a:spcAft>
              <a:buNone/>
              <a:defRPr sz="1200" b="1" i="0" u="none" strike="noStrike" cap="none">
                <a:solidFill>
                  <a:schemeClr val="lt1"/>
                </a:solidFill>
                <a:latin typeface="Arial"/>
                <a:ea typeface="Arial"/>
                <a:cs typeface="Arial"/>
                <a:sym typeface="Arial"/>
              </a:defRPr>
            </a:lvl8pPr>
            <a:lvl9pPr marL="0" marR="0" lvl="8" indent="0" algn="ctr">
              <a:spcBef>
                <a:spcPts val="0"/>
              </a:spcBef>
              <a:spcAft>
                <a:spcPts val="0"/>
              </a:spcAft>
              <a:buNone/>
              <a:defRPr sz="12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21" name="Google Shape;21;p62"/>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Tree>
    <p:extLst>
      <p:ext uri="{BB962C8B-B14F-4D97-AF65-F5344CB8AC3E}">
        <p14:creationId xmlns:p14="http://schemas.microsoft.com/office/powerpoint/2010/main" val="1063368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60"/>
          <p:cNvSpPr/>
          <p:nvPr/>
        </p:nvSpPr>
        <p:spPr>
          <a:xfrm>
            <a:off x="0" y="0"/>
            <a:ext cx="457200" cy="6858000"/>
          </a:xfrm>
          <a:prstGeom prst="rect">
            <a:avLst/>
          </a:prstGeom>
          <a:solidFill>
            <a:srgbClr val="000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b="0" i="0" u="none" strike="noStrike" cap="none">
              <a:solidFill>
                <a:schemeClr val="dk1"/>
              </a:solidFill>
              <a:latin typeface="Palatino Linotype"/>
              <a:ea typeface="Palatino Linotype"/>
              <a:cs typeface="Palatino Linotype"/>
              <a:sym typeface="Palatino Linotype"/>
            </a:endParaRPr>
          </a:p>
        </p:txBody>
      </p:sp>
      <p:cxnSp>
        <p:nvCxnSpPr>
          <p:cNvPr id="11" name="Google Shape;11;p60"/>
          <p:cNvCxnSpPr/>
          <p:nvPr/>
        </p:nvCxnSpPr>
        <p:spPr>
          <a:xfrm>
            <a:off x="900113" y="333375"/>
            <a:ext cx="7772400" cy="0"/>
          </a:xfrm>
          <a:prstGeom prst="straightConnector1">
            <a:avLst/>
          </a:prstGeom>
          <a:noFill/>
          <a:ln w="28575" cap="flat" cmpd="sng">
            <a:solidFill>
              <a:srgbClr val="000074"/>
            </a:solidFill>
            <a:prstDash val="solid"/>
            <a:round/>
            <a:headEnd type="none" w="med" len="med"/>
            <a:tailEnd type="none" w="med" len="med"/>
          </a:ln>
        </p:spPr>
      </p:cxnSp>
      <p:sp>
        <p:nvSpPr>
          <p:cNvPr id="12" name="Google Shape;12;p60"/>
          <p:cNvSpPr txBox="1">
            <a:spLocks noGrp="1"/>
          </p:cNvSpPr>
          <p:nvPr>
            <p:ph type="sldNum" idx="12"/>
          </p:nvPr>
        </p:nvSpPr>
        <p:spPr>
          <a:xfrm>
            <a:off x="0" y="6553200"/>
            <a:ext cx="504825" cy="304800"/>
          </a:xfrm>
          <a:prstGeom prst="rect">
            <a:avLst/>
          </a:prstGeom>
          <a:noFill/>
          <a:ln>
            <a:noFill/>
          </a:ln>
        </p:spPr>
        <p:txBody>
          <a:bodyPr spcFirstLastPara="1" wrap="square" lIns="91425" tIns="45700" rIns="91425" bIns="45700" anchor="t" anchorCtr="0">
            <a:noAutofit/>
          </a:bodyPr>
          <a:lstStyle>
            <a:lvl1pPr marL="0" marR="0" lvl="0" indent="0" algn="ctr" rtl="0">
              <a:spcBef>
                <a:spcPts val="0"/>
              </a:spcBef>
              <a:spcAft>
                <a:spcPts val="0"/>
              </a:spcAft>
              <a:buNone/>
              <a:defRPr sz="1200" b="1" i="0" u="none" strike="noStrike" cap="none">
                <a:solidFill>
                  <a:schemeClr val="lt1"/>
                </a:solidFill>
                <a:latin typeface="Arial"/>
                <a:ea typeface="Arial"/>
                <a:cs typeface="Arial"/>
                <a:sym typeface="Arial"/>
              </a:defRPr>
            </a:lvl1pPr>
            <a:lvl2pPr marL="0" marR="0" lvl="1" indent="0" algn="ctr" rtl="0">
              <a:spcBef>
                <a:spcPts val="0"/>
              </a:spcBef>
              <a:spcAft>
                <a:spcPts val="0"/>
              </a:spcAft>
              <a:buNone/>
              <a:defRPr sz="1200" b="1" i="0" u="none" strike="noStrike" cap="none">
                <a:solidFill>
                  <a:schemeClr val="lt1"/>
                </a:solidFill>
                <a:latin typeface="Arial"/>
                <a:ea typeface="Arial"/>
                <a:cs typeface="Arial"/>
                <a:sym typeface="Arial"/>
              </a:defRPr>
            </a:lvl2pPr>
            <a:lvl3pPr marL="0" marR="0" lvl="2" indent="0" algn="ctr" rtl="0">
              <a:spcBef>
                <a:spcPts val="0"/>
              </a:spcBef>
              <a:spcAft>
                <a:spcPts val="0"/>
              </a:spcAft>
              <a:buNone/>
              <a:defRPr sz="1200" b="1" i="0" u="none" strike="noStrike" cap="none">
                <a:solidFill>
                  <a:schemeClr val="lt1"/>
                </a:solidFill>
                <a:latin typeface="Arial"/>
                <a:ea typeface="Arial"/>
                <a:cs typeface="Arial"/>
                <a:sym typeface="Arial"/>
              </a:defRPr>
            </a:lvl3pPr>
            <a:lvl4pPr marL="0" marR="0" lvl="3" indent="0" algn="ctr" rtl="0">
              <a:spcBef>
                <a:spcPts val="0"/>
              </a:spcBef>
              <a:spcAft>
                <a:spcPts val="0"/>
              </a:spcAft>
              <a:buNone/>
              <a:defRPr sz="1200" b="1" i="0" u="none" strike="noStrike" cap="none">
                <a:solidFill>
                  <a:schemeClr val="lt1"/>
                </a:solidFill>
                <a:latin typeface="Arial"/>
                <a:ea typeface="Arial"/>
                <a:cs typeface="Arial"/>
                <a:sym typeface="Arial"/>
              </a:defRPr>
            </a:lvl4pPr>
            <a:lvl5pPr marL="0" marR="0" lvl="4" indent="0" algn="ctr" rtl="0">
              <a:spcBef>
                <a:spcPts val="0"/>
              </a:spcBef>
              <a:spcAft>
                <a:spcPts val="0"/>
              </a:spcAft>
              <a:buNone/>
              <a:defRPr sz="1200" b="1" i="0" u="none" strike="noStrike" cap="none">
                <a:solidFill>
                  <a:schemeClr val="lt1"/>
                </a:solidFill>
                <a:latin typeface="Arial"/>
                <a:ea typeface="Arial"/>
                <a:cs typeface="Arial"/>
                <a:sym typeface="Arial"/>
              </a:defRPr>
            </a:lvl5pPr>
            <a:lvl6pPr marL="0" marR="0" lvl="5" indent="0" algn="ctr" rtl="0">
              <a:spcBef>
                <a:spcPts val="0"/>
              </a:spcBef>
              <a:spcAft>
                <a:spcPts val="0"/>
              </a:spcAft>
              <a:buNone/>
              <a:defRPr sz="1200" b="1" i="0" u="none" strike="noStrike" cap="none">
                <a:solidFill>
                  <a:schemeClr val="lt1"/>
                </a:solidFill>
                <a:latin typeface="Arial"/>
                <a:ea typeface="Arial"/>
                <a:cs typeface="Arial"/>
                <a:sym typeface="Arial"/>
              </a:defRPr>
            </a:lvl6pPr>
            <a:lvl7pPr marL="0" marR="0" lvl="6" indent="0" algn="ctr" rtl="0">
              <a:spcBef>
                <a:spcPts val="0"/>
              </a:spcBef>
              <a:spcAft>
                <a:spcPts val="0"/>
              </a:spcAft>
              <a:buNone/>
              <a:defRPr sz="1200" b="1" i="0" u="none" strike="noStrike" cap="none">
                <a:solidFill>
                  <a:schemeClr val="lt1"/>
                </a:solidFill>
                <a:latin typeface="Arial"/>
                <a:ea typeface="Arial"/>
                <a:cs typeface="Arial"/>
                <a:sym typeface="Arial"/>
              </a:defRPr>
            </a:lvl7pPr>
            <a:lvl8pPr marL="0" marR="0" lvl="7" indent="0" algn="ctr" rtl="0">
              <a:spcBef>
                <a:spcPts val="0"/>
              </a:spcBef>
              <a:spcAft>
                <a:spcPts val="0"/>
              </a:spcAft>
              <a:buNone/>
              <a:defRPr sz="1200" b="1" i="0" u="none" strike="noStrike" cap="none">
                <a:solidFill>
                  <a:schemeClr val="lt1"/>
                </a:solidFill>
                <a:latin typeface="Arial"/>
                <a:ea typeface="Arial"/>
                <a:cs typeface="Arial"/>
                <a:sym typeface="Arial"/>
              </a:defRPr>
            </a:lvl8pPr>
            <a:lvl9pPr marL="0" marR="0" lvl="8" indent="0" algn="ctr" rtl="0">
              <a:spcBef>
                <a:spcPts val="0"/>
              </a:spcBef>
              <a:spcAft>
                <a:spcPts val="0"/>
              </a:spcAft>
              <a:buNone/>
              <a:defRPr sz="12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13" name="Google Shape;13;p60"/>
          <p:cNvSpPr txBox="1"/>
          <p:nvPr/>
        </p:nvSpPr>
        <p:spPr>
          <a:xfrm rot="-5400000">
            <a:off x="-331787" y="5247115"/>
            <a:ext cx="1119217"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200" b="1" i="0" u="none" strike="noStrike" cap="none">
                <a:solidFill>
                  <a:schemeClr val="lt1"/>
                </a:solidFill>
                <a:latin typeface="Arial"/>
                <a:ea typeface="Arial"/>
                <a:cs typeface="Arial"/>
                <a:sym typeface="Arial"/>
              </a:rPr>
              <a:t>Introducción</a:t>
            </a:r>
            <a:endParaRPr/>
          </a:p>
        </p:txBody>
      </p:sp>
      <p:sp>
        <p:nvSpPr>
          <p:cNvPr id="14" name="Google Shape;14;p60"/>
          <p:cNvSpPr txBox="1"/>
          <p:nvPr/>
        </p:nvSpPr>
        <p:spPr>
          <a:xfrm rot="-5400000">
            <a:off x="-1119254" y="2733374"/>
            <a:ext cx="2688558"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100" b="1" i="0" u="none" strike="noStrike" cap="none">
                <a:solidFill>
                  <a:schemeClr val="lt1"/>
                </a:solidFill>
                <a:latin typeface="Arial"/>
                <a:ea typeface="Arial"/>
                <a:cs typeface="Arial"/>
                <a:sym typeface="Arial"/>
              </a:rPr>
              <a:t>Fuentes de Energía</a:t>
            </a:r>
            <a:endParaRPr/>
          </a:p>
          <a:p>
            <a:pPr marL="0" marR="0" lvl="0" indent="0" algn="ctr" rtl="0">
              <a:spcBef>
                <a:spcPts val="0"/>
              </a:spcBef>
              <a:spcAft>
                <a:spcPts val="0"/>
              </a:spcAft>
              <a:buNone/>
            </a:pPr>
            <a:r>
              <a:rPr lang="es-ES" sz="1100" b="1" i="0" u="none" strike="noStrike" cap="none">
                <a:solidFill>
                  <a:schemeClr val="lt1"/>
                </a:solidFill>
                <a:latin typeface="Arial"/>
                <a:ea typeface="Arial"/>
                <a:cs typeface="Arial"/>
                <a:sym typeface="Arial"/>
              </a:rPr>
              <a:t>Dpto. Ingeniería Térmica y de Fluidos</a:t>
            </a:r>
            <a:endParaRPr/>
          </a:p>
        </p:txBody>
      </p:sp>
      <p:pic>
        <p:nvPicPr>
          <p:cNvPr id="15" name="Google Shape;15;p60" descr="Imagen que contiene dibujo&#10;&#10;Descripción generada automáticamente"/>
          <p:cNvPicPr preferRelativeResize="0"/>
          <p:nvPr/>
        </p:nvPicPr>
        <p:blipFill rotWithShape="1">
          <a:blip r:embed="rId4">
            <a:alphaModFix/>
          </a:blip>
          <a:srcRect/>
          <a:stretch/>
        </p:blipFill>
        <p:spPr>
          <a:xfrm rot="-5400000">
            <a:off x="-475027" y="433490"/>
            <a:ext cx="1400102" cy="450048"/>
          </a:xfrm>
          <a:prstGeom prst="rect">
            <a:avLst/>
          </a:prstGeom>
          <a:noFill/>
          <a:ln>
            <a:noFill/>
          </a:ln>
        </p:spPr>
      </p:pic>
    </p:spTree>
    <p:extLst>
      <p:ext uri="{BB962C8B-B14F-4D97-AF65-F5344CB8AC3E}">
        <p14:creationId xmlns:p14="http://schemas.microsoft.com/office/powerpoint/2010/main" val="2788163692"/>
      </p:ext>
    </p:extLst>
  </p:cSld>
  <p:clrMap bg1="lt1" tx1="dk1" bg2="dk2" tx2="lt2" accent1="accent1" accent2="accent2" accent3="accent3" accent4="accent4" accent5="accent5" accent6="accent6" hlink="hlink" folHlink="folHlink"/>
  <p:sldLayoutIdLst>
    <p:sldLayoutId id="2147483770" r:id="rId1"/>
    <p:sldLayoutId id="2147483771"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xml"/><Relationship Id="rId7" Type="http://schemas.openxmlformats.org/officeDocument/2006/relationships/image" Target="../media/image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5.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chart" Target="../charts/chart2.xml"/><Relationship Id="rId4" Type="http://schemas.openxmlformats.org/officeDocument/2006/relationships/chart" Target="../charts/char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ec.europa.eu/eurostat/cache/sankey/energy/sankey.html?geos=ES&amp;year=2021&amp;unit=KTOE&amp;fuels=TOTAL&amp;highlight=_&amp;nodeDisagg=0101000000000&amp;flowDisagg=false&amp;translateX=0&amp;translateY=0&amp;scale=1&amp;language=EN"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3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chart" Target="../charts/chart10.xml"/></Relationships>
</file>

<file path=ppt/slides/_rels/slide3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2.xml"/><Relationship Id="rId7" Type="http://schemas.openxmlformats.org/officeDocument/2006/relationships/image" Target="../media/image17.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21.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25.png"/><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chart" Target="../charts/char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26" name="Google Shape;26;p1"/>
          <p:cNvSpPr txBox="1">
            <a:spLocks noGrp="1"/>
          </p:cNvSpPr>
          <p:nvPr>
            <p:ph type="ctrTitle"/>
          </p:nvPr>
        </p:nvSpPr>
        <p:spPr>
          <a:xfrm>
            <a:off x="1822295" y="1120980"/>
            <a:ext cx="5638558" cy="14700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s-ES" noProof="0" dirty="0"/>
              <a:t>INTRODUCCIÓN</a:t>
            </a:r>
          </a:p>
        </p:txBody>
      </p:sp>
      <p:pic>
        <p:nvPicPr>
          <p:cNvPr id="2" name="Imagen 1">
            <a:extLst>
              <a:ext uri="{FF2B5EF4-FFF2-40B4-BE49-F238E27FC236}">
                <a16:creationId xmlns:a16="http://schemas.microsoft.com/office/drawing/2014/main" id="{3CBE06B5-5240-C30B-CA2C-4095C93B7DEE}"/>
              </a:ext>
            </a:extLst>
          </p:cNvPr>
          <p:cNvPicPr>
            <a:picLocks noChangeAspect="1"/>
          </p:cNvPicPr>
          <p:nvPr/>
        </p:nvPicPr>
        <p:blipFill>
          <a:blip r:embed="rId3"/>
          <a:srcRect l="31041"/>
          <a:stretch>
            <a:fillRect/>
          </a:stretch>
        </p:blipFill>
        <p:spPr>
          <a:xfrm>
            <a:off x="2585917" y="2357233"/>
            <a:ext cx="4735788" cy="38195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
        <p:cNvGrpSpPr/>
        <p:nvPr/>
      </p:nvGrpSpPr>
      <p:grpSpPr>
        <a:xfrm>
          <a:off x="0" y="0"/>
          <a:ext cx="0" cy="0"/>
          <a:chOff x="0" y="0"/>
          <a:chExt cx="0" cy="0"/>
        </a:xfrm>
      </p:grpSpPr>
      <p:sp>
        <p:nvSpPr>
          <p:cNvPr id="31" name="Google Shape;31;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3200"/>
              <a:buFont typeface="Times New Roman"/>
              <a:buNone/>
            </a:pPr>
            <a:r>
              <a:rPr lang="es-ES" noProof="0" dirty="0"/>
              <a:t>Conceptos y definiciones</a:t>
            </a:r>
          </a:p>
          <a:p>
            <a:pPr marL="0" lvl="0" indent="0" algn="just" rtl="0">
              <a:lnSpc>
                <a:spcPct val="150000"/>
              </a:lnSpc>
              <a:spcBef>
                <a:spcPts val="600"/>
              </a:spcBef>
              <a:spcAft>
                <a:spcPts val="0"/>
              </a:spcAft>
              <a:buClr>
                <a:schemeClr val="dk1"/>
              </a:buClr>
              <a:buSzPts val="3200"/>
              <a:buFont typeface="Times New Roman"/>
              <a:buNone/>
            </a:pPr>
            <a:r>
              <a:rPr lang="es-ES" noProof="0" dirty="0"/>
              <a:t>Balance energético</a:t>
            </a:r>
          </a:p>
          <a:p>
            <a:pPr marL="0" lvl="0" indent="0" algn="just" rtl="0">
              <a:lnSpc>
                <a:spcPct val="150000"/>
              </a:lnSpc>
              <a:spcBef>
                <a:spcPts val="600"/>
              </a:spcBef>
              <a:spcAft>
                <a:spcPts val="0"/>
              </a:spcAft>
              <a:buClr>
                <a:schemeClr val="dk1"/>
              </a:buClr>
              <a:buSzPts val="3200"/>
              <a:buFont typeface="Times New Roman"/>
              <a:buNone/>
            </a:pPr>
            <a:r>
              <a:rPr lang="es-ES" noProof="0" dirty="0"/>
              <a:t>Uso de la energía</a:t>
            </a:r>
          </a:p>
          <a:p>
            <a:pPr marL="0" lvl="0" indent="0" algn="just" rtl="0">
              <a:lnSpc>
                <a:spcPct val="150000"/>
              </a:lnSpc>
              <a:spcBef>
                <a:spcPts val="600"/>
              </a:spcBef>
              <a:spcAft>
                <a:spcPts val="0"/>
              </a:spcAft>
              <a:buClr>
                <a:schemeClr val="dk1"/>
              </a:buClr>
              <a:buSzPts val="3200"/>
              <a:buFont typeface="Times New Roman"/>
              <a:buNone/>
            </a:pPr>
            <a:r>
              <a:rPr lang="es-ES" noProof="0" dirty="0"/>
              <a:t>Emisiones de GEI</a:t>
            </a:r>
            <a:endParaRPr lang="es-ES" baseline="-25000" noProof="0" dirty="0"/>
          </a:p>
          <a:p>
            <a:pPr marL="0" lvl="0" indent="0" algn="just" rtl="0">
              <a:lnSpc>
                <a:spcPct val="150000"/>
              </a:lnSpc>
              <a:spcBef>
                <a:spcPts val="600"/>
              </a:spcBef>
              <a:spcAft>
                <a:spcPts val="0"/>
              </a:spcAft>
              <a:buClr>
                <a:schemeClr val="dk1"/>
              </a:buClr>
              <a:buSzPts val="3200"/>
              <a:buFont typeface="Times New Roman"/>
              <a:buNone/>
            </a:pPr>
            <a:r>
              <a:rPr lang="es-ES" noProof="0" dirty="0"/>
              <a:t>Escenarios</a:t>
            </a:r>
          </a:p>
          <a:p>
            <a:pPr marL="0" lvl="0" indent="0" algn="just" rtl="0">
              <a:lnSpc>
                <a:spcPct val="150000"/>
              </a:lnSpc>
              <a:spcBef>
                <a:spcPts val="600"/>
              </a:spcBef>
              <a:spcAft>
                <a:spcPts val="0"/>
              </a:spcAft>
              <a:buClr>
                <a:schemeClr val="dk1"/>
              </a:buClr>
              <a:buSzPts val="3200"/>
              <a:buFont typeface="Times New Roman"/>
              <a:buNone/>
            </a:pPr>
            <a:endParaRPr lang="es-ES" noProof="0" dirty="0"/>
          </a:p>
        </p:txBody>
      </p:sp>
      <p:sp>
        <p:nvSpPr>
          <p:cNvPr id="32" name="Google Shape;32;p2"/>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a:t>
            </a:fld>
            <a:endParaRPr lang="es-ES" noProof="0" dirty="0"/>
          </a:p>
        </p:txBody>
      </p:sp>
      <p:sp>
        <p:nvSpPr>
          <p:cNvPr id="33" name="Google Shape;33;p2"/>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Índice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3"/>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3200"/>
              <a:buFont typeface="Times New Roman"/>
              <a:buNone/>
            </a:pPr>
            <a:r>
              <a:rPr lang="es-ES" b="1" noProof="0" dirty="0"/>
              <a:t>Conceptos y definiciones</a:t>
            </a:r>
            <a:endParaRPr lang="es-ES" noProof="0" dirty="0"/>
          </a:p>
          <a:p>
            <a:pPr marL="0" lvl="0" indent="0" algn="just" rtl="0">
              <a:lnSpc>
                <a:spcPct val="150000"/>
              </a:lnSpc>
              <a:spcBef>
                <a:spcPts val="600"/>
              </a:spcBef>
              <a:spcAft>
                <a:spcPts val="0"/>
              </a:spcAft>
              <a:buClr>
                <a:schemeClr val="dk1"/>
              </a:buClr>
              <a:buSzPts val="3200"/>
              <a:buFont typeface="Times New Roman"/>
              <a:buNone/>
            </a:pPr>
            <a:r>
              <a:rPr lang="es-ES" noProof="0" dirty="0"/>
              <a:t>Balance energético</a:t>
            </a:r>
          </a:p>
          <a:p>
            <a:pPr marL="0" lvl="0" indent="0" algn="just" rtl="0">
              <a:lnSpc>
                <a:spcPct val="150000"/>
              </a:lnSpc>
              <a:spcBef>
                <a:spcPts val="600"/>
              </a:spcBef>
              <a:spcAft>
                <a:spcPts val="0"/>
              </a:spcAft>
              <a:buClr>
                <a:schemeClr val="dk1"/>
              </a:buClr>
              <a:buSzPts val="3200"/>
              <a:buFont typeface="Times New Roman"/>
              <a:buNone/>
            </a:pPr>
            <a:r>
              <a:rPr lang="es-ES" noProof="0" dirty="0"/>
              <a:t>Uso de la energía</a:t>
            </a:r>
          </a:p>
          <a:p>
            <a:pPr marL="0" lvl="0" indent="0" algn="just" rtl="0">
              <a:lnSpc>
                <a:spcPct val="150000"/>
              </a:lnSpc>
              <a:spcBef>
                <a:spcPts val="600"/>
              </a:spcBef>
              <a:spcAft>
                <a:spcPts val="0"/>
              </a:spcAft>
              <a:buClr>
                <a:schemeClr val="dk1"/>
              </a:buClr>
              <a:buSzPts val="3200"/>
              <a:buFont typeface="Times New Roman"/>
              <a:buNone/>
            </a:pPr>
            <a:r>
              <a:rPr lang="es-ES" noProof="0" dirty="0"/>
              <a:t>Emisiones de GEI</a:t>
            </a:r>
            <a:endParaRPr lang="es-ES" baseline="-25000" noProof="0" dirty="0"/>
          </a:p>
          <a:p>
            <a:pPr marL="0" lvl="0" indent="0" algn="just" rtl="0">
              <a:lnSpc>
                <a:spcPct val="150000"/>
              </a:lnSpc>
              <a:spcBef>
                <a:spcPts val="600"/>
              </a:spcBef>
              <a:spcAft>
                <a:spcPts val="0"/>
              </a:spcAft>
              <a:buClr>
                <a:schemeClr val="dk1"/>
              </a:buClr>
              <a:buSzPts val="3200"/>
              <a:buFont typeface="Times New Roman"/>
              <a:buNone/>
            </a:pPr>
            <a:r>
              <a:rPr lang="es-ES" noProof="0" dirty="0"/>
              <a:t>Escenarios</a:t>
            </a:r>
          </a:p>
          <a:p>
            <a:pPr marL="0" lvl="0" indent="0" algn="just" rtl="0">
              <a:lnSpc>
                <a:spcPct val="150000"/>
              </a:lnSpc>
              <a:spcBef>
                <a:spcPts val="600"/>
              </a:spcBef>
              <a:spcAft>
                <a:spcPts val="0"/>
              </a:spcAft>
              <a:buClr>
                <a:schemeClr val="dk1"/>
              </a:buClr>
              <a:buSzPts val="3200"/>
              <a:buFont typeface="Times New Roman"/>
              <a:buNone/>
            </a:pPr>
            <a:endParaRPr lang="es-ES" noProof="0" dirty="0"/>
          </a:p>
        </p:txBody>
      </p:sp>
      <p:sp>
        <p:nvSpPr>
          <p:cNvPr id="39" name="Google Shape;39;p3"/>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a:t>
            </a:fld>
            <a:endParaRPr lang="es-ES" noProof="0" dirty="0"/>
          </a:p>
        </p:txBody>
      </p:sp>
      <p:sp>
        <p:nvSpPr>
          <p:cNvPr id="40" name="Google Shape;40;p3"/>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Índice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5"/>
          <p:cNvSpPr txBox="1">
            <a:spLocks noGrp="1"/>
          </p:cNvSpPr>
          <p:nvPr>
            <p:ph type="sldNum" idx="12"/>
          </p:nvPr>
        </p:nvSpPr>
        <p:spPr>
          <a:noFill/>
          <a:ln>
            <a:noFill/>
          </a:ln>
        </p:spPr>
        <p:txBody>
          <a:bodyPr spcFirstLastPara="1" wrap="square" lIns="91425" tIns="45700" rIns="91425" bIns="45700" anchor="t" anchorCtr="0">
            <a:noAutofit/>
          </a:bodyPr>
          <a:lstStyle/>
          <a:p>
            <a:pPr lvl="0"/>
            <a:fld id="{00000000-1234-1234-1234-123412341234}" type="slidenum">
              <a:rPr lang="es-ES" noProof="0"/>
              <a:pPr lvl="0"/>
              <a:t>4</a:t>
            </a:fld>
            <a:endParaRPr lang="es-ES" noProof="0" dirty="0"/>
          </a:p>
        </p:txBody>
      </p:sp>
      <p:sp>
        <p:nvSpPr>
          <p:cNvPr id="54" name="Google Shape;54;p5"/>
          <p:cNvSpPr txBox="1"/>
          <p:nvPr/>
        </p:nvSpPr>
        <p:spPr>
          <a:xfrm>
            <a:off x="718344" y="586796"/>
            <a:ext cx="8210550"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La energía ni se crea ni se destruye, se transforma para ser utilizada de distintos modos, tales como la producción de calor y la generación de trabajo. </a:t>
            </a:r>
            <a:endParaRPr lang="es-ES" sz="2000" noProof="0" dirty="0"/>
          </a:p>
        </p:txBody>
      </p:sp>
      <p:pic>
        <p:nvPicPr>
          <p:cNvPr id="55" name="Google Shape;55;p5" descr="\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garnet}{RGB}{0,14,120}&#10;\definecolor{CyF}{RGB}{178,223,219}&#10;&#10;\pagestyle{empty}&#10;&#10;&#10;\begin{document}&#10;&#10;$\Delta E = Q-W$&#10;&#10;\end{document}&#10;" title="IguanaTex Bitmap Display"/>
          <p:cNvPicPr preferRelativeResize="0"/>
          <p:nvPr/>
        </p:nvPicPr>
        <p:blipFill rotWithShape="1">
          <a:blip r:embed="rId3">
            <a:alphaModFix/>
          </a:blip>
          <a:srcRect/>
          <a:stretch/>
        </p:blipFill>
        <p:spPr>
          <a:xfrm>
            <a:off x="6615225" y="1629434"/>
            <a:ext cx="1814400" cy="275657"/>
          </a:xfrm>
          <a:prstGeom prst="rect">
            <a:avLst/>
          </a:prstGeom>
          <a:noFill/>
          <a:ln>
            <a:noFill/>
          </a:ln>
        </p:spPr>
      </p:pic>
      <p:sp>
        <p:nvSpPr>
          <p:cNvPr id="56" name="Google Shape;56;p5"/>
          <p:cNvSpPr txBox="1"/>
          <p:nvPr/>
        </p:nvSpPr>
        <p:spPr>
          <a:xfrm>
            <a:off x="714375" y="1548063"/>
            <a:ext cx="4439444"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1</a:t>
            </a:r>
            <a:r>
              <a:rPr lang="es-ES" sz="2000" b="0" i="0" u="none" strike="noStrike" cap="none" baseline="30000" noProof="0" dirty="0">
                <a:solidFill>
                  <a:schemeClr val="dk1"/>
                </a:solidFill>
                <a:latin typeface="Times New Roman"/>
                <a:ea typeface="Times New Roman"/>
                <a:cs typeface="Times New Roman"/>
                <a:sym typeface="Times New Roman"/>
              </a:rPr>
              <a:t>er</a:t>
            </a:r>
            <a:r>
              <a:rPr lang="es-ES" sz="2000" b="0" i="0" u="none" strike="noStrike" cap="none" noProof="0" dirty="0">
                <a:solidFill>
                  <a:schemeClr val="dk1"/>
                </a:solidFill>
                <a:latin typeface="Times New Roman"/>
                <a:ea typeface="Times New Roman"/>
                <a:cs typeface="Times New Roman"/>
                <a:sym typeface="Times New Roman"/>
              </a:rPr>
              <a:t> Principio de la Termodinámica</a:t>
            </a:r>
            <a:endParaRPr lang="es-ES" sz="2000" noProof="0" dirty="0"/>
          </a:p>
        </p:txBody>
      </p:sp>
      <p:pic>
        <p:nvPicPr>
          <p:cNvPr id="57" name="Google Shape;57;p5" descr="\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garnet}{RGB}{0,14,120}&#10;\definecolor{CyF}{RGB}{178,223,219}&#10;&#10;\pagestyle{empty}&#10;&#10;&#10;\begin{document}&#10;&#10;$E = mc^2$&#10;&#10;\end{document}&#10;" title="IguanaTex Bitmap Display"/>
          <p:cNvPicPr preferRelativeResize="0"/>
          <p:nvPr/>
        </p:nvPicPr>
        <p:blipFill rotWithShape="1">
          <a:blip r:embed="rId4">
            <a:alphaModFix/>
          </a:blip>
          <a:srcRect/>
          <a:stretch/>
        </p:blipFill>
        <p:spPr>
          <a:xfrm>
            <a:off x="6951838" y="2200108"/>
            <a:ext cx="1141173" cy="254951"/>
          </a:xfrm>
          <a:prstGeom prst="rect">
            <a:avLst/>
          </a:prstGeom>
          <a:noFill/>
          <a:ln>
            <a:noFill/>
          </a:ln>
        </p:spPr>
      </p:pic>
      <p:sp>
        <p:nvSpPr>
          <p:cNvPr id="58" name="Google Shape;58;p5"/>
          <p:cNvSpPr txBox="1"/>
          <p:nvPr/>
        </p:nvSpPr>
        <p:spPr>
          <a:xfrm>
            <a:off x="619125" y="2152049"/>
            <a:ext cx="5552775"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La energía también puede transformarse en materia</a:t>
            </a:r>
            <a:endParaRPr lang="es-ES" sz="2000" noProof="0" dirty="0"/>
          </a:p>
        </p:txBody>
      </p:sp>
      <p:sp>
        <p:nvSpPr>
          <p:cNvPr id="3" name="CuadroTexto 2">
            <a:extLst>
              <a:ext uri="{FF2B5EF4-FFF2-40B4-BE49-F238E27FC236}">
                <a16:creationId xmlns:a16="http://schemas.microsoft.com/office/drawing/2014/main" id="{E8CF60A2-8CB0-2660-A6F2-167311393CE8}"/>
              </a:ext>
            </a:extLst>
          </p:cNvPr>
          <p:cNvSpPr txBox="1"/>
          <p:nvPr/>
        </p:nvSpPr>
        <p:spPr>
          <a:xfrm>
            <a:off x="504825" y="2794723"/>
            <a:ext cx="6691463" cy="40006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lgn="ctr">
              <a:buNone/>
              <a:defRPr sz="2000">
                <a:solidFill>
                  <a:schemeClr val="dk1"/>
                </a:solidFill>
                <a:latin typeface="Times New Roman"/>
                <a:ea typeface="Times New Roman"/>
                <a:cs typeface="Times New Roman"/>
              </a:defRPr>
            </a:lvl1pPr>
          </a:lstStyle>
          <a:p>
            <a:r>
              <a:rPr lang="es-ES" noProof="0" dirty="0">
                <a:sym typeface="Times New Roman"/>
              </a:rPr>
              <a:t>La energía es indispensable para todos los aspectos de la vida:</a:t>
            </a:r>
            <a:endParaRPr lang="es-ES" noProof="0" dirty="0"/>
          </a:p>
        </p:txBody>
      </p:sp>
      <p:grpSp>
        <p:nvGrpSpPr>
          <p:cNvPr id="19" name="Grupo 18">
            <a:extLst>
              <a:ext uri="{FF2B5EF4-FFF2-40B4-BE49-F238E27FC236}">
                <a16:creationId xmlns:a16="http://schemas.microsoft.com/office/drawing/2014/main" id="{B538B737-5279-6E57-5841-6BE1B1857DF6}"/>
              </a:ext>
            </a:extLst>
          </p:cNvPr>
          <p:cNvGrpSpPr/>
          <p:nvPr/>
        </p:nvGrpSpPr>
        <p:grpSpPr>
          <a:xfrm>
            <a:off x="1652588" y="3336206"/>
            <a:ext cx="6040818" cy="2818335"/>
            <a:chOff x="1652588" y="3336206"/>
            <a:chExt cx="6040818" cy="2818335"/>
          </a:xfrm>
        </p:grpSpPr>
        <p:sp>
          <p:nvSpPr>
            <p:cNvPr id="7" name="Elipse 6">
              <a:extLst>
                <a:ext uri="{FF2B5EF4-FFF2-40B4-BE49-F238E27FC236}">
                  <a16:creationId xmlns:a16="http://schemas.microsoft.com/office/drawing/2014/main" id="{216970D0-6393-A6CC-4665-880B44789CD1}"/>
                </a:ext>
              </a:extLst>
            </p:cNvPr>
            <p:cNvSpPr/>
            <p:nvPr/>
          </p:nvSpPr>
          <p:spPr>
            <a:xfrm>
              <a:off x="3883508" y="4367964"/>
              <a:ext cx="1752600" cy="75481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800" noProof="0" dirty="0">
                  <a:solidFill>
                    <a:schemeClr val="tx1"/>
                  </a:solidFill>
                  <a:latin typeface="Times New Roman" panose="02020603050405020304" pitchFamily="18" charset="0"/>
                  <a:cs typeface="Times New Roman" panose="02020603050405020304" pitchFamily="18" charset="0"/>
                </a:rPr>
                <a:t>ENERGÍA</a:t>
              </a:r>
            </a:p>
          </p:txBody>
        </p:sp>
        <p:sp>
          <p:nvSpPr>
            <p:cNvPr id="8" name="Elipse 7">
              <a:extLst>
                <a:ext uri="{FF2B5EF4-FFF2-40B4-BE49-F238E27FC236}">
                  <a16:creationId xmlns:a16="http://schemas.microsoft.com/office/drawing/2014/main" id="{2F7D2CB9-BC4B-4A84-FBEA-62A5B344641E}"/>
                </a:ext>
              </a:extLst>
            </p:cNvPr>
            <p:cNvSpPr/>
            <p:nvPr/>
          </p:nvSpPr>
          <p:spPr>
            <a:xfrm>
              <a:off x="1683320" y="4990440"/>
              <a:ext cx="1752600" cy="754819"/>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s-ES" noProof="0" dirty="0">
                  <a:solidFill>
                    <a:schemeClr val="tx1"/>
                  </a:solidFill>
                  <a:latin typeface="Times New Roman" panose="02020603050405020304" pitchFamily="18" charset="0"/>
                  <a:cs typeface="Times New Roman" panose="02020603050405020304" pitchFamily="18" charset="0"/>
                </a:rPr>
                <a:t>Industria</a:t>
              </a:r>
            </a:p>
          </p:txBody>
        </p:sp>
        <p:sp>
          <p:nvSpPr>
            <p:cNvPr id="9" name="Elipse 8">
              <a:extLst>
                <a:ext uri="{FF2B5EF4-FFF2-40B4-BE49-F238E27FC236}">
                  <a16:creationId xmlns:a16="http://schemas.microsoft.com/office/drawing/2014/main" id="{84D7F8A5-1AAA-609C-B318-FCECA847D0F0}"/>
                </a:ext>
              </a:extLst>
            </p:cNvPr>
            <p:cNvSpPr/>
            <p:nvPr/>
          </p:nvSpPr>
          <p:spPr>
            <a:xfrm>
              <a:off x="1652588" y="3760743"/>
              <a:ext cx="1752600" cy="754819"/>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s-ES" noProof="0" dirty="0">
                  <a:solidFill>
                    <a:schemeClr val="tx1"/>
                  </a:solidFill>
                  <a:latin typeface="Times New Roman" panose="02020603050405020304" pitchFamily="18" charset="0"/>
                  <a:cs typeface="Times New Roman" panose="02020603050405020304" pitchFamily="18" charset="0"/>
                </a:rPr>
                <a:t>Agricultura</a:t>
              </a:r>
            </a:p>
          </p:txBody>
        </p:sp>
        <p:sp>
          <p:nvSpPr>
            <p:cNvPr id="10" name="Elipse 9">
              <a:extLst>
                <a:ext uri="{FF2B5EF4-FFF2-40B4-BE49-F238E27FC236}">
                  <a16:creationId xmlns:a16="http://schemas.microsoft.com/office/drawing/2014/main" id="{8E601074-6421-3411-3B13-21DA5FD51A67}"/>
                </a:ext>
              </a:extLst>
            </p:cNvPr>
            <p:cNvSpPr/>
            <p:nvPr/>
          </p:nvSpPr>
          <p:spPr>
            <a:xfrm>
              <a:off x="3893033" y="5399722"/>
              <a:ext cx="1752600" cy="754819"/>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s-ES" noProof="0" dirty="0">
                  <a:solidFill>
                    <a:schemeClr val="tx1"/>
                  </a:solidFill>
                  <a:latin typeface="Times New Roman" panose="02020603050405020304" pitchFamily="18" charset="0"/>
                  <a:cs typeface="Times New Roman" panose="02020603050405020304" pitchFamily="18" charset="0"/>
                </a:rPr>
                <a:t>Entretenimiento</a:t>
              </a:r>
            </a:p>
          </p:txBody>
        </p:sp>
        <p:sp>
          <p:nvSpPr>
            <p:cNvPr id="11" name="Elipse 10">
              <a:extLst>
                <a:ext uri="{FF2B5EF4-FFF2-40B4-BE49-F238E27FC236}">
                  <a16:creationId xmlns:a16="http://schemas.microsoft.com/office/drawing/2014/main" id="{464FFEE5-C7F8-19C0-2C92-2B8C68D0C131}"/>
                </a:ext>
              </a:extLst>
            </p:cNvPr>
            <p:cNvSpPr/>
            <p:nvPr/>
          </p:nvSpPr>
          <p:spPr>
            <a:xfrm>
              <a:off x="3870979" y="3336206"/>
              <a:ext cx="1752600" cy="754819"/>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s-ES" noProof="0" dirty="0">
                  <a:solidFill>
                    <a:schemeClr val="tx1"/>
                  </a:solidFill>
                  <a:latin typeface="Times New Roman" panose="02020603050405020304" pitchFamily="18" charset="0"/>
                  <a:cs typeface="Times New Roman" panose="02020603050405020304" pitchFamily="18" charset="0"/>
                </a:rPr>
                <a:t>Hogar</a:t>
              </a:r>
            </a:p>
          </p:txBody>
        </p:sp>
        <p:sp>
          <p:nvSpPr>
            <p:cNvPr id="12" name="Elipse 11">
              <a:extLst>
                <a:ext uri="{FF2B5EF4-FFF2-40B4-BE49-F238E27FC236}">
                  <a16:creationId xmlns:a16="http://schemas.microsoft.com/office/drawing/2014/main" id="{1EDBDF94-57B1-5FDD-615C-BF1C8EE296FC}"/>
                </a:ext>
              </a:extLst>
            </p:cNvPr>
            <p:cNvSpPr/>
            <p:nvPr/>
          </p:nvSpPr>
          <p:spPr>
            <a:xfrm>
              <a:off x="5940806" y="4990441"/>
              <a:ext cx="1752600" cy="754819"/>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s-ES" noProof="0" dirty="0">
                  <a:solidFill>
                    <a:schemeClr val="tx1"/>
                  </a:solidFill>
                  <a:latin typeface="Times New Roman" panose="02020603050405020304" pitchFamily="18" charset="0"/>
                  <a:cs typeface="Times New Roman" panose="02020603050405020304" pitchFamily="18" charset="0"/>
                </a:rPr>
                <a:t>Transporte</a:t>
              </a:r>
            </a:p>
          </p:txBody>
        </p:sp>
        <p:sp>
          <p:nvSpPr>
            <p:cNvPr id="14" name="Elipse 13">
              <a:extLst>
                <a:ext uri="{FF2B5EF4-FFF2-40B4-BE49-F238E27FC236}">
                  <a16:creationId xmlns:a16="http://schemas.microsoft.com/office/drawing/2014/main" id="{48098EA9-1091-1044-7DBC-7E3E482540BE}"/>
                </a:ext>
              </a:extLst>
            </p:cNvPr>
            <p:cNvSpPr/>
            <p:nvPr/>
          </p:nvSpPr>
          <p:spPr>
            <a:xfrm>
              <a:off x="5940806" y="3756316"/>
              <a:ext cx="1752600" cy="754819"/>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s-ES" noProof="0" dirty="0">
                  <a:solidFill>
                    <a:schemeClr val="tx1"/>
                  </a:solidFill>
                  <a:latin typeface="Times New Roman" panose="02020603050405020304" pitchFamily="18" charset="0"/>
                  <a:cs typeface="Times New Roman" panose="02020603050405020304" pitchFamily="18" charset="0"/>
                </a:rPr>
                <a:t>Salud y Educación</a:t>
              </a:r>
            </a:p>
          </p:txBody>
        </p:sp>
      </p:grpSp>
      <p:sp>
        <p:nvSpPr>
          <p:cNvPr id="16" name="Google Shape;66;p6">
            <a:extLst>
              <a:ext uri="{FF2B5EF4-FFF2-40B4-BE49-F238E27FC236}">
                <a16:creationId xmlns:a16="http://schemas.microsoft.com/office/drawing/2014/main" id="{0D0B52A8-D3BB-EE86-5CD7-DA7C41FF0513}"/>
              </a:ext>
            </a:extLst>
          </p:cNvPr>
          <p:cNvSpPr txBox="1"/>
          <p:nvPr/>
        </p:nvSpPr>
        <p:spPr>
          <a:xfrm>
            <a:off x="599141" y="6340682"/>
            <a:ext cx="8296276" cy="33851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0" i="0" u="none" strike="noStrike" cap="none" noProof="0" dirty="0">
                <a:solidFill>
                  <a:schemeClr val="dk1"/>
                </a:solidFill>
                <a:latin typeface="Times New Roman"/>
                <a:ea typeface="Times New Roman"/>
                <a:cs typeface="Times New Roman"/>
                <a:sym typeface="Times New Roman"/>
              </a:rPr>
              <a:t>ODS 7 de la ONU: </a:t>
            </a:r>
            <a:r>
              <a:rPr lang="es-ES" sz="1600" b="0" i="1" u="none" strike="noStrike" cap="none" noProof="0" dirty="0">
                <a:solidFill>
                  <a:schemeClr val="dk1"/>
                </a:solidFill>
                <a:latin typeface="Times New Roman"/>
                <a:ea typeface="Times New Roman"/>
                <a:cs typeface="Times New Roman"/>
                <a:sym typeface="Times New Roman"/>
              </a:rPr>
              <a:t>Garantizar el acceso a una energía asequible, segura, sostenible y moderna.</a:t>
            </a:r>
            <a:endParaRPr lang="es-ES" sz="1600" noProof="0" dirty="0"/>
          </a:p>
        </p:txBody>
      </p:sp>
      <p:sp>
        <p:nvSpPr>
          <p:cNvPr id="2" name="Google Shape;74;p7">
            <a:extLst>
              <a:ext uri="{FF2B5EF4-FFF2-40B4-BE49-F238E27FC236}">
                <a16:creationId xmlns:a16="http://schemas.microsoft.com/office/drawing/2014/main" id="{C5FD4F0D-BB87-97A1-07CC-8666DC0CF79E}"/>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Conceptos y definiciones</a:t>
            </a:r>
          </a:p>
        </p:txBody>
      </p:sp>
    </p:spTree>
    <p:extLst>
      <p:ext uri="{BB962C8B-B14F-4D97-AF65-F5344CB8AC3E}">
        <p14:creationId xmlns:p14="http://schemas.microsoft.com/office/powerpoint/2010/main" val="2345626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7"/>
          <p:cNvSpPr txBox="1">
            <a:spLocks noGrp="1"/>
          </p:cNvSpPr>
          <p:nvPr>
            <p:ph type="body" idx="1"/>
          </p:nvPr>
        </p:nvSpPr>
        <p:spPr>
          <a:xfrm>
            <a:off x="914400" y="455218"/>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Times New Roman"/>
              <a:buNone/>
            </a:pPr>
            <a:r>
              <a:rPr lang="es-ES" noProof="0" dirty="0"/>
              <a:t>Fuentes de energía primarias y secundarias</a:t>
            </a:r>
          </a:p>
        </p:txBody>
      </p:sp>
      <p:sp>
        <p:nvSpPr>
          <p:cNvPr id="73" name="Google Shape;73;p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a:t>
            </a:fld>
            <a:endParaRPr lang="es-ES" noProof="0" dirty="0"/>
          </a:p>
        </p:txBody>
      </p:sp>
      <p:sp>
        <p:nvSpPr>
          <p:cNvPr id="74" name="Google Shape;74;p7"/>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Conceptos y definiciones</a:t>
            </a:r>
          </a:p>
        </p:txBody>
      </p:sp>
      <p:sp>
        <p:nvSpPr>
          <p:cNvPr id="75" name="Google Shape;75;p7"/>
          <p:cNvSpPr txBox="1"/>
          <p:nvPr/>
        </p:nvSpPr>
        <p:spPr>
          <a:xfrm>
            <a:off x="1281952" y="1249684"/>
            <a:ext cx="4572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0" i="0" u="sng" strike="noStrike" cap="none" noProof="0" dirty="0">
                <a:solidFill>
                  <a:schemeClr val="dk1"/>
                </a:solidFill>
                <a:latin typeface="Times New Roman"/>
                <a:ea typeface="Times New Roman"/>
                <a:cs typeface="Times New Roman"/>
                <a:sym typeface="Times New Roman"/>
              </a:rPr>
              <a:t>Fuentes de energía primaria</a:t>
            </a:r>
            <a:endParaRPr lang="es-ES" noProof="0" dirty="0"/>
          </a:p>
        </p:txBody>
      </p:sp>
      <p:sp>
        <p:nvSpPr>
          <p:cNvPr id="76" name="Google Shape;76;p7"/>
          <p:cNvSpPr txBox="1"/>
          <p:nvPr/>
        </p:nvSpPr>
        <p:spPr>
          <a:xfrm>
            <a:off x="826200" y="3134130"/>
            <a:ext cx="7994837" cy="3323946"/>
          </a:xfrm>
          <a:prstGeom prst="rect">
            <a:avLst/>
          </a:prstGeom>
          <a:noFill/>
          <a:ln>
            <a:noFill/>
          </a:ln>
        </p:spPr>
        <p:txBody>
          <a:bodyPr spcFirstLastPara="1" wrap="square" lIns="91425" tIns="45700" rIns="91425" bIns="45700" anchor="t" anchorCtr="0">
            <a:spAutoFit/>
          </a:bodyPr>
          <a:lstStyle/>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hidráulica: procedente del agua.</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química: almacenada en combustibles fósiles (petróleo, carbón, gas natural, etc.) y biomasa.</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solar: energía procedente del Sol (fotovoltaica, térmica).</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del viento: eólica, mareas, etc.</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térmica: procedente del interior de la Tierra (geotermia).</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nuclear: procedente de las reacciones nucleares.</a:t>
            </a:r>
            <a:endParaRPr lang="es-ES" noProof="0" dirty="0"/>
          </a:p>
        </p:txBody>
      </p:sp>
      <p:sp>
        <p:nvSpPr>
          <p:cNvPr id="77" name="Google Shape;77;p7"/>
          <p:cNvSpPr txBox="1"/>
          <p:nvPr/>
        </p:nvSpPr>
        <p:spPr>
          <a:xfrm>
            <a:off x="914401" y="1756156"/>
            <a:ext cx="7761288" cy="113873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i="1" noProof="0" dirty="0">
                <a:solidFill>
                  <a:schemeClr val="dk1"/>
                </a:solidFill>
                <a:latin typeface="Times New Roman"/>
                <a:ea typeface="Times New Roman"/>
                <a:cs typeface="Times New Roman"/>
                <a:sym typeface="Times New Roman"/>
              </a:rPr>
              <a:t>La energía primaria es la energía que se encuentra en la naturaleza, que no ha sido sometida a ningún proceso de conversión diseñado por humanos y que puede ser transformada, almacenada y liberada para su utilización y aprovechamiento</a:t>
            </a:r>
            <a:r>
              <a:rPr lang="es-ES" sz="1800" noProof="0" dirty="0">
                <a:solidFill>
                  <a:schemeClr val="dk1"/>
                </a:solidFill>
                <a:latin typeface="Times New Roman"/>
                <a:ea typeface="Times New Roman"/>
                <a:cs typeface="Times New Roman"/>
                <a:sym typeface="Times New Roman"/>
              </a:rPr>
              <a:t>.</a:t>
            </a:r>
            <a:br>
              <a:rPr lang="es-ES" sz="1800" noProof="0" dirty="0">
                <a:solidFill>
                  <a:schemeClr val="dk1"/>
                </a:solidFill>
                <a:latin typeface="Times New Roman"/>
                <a:ea typeface="Times New Roman"/>
                <a:cs typeface="Times New Roman"/>
                <a:sym typeface="Times New Roman"/>
              </a:rPr>
            </a:br>
            <a:endParaRPr lang="es-ES"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8"/>
          <p:cNvSpPr txBox="1">
            <a:spLocks noGrp="1"/>
          </p:cNvSpPr>
          <p:nvPr>
            <p:ph type="body" idx="1"/>
          </p:nvPr>
        </p:nvSpPr>
        <p:spPr>
          <a:xfrm>
            <a:off x="914400" y="455218"/>
            <a:ext cx="8229600" cy="4525963"/>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s-ES" noProof="0" dirty="0"/>
              <a:t>Fuentes de energía primarias y secundarias</a:t>
            </a:r>
          </a:p>
          <a:p>
            <a:pPr marL="0" lvl="0" indent="0" algn="l" rtl="0">
              <a:spcBef>
                <a:spcPts val="0"/>
              </a:spcBef>
              <a:spcAft>
                <a:spcPts val="0"/>
              </a:spcAft>
              <a:buClr>
                <a:schemeClr val="dk1"/>
              </a:buClr>
              <a:buSzPts val="3200"/>
              <a:buFont typeface="Times New Roman"/>
              <a:buNone/>
            </a:pPr>
            <a:endParaRPr lang="es-ES" noProof="0" dirty="0"/>
          </a:p>
        </p:txBody>
      </p:sp>
      <p:sp>
        <p:nvSpPr>
          <p:cNvPr id="83" name="Google Shape;83;p8"/>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6</a:t>
            </a:fld>
            <a:endParaRPr lang="es-ES" noProof="0" dirty="0"/>
          </a:p>
        </p:txBody>
      </p:sp>
      <p:sp>
        <p:nvSpPr>
          <p:cNvPr id="84" name="Google Shape;84;p8"/>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Conceptos y definiciones</a:t>
            </a:r>
          </a:p>
        </p:txBody>
      </p:sp>
      <p:sp>
        <p:nvSpPr>
          <p:cNvPr id="85" name="Google Shape;85;p8"/>
          <p:cNvSpPr txBox="1"/>
          <p:nvPr/>
        </p:nvSpPr>
        <p:spPr>
          <a:xfrm>
            <a:off x="1281952" y="1249684"/>
            <a:ext cx="4572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u="sng" noProof="0" dirty="0">
                <a:solidFill>
                  <a:schemeClr val="dk1"/>
                </a:solidFill>
                <a:latin typeface="Times New Roman"/>
                <a:ea typeface="Times New Roman"/>
                <a:cs typeface="Times New Roman"/>
                <a:sym typeface="Times New Roman"/>
              </a:rPr>
              <a:t>Fuentes de energía secundaria</a:t>
            </a:r>
            <a:endParaRPr lang="es-ES" noProof="0" dirty="0"/>
          </a:p>
        </p:txBody>
      </p:sp>
      <p:sp>
        <p:nvSpPr>
          <p:cNvPr id="86" name="Google Shape;86;p8"/>
          <p:cNvSpPr txBox="1"/>
          <p:nvPr/>
        </p:nvSpPr>
        <p:spPr>
          <a:xfrm>
            <a:off x="826200" y="2506995"/>
            <a:ext cx="7994837" cy="2345322"/>
          </a:xfrm>
          <a:prstGeom prst="rect">
            <a:avLst/>
          </a:prstGeom>
          <a:noFill/>
          <a:ln>
            <a:noFill/>
          </a:ln>
        </p:spPr>
        <p:txBody>
          <a:bodyPr spcFirstLastPara="1" wrap="square" lIns="91425" tIns="45700" rIns="91425" bIns="45700" anchor="t" anchorCtr="0">
            <a:spAutoFit/>
          </a:bodyPr>
          <a:lstStyle/>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Electricidad.</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Derivados del petróleo como la gasolina, gasoil, etc.</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Biodiésel y otros compuestos orgánicos.</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Hidrógeno.</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a:t>
            </a:r>
            <a:endParaRPr lang="es-ES" noProof="0" dirty="0"/>
          </a:p>
        </p:txBody>
      </p:sp>
      <p:sp>
        <p:nvSpPr>
          <p:cNvPr id="87" name="Google Shape;87;p8"/>
          <p:cNvSpPr txBox="1"/>
          <p:nvPr/>
        </p:nvSpPr>
        <p:spPr>
          <a:xfrm>
            <a:off x="914401" y="1756156"/>
            <a:ext cx="7761288"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i="1" noProof="0" dirty="0">
                <a:solidFill>
                  <a:schemeClr val="dk1"/>
                </a:solidFill>
                <a:latin typeface="Times New Roman"/>
                <a:ea typeface="Times New Roman"/>
                <a:cs typeface="Times New Roman"/>
                <a:sym typeface="Times New Roman"/>
              </a:rPr>
              <a:t>La energía secundaria es un portador de energía. Esta se produce por conversión de una fuente de energía primaria.</a:t>
            </a:r>
            <a:endParaRPr lang="es-ES" sz="1800" noProof="0" dirty="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9"/>
          <p:cNvSpPr txBox="1">
            <a:spLocks noGrp="1"/>
          </p:cNvSpPr>
          <p:nvPr>
            <p:ph type="body" idx="1"/>
          </p:nvPr>
        </p:nvSpPr>
        <p:spPr>
          <a:xfrm>
            <a:off x="914400" y="455218"/>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Times New Roman"/>
              <a:buNone/>
            </a:pPr>
            <a:r>
              <a:rPr lang="es-ES" noProof="0" dirty="0"/>
              <a:t>Clasificación</a:t>
            </a:r>
          </a:p>
        </p:txBody>
      </p:sp>
      <p:sp>
        <p:nvSpPr>
          <p:cNvPr id="93" name="Google Shape;93;p9"/>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7</a:t>
            </a:fld>
            <a:endParaRPr lang="es-ES" noProof="0" dirty="0"/>
          </a:p>
        </p:txBody>
      </p:sp>
      <p:sp>
        <p:nvSpPr>
          <p:cNvPr id="94" name="Google Shape;94;p9"/>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Conceptos y definiciones</a:t>
            </a:r>
          </a:p>
        </p:txBody>
      </p:sp>
      <p:sp>
        <p:nvSpPr>
          <p:cNvPr id="95" name="Google Shape;95;p9"/>
          <p:cNvSpPr txBox="1"/>
          <p:nvPr/>
        </p:nvSpPr>
        <p:spPr>
          <a:xfrm>
            <a:off x="1281952" y="1023533"/>
            <a:ext cx="4572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u="sng" noProof="0" dirty="0">
                <a:solidFill>
                  <a:schemeClr val="dk1"/>
                </a:solidFill>
                <a:latin typeface="Times New Roman"/>
                <a:ea typeface="Times New Roman"/>
                <a:cs typeface="Times New Roman"/>
                <a:sym typeface="Times New Roman"/>
              </a:rPr>
              <a:t>Energías no renovables</a:t>
            </a:r>
            <a:endParaRPr lang="es-ES" noProof="0" dirty="0"/>
          </a:p>
        </p:txBody>
      </p:sp>
      <p:sp>
        <p:nvSpPr>
          <p:cNvPr id="96" name="Google Shape;96;p9"/>
          <p:cNvSpPr txBox="1"/>
          <p:nvPr/>
        </p:nvSpPr>
        <p:spPr>
          <a:xfrm>
            <a:off x="826200" y="2131273"/>
            <a:ext cx="7994837" cy="1015622"/>
          </a:xfrm>
          <a:prstGeom prst="rect">
            <a:avLst/>
          </a:prstGeom>
          <a:noFill/>
          <a:ln>
            <a:noFill/>
          </a:ln>
        </p:spPr>
        <p:txBody>
          <a:bodyPr spcFirstLastPara="1" wrap="square" lIns="91425" tIns="45700" rIns="91425" bIns="45700" anchor="t" anchorCtr="0">
            <a:spAutoFit/>
          </a:bodyPr>
          <a:lstStyle/>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Combustibles fósiles: carbón, petróleo, gas natural.</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nuclear a partir de uranio, torio, etc.</a:t>
            </a:r>
            <a:endParaRPr lang="es-ES" noProof="0" dirty="0"/>
          </a:p>
        </p:txBody>
      </p:sp>
      <p:sp>
        <p:nvSpPr>
          <p:cNvPr id="97" name="Google Shape;97;p9"/>
          <p:cNvSpPr txBox="1"/>
          <p:nvPr/>
        </p:nvSpPr>
        <p:spPr>
          <a:xfrm>
            <a:off x="914401" y="1466352"/>
            <a:ext cx="7761288"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i="1" noProof="0" dirty="0">
                <a:solidFill>
                  <a:schemeClr val="dk1"/>
                </a:solidFill>
                <a:latin typeface="Times New Roman"/>
                <a:ea typeface="Times New Roman"/>
                <a:cs typeface="Times New Roman"/>
                <a:sym typeface="Times New Roman"/>
              </a:rPr>
              <a:t>La fuente de energía no renovable es aquella que su existencia no es ilimitada o que su regeneración es extremadamente lenta.</a:t>
            </a:r>
            <a:endParaRPr lang="es-ES" sz="1800" noProof="0" dirty="0">
              <a:solidFill>
                <a:schemeClr val="dk1"/>
              </a:solidFill>
              <a:latin typeface="Times New Roman"/>
              <a:ea typeface="Times New Roman"/>
              <a:cs typeface="Times New Roman"/>
              <a:sym typeface="Times New Roman"/>
            </a:endParaRPr>
          </a:p>
        </p:txBody>
      </p:sp>
      <p:sp>
        <p:nvSpPr>
          <p:cNvPr id="98" name="Google Shape;98;p9"/>
          <p:cNvSpPr txBox="1"/>
          <p:nvPr/>
        </p:nvSpPr>
        <p:spPr>
          <a:xfrm>
            <a:off x="1281952" y="3123817"/>
            <a:ext cx="4572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u="sng" noProof="0" dirty="0">
                <a:solidFill>
                  <a:schemeClr val="dk1"/>
                </a:solidFill>
                <a:latin typeface="Times New Roman"/>
                <a:ea typeface="Times New Roman"/>
                <a:cs typeface="Times New Roman"/>
                <a:sym typeface="Times New Roman"/>
              </a:rPr>
              <a:t>Energías renovables</a:t>
            </a:r>
            <a:endParaRPr lang="es-ES" noProof="0" dirty="0"/>
          </a:p>
        </p:txBody>
      </p:sp>
      <p:sp>
        <p:nvSpPr>
          <p:cNvPr id="99" name="Google Shape;99;p9"/>
          <p:cNvSpPr txBox="1"/>
          <p:nvPr/>
        </p:nvSpPr>
        <p:spPr>
          <a:xfrm>
            <a:off x="971551" y="3707325"/>
            <a:ext cx="7704138"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i="1" noProof="0" dirty="0">
                <a:solidFill>
                  <a:schemeClr val="dk1"/>
                </a:solidFill>
                <a:latin typeface="Times New Roman"/>
                <a:ea typeface="Times New Roman"/>
                <a:cs typeface="Times New Roman"/>
                <a:sym typeface="Times New Roman"/>
              </a:rPr>
              <a:t>La fuente de energía renovable es considerada como aquella disponible en la naturaleza, ilimitada o regenerada en un corto periodo de tiempo.</a:t>
            </a:r>
            <a:endParaRPr lang="es-ES" sz="1800" noProof="0" dirty="0">
              <a:solidFill>
                <a:schemeClr val="dk1"/>
              </a:solidFill>
              <a:latin typeface="Times New Roman"/>
              <a:ea typeface="Times New Roman"/>
              <a:cs typeface="Times New Roman"/>
              <a:sym typeface="Times New Roman"/>
            </a:endParaRPr>
          </a:p>
        </p:txBody>
      </p:sp>
      <p:sp>
        <p:nvSpPr>
          <p:cNvPr id="100" name="Google Shape;100;p9"/>
          <p:cNvSpPr txBox="1"/>
          <p:nvPr/>
        </p:nvSpPr>
        <p:spPr>
          <a:xfrm>
            <a:off x="971550" y="4376835"/>
            <a:ext cx="7994837" cy="2345322"/>
          </a:xfrm>
          <a:prstGeom prst="rect">
            <a:avLst/>
          </a:prstGeom>
          <a:noFill/>
          <a:ln>
            <a:noFill/>
          </a:ln>
        </p:spPr>
        <p:txBody>
          <a:bodyPr spcFirstLastPara="1" wrap="square" lIns="91425" tIns="45700" rIns="91425" bIns="45700" anchor="t" anchorCtr="0">
            <a:spAutoFit/>
          </a:bodyPr>
          <a:lstStyle/>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solar.</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Biomasa.</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del viento.</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hidráulica.</a:t>
            </a:r>
            <a:endParaRPr lang="es-ES" noProof="0" dirty="0"/>
          </a:p>
          <a:p>
            <a:pPr marL="360000" marR="0" lvl="1" indent="-342900" algn="l" rtl="0">
              <a:lnSpc>
                <a:spcPct val="150000"/>
              </a:lnSpc>
              <a:spcBef>
                <a:spcPts val="0"/>
              </a:spcBef>
              <a:spcAft>
                <a:spcPts val="0"/>
              </a:spcAft>
              <a:buClr>
                <a:schemeClr val="dk1"/>
              </a:buClr>
              <a:buSzPts val="2000"/>
              <a:buFont typeface="Arial"/>
              <a:buChar char="•"/>
            </a:pPr>
            <a:r>
              <a:rPr lang="es-ES" sz="2000" b="0" i="0" u="none" strike="noStrike" cap="none" noProof="0" dirty="0">
                <a:solidFill>
                  <a:schemeClr val="dk1"/>
                </a:solidFill>
                <a:latin typeface="Times New Roman"/>
                <a:ea typeface="Times New Roman"/>
                <a:cs typeface="Times New Roman"/>
                <a:sym typeface="Times New Roman"/>
              </a:rPr>
              <a:t>Energía geotérmica.</a:t>
            </a:r>
            <a:endParaRPr lang="es-ES"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3200"/>
              <a:buFont typeface="Times New Roman"/>
              <a:buNone/>
            </a:pPr>
            <a:r>
              <a:rPr lang="es-ES" noProof="0" dirty="0"/>
              <a:t>Conceptos y definiciones</a:t>
            </a:r>
          </a:p>
          <a:p>
            <a:pPr marL="0" lvl="0" indent="0" algn="just" rtl="0">
              <a:lnSpc>
                <a:spcPct val="150000"/>
              </a:lnSpc>
              <a:spcBef>
                <a:spcPts val="600"/>
              </a:spcBef>
              <a:spcAft>
                <a:spcPts val="0"/>
              </a:spcAft>
              <a:buClr>
                <a:schemeClr val="dk1"/>
              </a:buClr>
              <a:buSzPts val="3200"/>
              <a:buFont typeface="Times New Roman"/>
              <a:buNone/>
            </a:pPr>
            <a:r>
              <a:rPr lang="es-ES" b="1" noProof="0" dirty="0"/>
              <a:t>Balance energético</a:t>
            </a:r>
            <a:endParaRPr lang="es-ES" noProof="0" dirty="0"/>
          </a:p>
          <a:p>
            <a:pPr marL="0" lvl="0" indent="0" algn="just" rtl="0">
              <a:lnSpc>
                <a:spcPct val="150000"/>
              </a:lnSpc>
              <a:spcBef>
                <a:spcPts val="600"/>
              </a:spcBef>
              <a:spcAft>
                <a:spcPts val="0"/>
              </a:spcAft>
              <a:buClr>
                <a:schemeClr val="dk1"/>
              </a:buClr>
              <a:buSzPts val="3200"/>
              <a:buFont typeface="Times New Roman"/>
              <a:buNone/>
            </a:pPr>
            <a:r>
              <a:rPr lang="es-ES" noProof="0" dirty="0"/>
              <a:t>Uso de la energía</a:t>
            </a:r>
          </a:p>
          <a:p>
            <a:pPr marL="0" lvl="0" indent="0" algn="just" rtl="0">
              <a:lnSpc>
                <a:spcPct val="150000"/>
              </a:lnSpc>
              <a:spcBef>
                <a:spcPts val="600"/>
              </a:spcBef>
              <a:spcAft>
                <a:spcPts val="0"/>
              </a:spcAft>
              <a:buClr>
                <a:schemeClr val="dk1"/>
              </a:buClr>
              <a:buSzPts val="3200"/>
              <a:buFont typeface="Times New Roman"/>
              <a:buNone/>
            </a:pPr>
            <a:r>
              <a:rPr lang="es-ES" noProof="0" dirty="0"/>
              <a:t>Emisiones de GEI</a:t>
            </a:r>
            <a:endParaRPr lang="es-ES" baseline="-25000" noProof="0" dirty="0"/>
          </a:p>
          <a:p>
            <a:pPr marL="0" lvl="0" indent="0" algn="just" rtl="0">
              <a:lnSpc>
                <a:spcPct val="150000"/>
              </a:lnSpc>
              <a:spcBef>
                <a:spcPts val="600"/>
              </a:spcBef>
              <a:spcAft>
                <a:spcPts val="0"/>
              </a:spcAft>
              <a:buClr>
                <a:schemeClr val="dk1"/>
              </a:buClr>
              <a:buSzPts val="3200"/>
              <a:buFont typeface="Times New Roman"/>
              <a:buNone/>
            </a:pPr>
            <a:r>
              <a:rPr lang="es-ES" noProof="0" dirty="0"/>
              <a:t>Escenarios</a:t>
            </a:r>
          </a:p>
          <a:p>
            <a:pPr marL="0" lvl="0" indent="0" algn="just" rtl="0">
              <a:lnSpc>
                <a:spcPct val="150000"/>
              </a:lnSpc>
              <a:spcBef>
                <a:spcPts val="600"/>
              </a:spcBef>
              <a:spcAft>
                <a:spcPts val="0"/>
              </a:spcAft>
              <a:buClr>
                <a:schemeClr val="dk1"/>
              </a:buClr>
              <a:buSzPts val="3200"/>
              <a:buFont typeface="Times New Roman"/>
              <a:buNone/>
            </a:pPr>
            <a:endParaRPr lang="es-ES" noProof="0" dirty="0"/>
          </a:p>
        </p:txBody>
      </p:sp>
      <p:sp>
        <p:nvSpPr>
          <p:cNvPr id="106" name="Google Shape;106;p10"/>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8</a:t>
            </a:fld>
            <a:endParaRPr lang="es-ES" noProof="0" dirty="0"/>
          </a:p>
        </p:txBody>
      </p:sp>
      <p:sp>
        <p:nvSpPr>
          <p:cNvPr id="107" name="Google Shape;107;p10"/>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Índice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Times New Roman"/>
              <a:buNone/>
            </a:pPr>
            <a:r>
              <a:rPr lang="es-ES" noProof="0" dirty="0"/>
              <a:t>Definición</a:t>
            </a:r>
          </a:p>
        </p:txBody>
      </p:sp>
      <p:sp>
        <p:nvSpPr>
          <p:cNvPr id="113" name="Google Shape;113;p11"/>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9</a:t>
            </a:fld>
            <a:endParaRPr lang="es-ES" noProof="0" dirty="0"/>
          </a:p>
        </p:txBody>
      </p:sp>
      <p:sp>
        <p:nvSpPr>
          <p:cNvPr id="114" name="Google Shape;114;p11"/>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
        <p:nvSpPr>
          <p:cNvPr id="115" name="Google Shape;115;p11"/>
          <p:cNvSpPr txBox="1"/>
          <p:nvPr/>
        </p:nvSpPr>
        <p:spPr>
          <a:xfrm>
            <a:off x="914400" y="1211924"/>
            <a:ext cx="7761288" cy="10156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2000"/>
              <a:buFont typeface="Times New Roman"/>
              <a:buNone/>
            </a:pPr>
            <a:r>
              <a:rPr lang="es-ES" sz="2000" i="1" noProof="0" dirty="0">
                <a:solidFill>
                  <a:schemeClr val="dk1"/>
                </a:solidFill>
                <a:latin typeface="Times New Roman"/>
                <a:ea typeface="Times New Roman"/>
                <a:cs typeface="Times New Roman"/>
                <a:sym typeface="Times New Roman"/>
              </a:rPr>
              <a:t>El </a:t>
            </a:r>
            <a:r>
              <a:rPr lang="es-ES" sz="2000" b="1" i="1" noProof="0" dirty="0">
                <a:solidFill>
                  <a:schemeClr val="dk1"/>
                </a:solidFill>
                <a:latin typeface="Times New Roman"/>
                <a:ea typeface="Times New Roman"/>
                <a:cs typeface="Times New Roman"/>
                <a:sym typeface="Times New Roman"/>
              </a:rPr>
              <a:t>balance energético </a:t>
            </a:r>
            <a:r>
              <a:rPr lang="es-ES" sz="2000" i="1" noProof="0" dirty="0">
                <a:solidFill>
                  <a:schemeClr val="dk1"/>
                </a:solidFill>
                <a:latin typeface="Times New Roman"/>
                <a:ea typeface="Times New Roman"/>
                <a:cs typeface="Times New Roman"/>
                <a:sym typeface="Times New Roman"/>
              </a:rPr>
              <a:t>es una forma de contabilizar y recopilar los datos de todos los productos energéticos, su transformación y su consumo en un área determinada y en un periodo de tiempo finito.</a:t>
            </a:r>
            <a:endParaRPr lang="es-ES" i="1" noProof="0" dirty="0"/>
          </a:p>
        </p:txBody>
      </p:sp>
      <p:sp>
        <p:nvSpPr>
          <p:cNvPr id="10" name="CuadroTexto 9">
            <a:extLst>
              <a:ext uri="{FF2B5EF4-FFF2-40B4-BE49-F238E27FC236}">
                <a16:creationId xmlns:a16="http://schemas.microsoft.com/office/drawing/2014/main" id="{208726D2-FA1F-429D-990A-81B0E44E3140}"/>
              </a:ext>
            </a:extLst>
          </p:cNvPr>
          <p:cNvSpPr txBox="1"/>
          <p:nvPr/>
        </p:nvSpPr>
        <p:spPr>
          <a:xfrm>
            <a:off x="914400" y="2818823"/>
            <a:ext cx="7966869" cy="3477875"/>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s-ES" sz="1800" noProof="0" dirty="0">
                <a:latin typeface="Times New Roman" panose="02020603050405020304" pitchFamily="18" charset="0"/>
                <a:cs typeface="Times New Roman" panose="02020603050405020304" pitchFamily="18" charset="0"/>
              </a:rPr>
              <a:t>Proporcionar la base que permita crear indicadores sobre el rol de cada producto energético.</a:t>
            </a:r>
          </a:p>
          <a:p>
            <a:pPr marL="285750" indent="-285750" algn="just">
              <a:spcBef>
                <a:spcPts val="600"/>
              </a:spcBef>
              <a:spcAft>
                <a:spcPts val="600"/>
              </a:spcAft>
              <a:buFont typeface="Arial" panose="020B0604020202020204" pitchFamily="34" charset="0"/>
              <a:buChar char="•"/>
            </a:pPr>
            <a:r>
              <a:rPr lang="es-ES" sz="1800" noProof="0" dirty="0">
                <a:latin typeface="Times New Roman" panose="02020603050405020304" pitchFamily="18" charset="0"/>
                <a:cs typeface="Times New Roman" panose="02020603050405020304" pitchFamily="18" charset="0"/>
              </a:rPr>
              <a:t>Conocer la eficiencia de los procesos de transformación (refinado, producción de electricidad por combustibles, etc.).
Conocer las cuotas relativas de la oferta/consumo de diversos productos (incluidas las energías renovables frente a las no renovables) de la oferta/consumo total.
Proporcionar datos para la estimación de las emisiones de los Gases de Efecto Invernadero (GEI). </a:t>
            </a:r>
          </a:p>
          <a:p>
            <a:pPr marL="285750" indent="-285750" algn="just">
              <a:spcBef>
                <a:spcPts val="600"/>
              </a:spcBef>
              <a:spcAft>
                <a:spcPts val="600"/>
              </a:spcAft>
              <a:buFont typeface="Arial" panose="020B0604020202020204" pitchFamily="34" charset="0"/>
              <a:buChar char="•"/>
            </a:pPr>
            <a:r>
              <a:rPr lang="es-ES" sz="1800" noProof="0" dirty="0">
                <a:latin typeface="Times New Roman" panose="02020603050405020304" pitchFamily="18" charset="0"/>
                <a:cs typeface="Times New Roman" panose="02020603050405020304" pitchFamily="18" charset="0"/>
              </a:rPr>
              <a:t>Proporcionar información para la elaboración de diferentes escenarios futuros.</a:t>
            </a:r>
          </a:p>
        </p:txBody>
      </p:sp>
      <p:sp>
        <p:nvSpPr>
          <p:cNvPr id="2" name="Rectángulo 1">
            <a:extLst>
              <a:ext uri="{FF2B5EF4-FFF2-40B4-BE49-F238E27FC236}">
                <a16:creationId xmlns:a16="http://schemas.microsoft.com/office/drawing/2014/main" id="{735C1C01-B9A0-43A6-ADB8-DEB17017462A}"/>
              </a:ext>
            </a:extLst>
          </p:cNvPr>
          <p:cNvSpPr/>
          <p:nvPr/>
        </p:nvSpPr>
        <p:spPr>
          <a:xfrm>
            <a:off x="914400" y="2284067"/>
            <a:ext cx="1380506" cy="461665"/>
          </a:xfrm>
          <a:prstGeom prst="rect">
            <a:avLst/>
          </a:prstGeom>
        </p:spPr>
        <p:txBody>
          <a:bodyPr wrap="none">
            <a:spAutoFit/>
          </a:bodyPr>
          <a:lstStyle/>
          <a:p>
            <a:pPr lvl="0">
              <a:buClr>
                <a:schemeClr val="dk1"/>
              </a:buClr>
              <a:buSzPts val="3200"/>
            </a:pPr>
            <a:r>
              <a:rPr lang="es-ES" sz="2400" noProof="0" dirty="0">
                <a:solidFill>
                  <a:schemeClr val="dk1"/>
                </a:solidFill>
                <a:latin typeface="Times New Roman"/>
                <a:cs typeface="Times New Roman"/>
                <a:sym typeface="Times New Roman"/>
              </a:rPr>
              <a:t>Objetivos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0"/>
          <p:cNvSpPr txBox="1">
            <a:spLocks noGrp="1"/>
          </p:cNvSpPr>
          <p:nvPr>
            <p:ph type="body" idx="1"/>
          </p:nvPr>
        </p:nvSpPr>
        <p:spPr>
          <a:xfrm>
            <a:off x="914400" y="480377"/>
            <a:ext cx="8229600" cy="64992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Times New Roman"/>
              <a:buNone/>
            </a:pPr>
            <a:r>
              <a:rPr lang="es-ES" noProof="0" dirty="0"/>
              <a:t>Consideraciones</a:t>
            </a:r>
          </a:p>
        </p:txBody>
      </p:sp>
      <p:sp>
        <p:nvSpPr>
          <p:cNvPr id="232" name="Google Shape;232;p20"/>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10</a:t>
            </a:fld>
            <a:endParaRPr lang="es-ES" noProof="0" dirty="0"/>
          </a:p>
        </p:txBody>
      </p:sp>
      <p:sp>
        <p:nvSpPr>
          <p:cNvPr id="233" name="Google Shape;233;p20"/>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
        <p:nvSpPr>
          <p:cNvPr id="234" name="Google Shape;234;p20"/>
          <p:cNvSpPr txBox="1"/>
          <p:nvPr/>
        </p:nvSpPr>
        <p:spPr>
          <a:xfrm>
            <a:off x="930275" y="2607628"/>
            <a:ext cx="77612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400" noProof="0" dirty="0">
                <a:solidFill>
                  <a:schemeClr val="dk1"/>
                </a:solidFill>
                <a:latin typeface="Times New Roman"/>
                <a:ea typeface="Times New Roman"/>
                <a:cs typeface="Times New Roman"/>
                <a:sym typeface="Times New Roman"/>
              </a:rPr>
              <a:t>Factores de conversión para masa, volumen y energía</a:t>
            </a:r>
            <a:endParaRPr lang="es-ES" noProof="0" dirty="0"/>
          </a:p>
        </p:txBody>
      </p:sp>
      <p:sp>
        <p:nvSpPr>
          <p:cNvPr id="235" name="Google Shape;235;p20"/>
          <p:cNvSpPr txBox="1"/>
          <p:nvPr/>
        </p:nvSpPr>
        <p:spPr>
          <a:xfrm>
            <a:off x="942975" y="1130300"/>
            <a:ext cx="7761288" cy="14773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800"/>
              <a:buFont typeface="Times New Roman"/>
              <a:buNone/>
            </a:pPr>
            <a:r>
              <a:rPr lang="es-ES" sz="1800" noProof="0" dirty="0">
                <a:solidFill>
                  <a:schemeClr val="dk1"/>
                </a:solidFill>
                <a:latin typeface="Times New Roman"/>
                <a:ea typeface="Times New Roman"/>
                <a:cs typeface="Times New Roman"/>
                <a:sym typeface="Times New Roman"/>
              </a:rPr>
              <a:t>Los productos energéticos son medidos por magnitudes físicas como </a:t>
            </a:r>
            <a:r>
              <a:rPr lang="es-ES" sz="1800" b="1" noProof="0" dirty="0">
                <a:solidFill>
                  <a:schemeClr val="dk1"/>
                </a:solidFill>
                <a:latin typeface="Times New Roman"/>
                <a:ea typeface="Times New Roman"/>
                <a:cs typeface="Times New Roman"/>
                <a:sym typeface="Times New Roman"/>
              </a:rPr>
              <a:t>la masa, el volumen o la energía</a:t>
            </a:r>
            <a:r>
              <a:rPr lang="es-ES" sz="1800" noProof="0" dirty="0">
                <a:solidFill>
                  <a:schemeClr val="dk1"/>
                </a:solidFill>
                <a:latin typeface="Times New Roman"/>
                <a:ea typeface="Times New Roman"/>
                <a:cs typeface="Times New Roman"/>
                <a:sym typeface="Times New Roman"/>
              </a:rPr>
              <a:t>. Para la homogeneidad y comparabilidad de la medida de los diferentes productos es necesario convertir las unidades originales o naturales de ciertos productos en las equivalentes mediante factores de conversión (ej. el carbón generalmente se relaciona con la masa y el gas natural con el volumen).</a:t>
            </a:r>
            <a:endParaRPr lang="es-ES" noProof="0" dirty="0"/>
          </a:p>
        </p:txBody>
      </p:sp>
      <p:sp>
        <p:nvSpPr>
          <p:cNvPr id="237" name="Google Shape;237;p20"/>
          <p:cNvSpPr txBox="1"/>
          <p:nvPr/>
        </p:nvSpPr>
        <p:spPr>
          <a:xfrm>
            <a:off x="693639" y="6377623"/>
            <a:ext cx="822960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BTU: unidad térmica británica, toe: toneladas equivalentes de petróleo; </a:t>
            </a:r>
            <a:r>
              <a:rPr lang="es-ES" sz="1400" i="1" noProof="0" dirty="0" err="1">
                <a:solidFill>
                  <a:schemeClr val="dk1"/>
                </a:solidFill>
                <a:latin typeface="Times New Roman"/>
                <a:ea typeface="Times New Roman"/>
                <a:cs typeface="Times New Roman"/>
                <a:sym typeface="Times New Roman"/>
              </a:rPr>
              <a:t>tce</a:t>
            </a:r>
            <a:r>
              <a:rPr lang="es-ES" sz="1400" i="1" noProof="0" dirty="0">
                <a:solidFill>
                  <a:schemeClr val="dk1"/>
                </a:solidFill>
                <a:latin typeface="Times New Roman"/>
                <a:ea typeface="Times New Roman"/>
                <a:cs typeface="Times New Roman"/>
                <a:sym typeface="Times New Roman"/>
              </a:rPr>
              <a:t>: toneladas equivalentes de carbón </a:t>
            </a:r>
            <a:endParaRPr lang="es-ES" noProof="0" dirty="0"/>
          </a:p>
        </p:txBody>
      </p:sp>
      <p:pic>
        <p:nvPicPr>
          <p:cNvPr id="2" name="Imagen 1" descr="IguanaTex Bitmap Display&#10;&#10;\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softred}{RGB}{242, 177, 149}&#10;\definecolor{softblue}{RGB}{178,223,219}&#10;\definecolor{softgray}{rgb}{0.75, 0.75, 0.75}&#10;&#10;&#10;\pagestyle{empty}&#10;&#10;&#10;\begin{document}&#10;\footnotesize&#10;\renewcommand\arraystretch{1.3}&#10;\arrayrulecolor{black}&#10;\begin{tabular}{c c c c c c}&#10;\toprule&#10; &amp; kcal &amp; Btu &amp; toe &amp; tce &amp; kWh\\&#10;\midrule&#10;Julios &amp; 4186 &amp; 1055 &amp; 41.9 $10^9$ &amp; 29.3 $10^9$ &amp; 3.6 $10^6$\\&#10;\bottomrule&#10;\end{tabular}&#10;&#10;\end{document}&#10;">
            <a:extLst>
              <a:ext uri="{FF2B5EF4-FFF2-40B4-BE49-F238E27FC236}">
                <a16:creationId xmlns:a16="http://schemas.microsoft.com/office/drawing/2014/main" id="{B4C33078-AA02-D032-309C-7E856041818D}"/>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2012549" y="5304584"/>
            <a:ext cx="5438900" cy="910113"/>
          </a:xfrm>
          <a:prstGeom prst="rect">
            <a:avLst/>
          </a:prstGeom>
        </p:spPr>
      </p:pic>
      <p:pic>
        <p:nvPicPr>
          <p:cNvPr id="6" name="Imagen 5" descr="\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softred}{RGB}{242, 177, 149}&#10;\definecolor{softblue}{RGB}{178,223,219}&#10;\definecolor{softgray}{rgb}{0.75, 0.75, 0.75}&#10;&#10;&#10;\pagestyle{empty}&#10;&#10;&#10;\begin{document}&#10;\footnotesize&#10;\renewcommand\arraystretch{1.3}&#10;\arrayrulecolor{black}&#10;\begin{tabular}{c c c c c c c}&#10;\toprule&#10; &amp; Galones US &amp; Galones UK &amp; Barriles &amp; ft$^3$ &amp; m$^3$ \\&#10;\midrule&#10;litros &amp; 3.785 &amp; 4.546 &amp; 159 &amp; 28.3 &amp; 1000\\&#10;\bottomrule&#10;\end{tabular}&#10;&#10;\end{document}&#10;" title="IguanaTex Bitmap Display">
            <a:extLst>
              <a:ext uri="{FF2B5EF4-FFF2-40B4-BE49-F238E27FC236}">
                <a16:creationId xmlns:a16="http://schemas.microsoft.com/office/drawing/2014/main" id="{6EC90170-98B6-BC56-5F59-76D1910130B2}"/>
              </a:ext>
            </a:extLst>
          </p:cNvPr>
          <p:cNvPicPr>
            <a:picLocks noChangeAspect="1"/>
          </p:cNvPicPr>
          <p:nvPr>
            <p:custDataLst>
              <p:tags r:id="rId2"/>
            </p:custDataLst>
          </p:nvPr>
        </p:nvPicPr>
        <p:blipFill>
          <a:blip r:embed="rId7"/>
          <a:stretch>
            <a:fillRect/>
          </a:stretch>
        </p:blipFill>
        <p:spPr>
          <a:xfrm>
            <a:off x="1692238" y="4214958"/>
            <a:ext cx="6079522" cy="910113"/>
          </a:xfrm>
          <a:prstGeom prst="rect">
            <a:avLst/>
          </a:prstGeom>
        </p:spPr>
      </p:pic>
      <p:pic>
        <p:nvPicPr>
          <p:cNvPr id="4" name="Imagen 3" descr="IguanaTex Bitmap Display&#10;&#10;\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softred}{RGB}{242, 177, 149}&#10;\definecolor{softblue}{RGB}{178,223,219}&#10;\definecolor{softgray}{rgb}{0.75, 0.75, 0.75}&#10;&#10;&#10;\pagestyle{empty}&#10;&#10;&#10;\begin{document}&#10;\footnotesize&#10;\renewcommand\arraystretch{1.3}&#10;\arrayrulecolor{black}&#10;\begin{tabular}{c c c c c}&#10;\toprule&#10; &amp; tonelada métrica &amp; tonelada larga &amp; tonelada corta &amp; libras\\&#10;\midrule&#10;kg &amp; 1000 &amp; 1016 &amp; 907.2 &amp; 0.454 \\&#10;\bottomrule&#10;\end{tabular}&#10;&#10;\end{document}&#10;">
            <a:extLst>
              <a:ext uri="{FF2B5EF4-FFF2-40B4-BE49-F238E27FC236}">
                <a16:creationId xmlns:a16="http://schemas.microsoft.com/office/drawing/2014/main" id="{5E05DFAE-0102-FFA0-0FEC-12A04E7E0BB3}"/>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1472571" y="3127255"/>
            <a:ext cx="6518857" cy="9081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5" name="Google Shape;245;p21"/>
          <p:cNvSpPr txBox="1">
            <a:spLocks noGrp="1"/>
          </p:cNvSpPr>
          <p:nvPr>
            <p:ph type="body" idx="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
        <p:nvSpPr>
          <p:cNvPr id="244" name="Google Shape;244;p21"/>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11</a:t>
            </a:fld>
            <a:endParaRPr lang="es-ES" noProof="0" dirty="0"/>
          </a:p>
        </p:txBody>
      </p:sp>
      <p:sp>
        <p:nvSpPr>
          <p:cNvPr id="246" name="Google Shape;246;p21"/>
          <p:cNvSpPr txBox="1"/>
          <p:nvPr/>
        </p:nvSpPr>
        <p:spPr>
          <a:xfrm>
            <a:off x="899714" y="511268"/>
            <a:ext cx="77612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400" noProof="0" dirty="0">
                <a:solidFill>
                  <a:schemeClr val="dk1"/>
                </a:solidFill>
                <a:latin typeface="Times New Roman"/>
                <a:ea typeface="Times New Roman"/>
                <a:cs typeface="Times New Roman"/>
                <a:sym typeface="Times New Roman"/>
              </a:rPr>
              <a:t>Prefijos del Sistema Internacional</a:t>
            </a:r>
            <a:endParaRPr lang="es-ES" noProof="0" dirty="0"/>
          </a:p>
        </p:txBody>
      </p:sp>
      <p:pic>
        <p:nvPicPr>
          <p:cNvPr id="247" name="Google Shape;247;p21"/>
          <p:cNvPicPr preferRelativeResize="0"/>
          <p:nvPr/>
        </p:nvPicPr>
        <p:blipFill rotWithShape="1">
          <a:blip r:embed="rId3">
            <a:alphaModFix/>
          </a:blip>
          <a:srcRect t="14360"/>
          <a:stretch/>
        </p:blipFill>
        <p:spPr>
          <a:xfrm>
            <a:off x="1273034" y="1295400"/>
            <a:ext cx="7014648" cy="3479800"/>
          </a:xfrm>
          <a:prstGeom prst="rect">
            <a:avLst/>
          </a:prstGeom>
          <a:noFill/>
          <a:ln>
            <a:noFill/>
          </a:ln>
        </p:spPr>
      </p:pic>
      <p:sp>
        <p:nvSpPr>
          <p:cNvPr id="2" name="Rectángulo 1">
            <a:extLst>
              <a:ext uri="{FF2B5EF4-FFF2-40B4-BE49-F238E27FC236}">
                <a16:creationId xmlns:a16="http://schemas.microsoft.com/office/drawing/2014/main" id="{084F8BF3-6908-4AE3-BB31-AEC678F25864}"/>
              </a:ext>
            </a:extLst>
          </p:cNvPr>
          <p:cNvSpPr/>
          <p:nvPr/>
        </p:nvSpPr>
        <p:spPr>
          <a:xfrm>
            <a:off x="1468016" y="1996751"/>
            <a:ext cx="3103984" cy="29235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3" name="Google Shape;233;p20">
            <a:extLst>
              <a:ext uri="{FF2B5EF4-FFF2-40B4-BE49-F238E27FC236}">
                <a16:creationId xmlns:a16="http://schemas.microsoft.com/office/drawing/2014/main" id="{043118C7-521D-B6FE-2D32-E28E020757F5}"/>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2"/>
          <p:cNvSpPr txBox="1">
            <a:spLocks noGrp="1"/>
          </p:cNvSpPr>
          <p:nvPr>
            <p:ph type="body" idx="1"/>
          </p:nvPr>
        </p:nvSpPr>
        <p:spPr>
          <a:xfrm>
            <a:off x="914400" y="480377"/>
            <a:ext cx="8229600" cy="64992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Times New Roman"/>
              <a:buNone/>
            </a:pPr>
            <a:r>
              <a:rPr lang="es-ES" noProof="0" dirty="0"/>
              <a:t>Consideraciones</a:t>
            </a:r>
          </a:p>
        </p:txBody>
      </p:sp>
      <p:sp>
        <p:nvSpPr>
          <p:cNvPr id="253" name="Google Shape;253;p22"/>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12</a:t>
            </a:fld>
            <a:endParaRPr lang="es-ES" noProof="0" dirty="0"/>
          </a:p>
        </p:txBody>
      </p:sp>
      <p:sp>
        <p:nvSpPr>
          <p:cNvPr id="254" name="Google Shape;254;p22"/>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
        <p:nvSpPr>
          <p:cNvPr id="255" name="Google Shape;255;p22"/>
          <p:cNvSpPr txBox="1"/>
          <p:nvPr/>
        </p:nvSpPr>
        <p:spPr>
          <a:xfrm>
            <a:off x="942975" y="1130300"/>
            <a:ext cx="7761288" cy="438577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800"/>
              <a:buFont typeface="Times New Roman"/>
              <a:buNone/>
            </a:pPr>
            <a:r>
              <a:rPr lang="es-ES" sz="1800" noProof="0" dirty="0">
                <a:solidFill>
                  <a:schemeClr val="dk1"/>
                </a:solidFill>
                <a:latin typeface="Times New Roman"/>
                <a:ea typeface="Times New Roman"/>
                <a:cs typeface="Times New Roman"/>
                <a:sym typeface="Times New Roman"/>
              </a:rPr>
              <a:t>La </a:t>
            </a:r>
            <a:r>
              <a:rPr lang="es-ES" sz="1800" b="1" i="1" noProof="0" dirty="0">
                <a:solidFill>
                  <a:schemeClr val="dk1"/>
                </a:solidFill>
                <a:latin typeface="Times New Roman"/>
                <a:ea typeface="Times New Roman"/>
                <a:cs typeface="Times New Roman"/>
                <a:sym typeface="Times New Roman"/>
              </a:rPr>
              <a:t>forma de energía primaria</a:t>
            </a:r>
            <a:r>
              <a:rPr lang="es-ES" sz="1800" noProof="0" dirty="0">
                <a:solidFill>
                  <a:schemeClr val="dk1"/>
                </a:solidFill>
                <a:latin typeface="Times New Roman"/>
                <a:ea typeface="Times New Roman"/>
                <a:cs typeface="Times New Roman"/>
                <a:sym typeface="Times New Roman"/>
              </a:rPr>
              <a:t> es diferente en función de la fuente energética. Según la clasificación de la </a:t>
            </a:r>
            <a:r>
              <a:rPr lang="es-ES" sz="1800" i="1" noProof="0" dirty="0">
                <a:solidFill>
                  <a:schemeClr val="dk1"/>
                </a:solidFill>
                <a:latin typeface="Times New Roman"/>
                <a:ea typeface="Times New Roman"/>
                <a:cs typeface="Times New Roman"/>
                <a:sym typeface="Times New Roman"/>
              </a:rPr>
              <a:t>Agencia Internacional de la Energía</a:t>
            </a:r>
            <a:r>
              <a:rPr lang="es-ES" sz="1800" noProof="0" dirty="0">
                <a:solidFill>
                  <a:schemeClr val="dk1"/>
                </a:solidFill>
                <a:latin typeface="Times New Roman"/>
                <a:ea typeface="Times New Roman"/>
                <a:cs typeface="Times New Roman"/>
                <a:sym typeface="Times New Roman"/>
              </a:rPr>
              <a:t>:</a:t>
            </a:r>
            <a:endParaRPr lang="es-ES" noProof="0" dirty="0"/>
          </a:p>
          <a:p>
            <a:pPr marL="742950" marR="0" lvl="1" indent="-285750" algn="just" rtl="0">
              <a:lnSpc>
                <a:spcPct val="150000"/>
              </a:lnSpc>
              <a:spcBef>
                <a:spcPts val="0"/>
              </a:spcBef>
              <a:spcAft>
                <a:spcPts val="0"/>
              </a:spcAft>
              <a:buClr>
                <a:schemeClr val="dk1"/>
              </a:buClr>
              <a:buSzPts val="1800"/>
              <a:buFont typeface="Arial"/>
              <a:buChar char="•"/>
            </a:pPr>
            <a:r>
              <a:rPr lang="es-ES" sz="1800" b="0" i="1" u="none" strike="noStrike" cap="none" noProof="0" dirty="0">
                <a:solidFill>
                  <a:schemeClr val="dk1"/>
                </a:solidFill>
                <a:latin typeface="Times New Roman"/>
                <a:ea typeface="Times New Roman"/>
                <a:cs typeface="Times New Roman"/>
                <a:sym typeface="Times New Roman"/>
              </a:rPr>
              <a:t>Energía combustible (química)</a:t>
            </a:r>
            <a:r>
              <a:rPr lang="es-ES" sz="1800" b="0" i="0" u="none" strike="noStrike" cap="none" noProof="0" dirty="0">
                <a:solidFill>
                  <a:schemeClr val="dk1"/>
                </a:solidFill>
                <a:latin typeface="Times New Roman"/>
                <a:ea typeface="Times New Roman"/>
                <a:cs typeface="Times New Roman"/>
                <a:sym typeface="Times New Roman"/>
              </a:rPr>
              <a:t>. Disponible en los combustibles fósiles (carbón, petróleo, gas natural), biomasa, etc. La </a:t>
            </a:r>
            <a:r>
              <a:rPr lang="es-ES" sz="1800" i="0" u="none" strike="noStrike" cap="none" noProof="0" dirty="0">
                <a:solidFill>
                  <a:schemeClr val="dk1"/>
                </a:solidFill>
                <a:latin typeface="Times New Roman"/>
                <a:ea typeface="Times New Roman"/>
                <a:cs typeface="Times New Roman"/>
                <a:sym typeface="Times New Roman"/>
              </a:rPr>
              <a:t>forma primaria de energía</a:t>
            </a:r>
            <a:r>
              <a:rPr lang="es-ES" sz="1800" b="0" i="0" u="none" strike="noStrike" cap="none" noProof="0" dirty="0">
                <a:solidFill>
                  <a:schemeClr val="dk1"/>
                </a:solidFill>
                <a:latin typeface="Times New Roman"/>
                <a:ea typeface="Times New Roman"/>
                <a:cs typeface="Times New Roman"/>
                <a:sym typeface="Times New Roman"/>
              </a:rPr>
              <a:t> es la energía química almacenada en el propio combustible, caracterizada por el poder calorífico del combustible.</a:t>
            </a:r>
            <a:endParaRPr lang="es-ES" noProof="0" dirty="0"/>
          </a:p>
          <a:p>
            <a:pPr marL="742950" marR="0" lvl="1" indent="-285750" algn="just" rtl="0">
              <a:lnSpc>
                <a:spcPct val="150000"/>
              </a:lnSpc>
              <a:spcBef>
                <a:spcPts val="0"/>
              </a:spcBef>
              <a:spcAft>
                <a:spcPts val="0"/>
              </a:spcAft>
              <a:buClr>
                <a:schemeClr val="dk1"/>
              </a:buClr>
              <a:buSzPts val="1800"/>
              <a:buFont typeface="Arial"/>
              <a:buChar char="•"/>
            </a:pPr>
            <a:r>
              <a:rPr lang="es-ES" sz="1800" b="0" i="1" u="none" strike="noStrike" cap="none" noProof="0" dirty="0">
                <a:solidFill>
                  <a:schemeClr val="dk1"/>
                </a:solidFill>
                <a:latin typeface="Times New Roman"/>
                <a:ea typeface="Times New Roman"/>
                <a:cs typeface="Times New Roman"/>
                <a:sym typeface="Times New Roman"/>
              </a:rPr>
              <a:t>Calor</a:t>
            </a:r>
            <a:r>
              <a:rPr lang="es-ES" sz="1800" b="0" i="0" u="none" strike="noStrike" cap="none" noProof="0" dirty="0">
                <a:solidFill>
                  <a:schemeClr val="dk1"/>
                </a:solidFill>
                <a:latin typeface="Times New Roman"/>
                <a:ea typeface="Times New Roman"/>
                <a:cs typeface="Times New Roman"/>
                <a:sym typeface="Times New Roman"/>
              </a:rPr>
              <a:t>. La energía nuclear, la energía geotérmica y la solar térmica tienen como forma primaria de energía el calor.</a:t>
            </a:r>
            <a:endParaRPr lang="es-ES" noProof="0" dirty="0"/>
          </a:p>
          <a:p>
            <a:pPr marL="742950" marR="0" lvl="1" indent="-285750" algn="just" rtl="0">
              <a:lnSpc>
                <a:spcPct val="150000"/>
              </a:lnSpc>
              <a:spcBef>
                <a:spcPts val="0"/>
              </a:spcBef>
              <a:spcAft>
                <a:spcPts val="0"/>
              </a:spcAft>
              <a:buClr>
                <a:schemeClr val="dk1"/>
              </a:buClr>
              <a:buSzPts val="1800"/>
              <a:buFont typeface="Arial"/>
              <a:buChar char="•"/>
            </a:pPr>
            <a:r>
              <a:rPr lang="es-ES" sz="1800" b="0" i="1" u="none" strike="noStrike" cap="none" noProof="0" dirty="0">
                <a:solidFill>
                  <a:schemeClr val="dk1"/>
                </a:solidFill>
                <a:latin typeface="Times New Roman"/>
                <a:ea typeface="Times New Roman"/>
                <a:cs typeface="Times New Roman"/>
                <a:sym typeface="Times New Roman"/>
              </a:rPr>
              <a:t>Electricidad</a:t>
            </a:r>
            <a:r>
              <a:rPr lang="es-ES" sz="1800" b="0" i="0" u="none" strike="noStrike" cap="none" noProof="0" dirty="0">
                <a:solidFill>
                  <a:schemeClr val="dk1"/>
                </a:solidFill>
                <a:latin typeface="Times New Roman"/>
                <a:ea typeface="Times New Roman"/>
                <a:cs typeface="Times New Roman"/>
                <a:sym typeface="Times New Roman"/>
              </a:rPr>
              <a:t>. La energía hidráulica, la procedente del viento (eólica, mareomotriz, etc.), la solar fotovoltaica, termoeléctrica tienen como primera forma de energía la producción eléctrica.</a:t>
            </a:r>
            <a:endParaRPr lang="es-ES" noProof="0" dirty="0"/>
          </a:p>
        </p:txBody>
      </p:sp>
      <p:sp>
        <p:nvSpPr>
          <p:cNvPr id="256" name="Google Shape;256;p22"/>
          <p:cNvSpPr txBox="1"/>
          <p:nvPr/>
        </p:nvSpPr>
        <p:spPr>
          <a:xfrm>
            <a:off x="708819" y="5669737"/>
            <a:ext cx="8229600" cy="707886"/>
          </a:xfrm>
          <a:prstGeom prst="rect">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Times New Roman"/>
              <a:buNone/>
            </a:pPr>
            <a:r>
              <a:rPr lang="es-ES" sz="2000" noProof="0" dirty="0">
                <a:solidFill>
                  <a:schemeClr val="dk1"/>
                </a:solidFill>
                <a:latin typeface="Times New Roman"/>
                <a:ea typeface="Times New Roman"/>
                <a:cs typeface="Times New Roman"/>
                <a:sym typeface="Times New Roman"/>
              </a:rPr>
              <a:t>Para poder comparar las diferentes fuentes primarias de energía es necesario calcular la </a:t>
            </a:r>
            <a:r>
              <a:rPr lang="es-ES" sz="2000" b="1" i="1" noProof="0" dirty="0">
                <a:solidFill>
                  <a:schemeClr val="dk1"/>
                </a:solidFill>
                <a:latin typeface="Times New Roman"/>
                <a:ea typeface="Times New Roman"/>
                <a:cs typeface="Times New Roman"/>
                <a:sym typeface="Times New Roman"/>
              </a:rPr>
              <a:t>energía primaria equivalente</a:t>
            </a:r>
            <a:r>
              <a:rPr lang="es-ES" sz="2000" noProof="0" dirty="0">
                <a:solidFill>
                  <a:schemeClr val="dk1"/>
                </a:solidFill>
                <a:latin typeface="Times New Roman"/>
                <a:ea typeface="Times New Roman"/>
                <a:cs typeface="Times New Roman"/>
                <a:sym typeface="Times New Roman"/>
              </a:rPr>
              <a:t>. </a:t>
            </a:r>
            <a:endParaRPr lang="es-ES"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2" name="Google Shape;262;p23"/>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13</a:t>
            </a:fld>
            <a:endParaRPr lang="es-ES" noProof="0" dirty="0"/>
          </a:p>
        </p:txBody>
      </p:sp>
      <p:sp>
        <p:nvSpPr>
          <p:cNvPr id="264" name="Google Shape;264;p23"/>
          <p:cNvSpPr txBox="1"/>
          <p:nvPr/>
        </p:nvSpPr>
        <p:spPr>
          <a:xfrm>
            <a:off x="598414" y="956457"/>
            <a:ext cx="8450407" cy="6001603"/>
          </a:xfrm>
          <a:prstGeom prst="rect">
            <a:avLst/>
          </a:prstGeom>
          <a:noFill/>
          <a:ln>
            <a:noFill/>
          </a:ln>
        </p:spPr>
        <p:txBody>
          <a:bodyPr spcFirstLastPara="1" wrap="square" lIns="91425" tIns="45700" rIns="91425" bIns="45700" anchor="t" anchorCtr="0">
            <a:spAutoFit/>
          </a:bodyPr>
          <a:lstStyle/>
          <a:p>
            <a:pPr algn="just">
              <a:buClr>
                <a:schemeClr val="dk1"/>
              </a:buClr>
              <a:buSzPts val="2000"/>
            </a:pPr>
            <a:r>
              <a:rPr lang="es-ES" sz="2000" b="1" u="sng" noProof="0" dirty="0">
                <a:solidFill>
                  <a:schemeClr val="dk1"/>
                </a:solidFill>
                <a:latin typeface="Times New Roman"/>
                <a:ea typeface="Times New Roman"/>
                <a:cs typeface="Times New Roman"/>
                <a:sym typeface="Times New Roman"/>
              </a:rPr>
              <a:t>Método de la energía física contenida:</a:t>
            </a:r>
            <a:r>
              <a:rPr lang="es-ES" sz="2000" b="1" noProof="0" dirty="0">
                <a:solidFill>
                  <a:schemeClr val="dk1"/>
                </a:solidFill>
                <a:latin typeface="Times New Roman"/>
                <a:ea typeface="Times New Roman"/>
                <a:cs typeface="Times New Roman"/>
                <a:sym typeface="Times New Roman"/>
              </a:rPr>
              <a:t> </a:t>
            </a:r>
          </a:p>
          <a:p>
            <a:pPr algn="just">
              <a:buClr>
                <a:schemeClr val="dk1"/>
              </a:buClr>
              <a:buSzPts val="2000"/>
            </a:pPr>
            <a:r>
              <a:rPr lang="es-ES" sz="1600" noProof="0" dirty="0">
                <a:solidFill>
                  <a:schemeClr val="dk1"/>
                </a:solidFill>
                <a:latin typeface="Times New Roman"/>
                <a:cs typeface="Times New Roman"/>
                <a:sym typeface="Times New Roman"/>
              </a:rPr>
              <a:t>El método de la energía física contenida estima la energía primaria equivalente generada por una </a:t>
            </a:r>
            <a:r>
              <a:rPr lang="es-ES" sz="1600" b="1" noProof="0" dirty="0">
                <a:solidFill>
                  <a:schemeClr val="dk1"/>
                </a:solidFill>
                <a:latin typeface="Times New Roman"/>
                <a:cs typeface="Times New Roman"/>
                <a:sym typeface="Times New Roman"/>
              </a:rPr>
              <a:t>fuente de energía no combustible </a:t>
            </a:r>
            <a:r>
              <a:rPr lang="es-ES" sz="1600" noProof="0" dirty="0">
                <a:solidFill>
                  <a:schemeClr val="dk1"/>
                </a:solidFill>
                <a:latin typeface="Times New Roman"/>
                <a:cs typeface="Times New Roman"/>
                <a:sym typeface="Times New Roman"/>
              </a:rPr>
              <a:t>basada en la </a:t>
            </a:r>
            <a:r>
              <a:rPr lang="es-ES" sz="1600" b="1" noProof="0" dirty="0">
                <a:solidFill>
                  <a:schemeClr val="dk1"/>
                </a:solidFill>
                <a:latin typeface="Times New Roman"/>
                <a:cs typeface="Times New Roman"/>
                <a:sym typeface="Times New Roman"/>
              </a:rPr>
              <a:t>cantidad de calor </a:t>
            </a:r>
            <a:r>
              <a:rPr lang="es-ES" sz="1600" noProof="0" dirty="0">
                <a:solidFill>
                  <a:schemeClr val="dk1"/>
                </a:solidFill>
                <a:latin typeface="Times New Roman"/>
                <a:cs typeface="Times New Roman"/>
                <a:sym typeface="Times New Roman"/>
              </a:rPr>
              <a:t>producido. Tiene especial relevancia para las formas primarias de energía basadas en calor, como la energía nuclear o la geotérmica.</a:t>
            </a:r>
            <a:r>
              <a:rPr lang="es-ES" sz="2000" u="sng" noProof="0" dirty="0">
                <a:solidFill>
                  <a:schemeClr val="dk1"/>
                </a:solidFill>
                <a:latin typeface="Times New Roman"/>
                <a:ea typeface="Times New Roman"/>
                <a:cs typeface="Times New Roman"/>
                <a:sym typeface="Times New Roman"/>
              </a:rPr>
              <a:t> </a:t>
            </a:r>
          </a:p>
          <a:p>
            <a:pPr marL="645750" indent="-285750" algn="just">
              <a:buClr>
                <a:schemeClr val="dk1"/>
              </a:buClr>
              <a:buSzPts val="2000"/>
              <a:buFont typeface="Arial" panose="020B0604020202020204" pitchFamily="34" charset="0"/>
              <a:buChar char="•"/>
            </a:pPr>
            <a:r>
              <a:rPr lang="es-ES" sz="1600" noProof="0" dirty="0">
                <a:solidFill>
                  <a:schemeClr val="dk1"/>
                </a:solidFill>
                <a:latin typeface="Times New Roman"/>
                <a:cs typeface="Times New Roman"/>
                <a:sym typeface="Times New Roman"/>
              </a:rPr>
              <a:t>Ventajas: refleja la cantidad real de energía contenida en el combustible.</a:t>
            </a:r>
          </a:p>
          <a:p>
            <a:pPr marL="645750" indent="-285750" algn="just">
              <a:buClr>
                <a:schemeClr val="dk1"/>
              </a:buClr>
              <a:buSzPts val="2000"/>
              <a:buFont typeface="Arial" panose="020B0604020202020204" pitchFamily="34" charset="0"/>
              <a:buChar char="•"/>
            </a:pPr>
            <a:r>
              <a:rPr lang="es-ES" sz="1600" noProof="0" dirty="0">
                <a:solidFill>
                  <a:schemeClr val="dk1"/>
                </a:solidFill>
                <a:latin typeface="Times New Roman"/>
                <a:cs typeface="Times New Roman"/>
                <a:sym typeface="Times New Roman"/>
              </a:rPr>
              <a:t>Desventajas: subestima las energías renovables como fotovoltaica o hidráulica que generan directamente electricidad y necesita de una eficiencia de conversión para el calor producido (nuclear de 33 %, geotérmica 10 %, hidráulica 100 %, etc.).</a:t>
            </a:r>
          </a:p>
          <a:p>
            <a:pPr algn="just">
              <a:buClr>
                <a:schemeClr val="dk1"/>
              </a:buClr>
              <a:buSzPts val="2000"/>
            </a:pPr>
            <a:r>
              <a:rPr lang="es-ES" sz="2000" b="1" u="sng" noProof="0" dirty="0">
                <a:solidFill>
                  <a:schemeClr val="dk1"/>
                </a:solidFill>
                <a:latin typeface="Times New Roman"/>
                <a:ea typeface="Times New Roman"/>
                <a:cs typeface="Times New Roman"/>
                <a:sym typeface="Times New Roman"/>
              </a:rPr>
              <a:t>Método de sustitución parcial: </a:t>
            </a:r>
          </a:p>
          <a:p>
            <a:pPr algn="just">
              <a:buClr>
                <a:schemeClr val="dk1"/>
              </a:buClr>
              <a:buSzPts val="2000"/>
            </a:pPr>
            <a:r>
              <a:rPr lang="es-ES" sz="1600" noProof="0" dirty="0">
                <a:solidFill>
                  <a:schemeClr val="dk1"/>
                </a:solidFill>
                <a:latin typeface="Times New Roman"/>
                <a:cs typeface="Times New Roman"/>
                <a:sym typeface="Times New Roman"/>
              </a:rPr>
              <a:t>El método de sustitución parcial estima la energía primaria equivalente de una </a:t>
            </a:r>
            <a:r>
              <a:rPr lang="es-ES" sz="1600" b="1" noProof="0" dirty="0">
                <a:solidFill>
                  <a:schemeClr val="dk1"/>
                </a:solidFill>
                <a:latin typeface="Times New Roman"/>
                <a:cs typeface="Times New Roman"/>
                <a:sym typeface="Times New Roman"/>
              </a:rPr>
              <a:t>fuente de energía no combustible</a:t>
            </a:r>
            <a:r>
              <a:rPr lang="es-ES" sz="1600" noProof="0" dirty="0">
                <a:solidFill>
                  <a:schemeClr val="dk1"/>
                </a:solidFill>
                <a:latin typeface="Times New Roman"/>
                <a:cs typeface="Times New Roman"/>
                <a:sym typeface="Times New Roman"/>
              </a:rPr>
              <a:t> considerando qué cantidad de </a:t>
            </a:r>
            <a:r>
              <a:rPr lang="es-ES" sz="1600" b="1" noProof="0" dirty="0">
                <a:solidFill>
                  <a:schemeClr val="dk1"/>
                </a:solidFill>
                <a:latin typeface="Times New Roman"/>
                <a:cs typeface="Times New Roman"/>
                <a:sym typeface="Times New Roman"/>
              </a:rPr>
              <a:t>combustible fósil </a:t>
            </a:r>
            <a:r>
              <a:rPr lang="es-ES" sz="1600" noProof="0" dirty="0">
                <a:solidFill>
                  <a:schemeClr val="dk1"/>
                </a:solidFill>
                <a:latin typeface="Times New Roman"/>
                <a:cs typeface="Times New Roman"/>
                <a:sym typeface="Times New Roman"/>
              </a:rPr>
              <a:t>se necesitaría para producir la </a:t>
            </a:r>
            <a:r>
              <a:rPr lang="es-ES" sz="1600" b="1" noProof="0" dirty="0">
                <a:solidFill>
                  <a:schemeClr val="dk1"/>
                </a:solidFill>
                <a:latin typeface="Times New Roman"/>
                <a:cs typeface="Times New Roman"/>
                <a:sym typeface="Times New Roman"/>
              </a:rPr>
              <a:t>misma cantidad de electricidad</a:t>
            </a:r>
            <a:r>
              <a:rPr lang="es-ES" sz="1600" noProof="0" dirty="0">
                <a:solidFill>
                  <a:schemeClr val="dk1"/>
                </a:solidFill>
                <a:latin typeface="Times New Roman"/>
                <a:cs typeface="Times New Roman"/>
                <a:sym typeface="Times New Roman"/>
              </a:rPr>
              <a:t>.</a:t>
            </a:r>
          </a:p>
          <a:p>
            <a:pPr marL="645750" indent="-285750" algn="just">
              <a:buClr>
                <a:schemeClr val="dk1"/>
              </a:buClr>
              <a:buSzPts val="2000"/>
              <a:buFont typeface="Arial" panose="020B0604020202020204" pitchFamily="34" charset="0"/>
              <a:buChar char="•"/>
            </a:pPr>
            <a:r>
              <a:rPr lang="es-ES" sz="1600" noProof="0" dirty="0">
                <a:solidFill>
                  <a:schemeClr val="dk1"/>
                </a:solidFill>
                <a:latin typeface="Times New Roman"/>
                <a:cs typeface="Times New Roman"/>
                <a:sym typeface="Times New Roman"/>
              </a:rPr>
              <a:t>Ventajas: permite conocer la cantidad de energía renovable equiparable a la de combustible fósil.</a:t>
            </a:r>
          </a:p>
          <a:p>
            <a:pPr marL="645750" indent="-285750" algn="just">
              <a:buClr>
                <a:schemeClr val="dk1"/>
              </a:buClr>
              <a:buSzPts val="2000"/>
              <a:buFont typeface="Arial" panose="020B0604020202020204" pitchFamily="34" charset="0"/>
              <a:buChar char="•"/>
            </a:pPr>
            <a:r>
              <a:rPr lang="es-ES" sz="1600" noProof="0" dirty="0">
                <a:solidFill>
                  <a:schemeClr val="dk1"/>
                </a:solidFill>
                <a:latin typeface="Times New Roman"/>
                <a:cs typeface="Times New Roman"/>
                <a:sym typeface="Times New Roman"/>
              </a:rPr>
              <a:t>Desventajas: depende de factores de conversión comparable con la eficiencia de una central térmica convencional (carbón 38 %). No representa la energía intrínseca de la fuente.</a:t>
            </a:r>
          </a:p>
          <a:p>
            <a:pPr algn="just">
              <a:buClr>
                <a:schemeClr val="dk1"/>
              </a:buClr>
              <a:buSzPts val="2000"/>
            </a:pPr>
            <a:r>
              <a:rPr lang="es-ES" sz="2000" b="1" u="sng" noProof="0" dirty="0">
                <a:solidFill>
                  <a:schemeClr val="dk1"/>
                </a:solidFill>
                <a:latin typeface="Times New Roman"/>
                <a:ea typeface="Times New Roman"/>
                <a:cs typeface="Times New Roman"/>
                <a:sym typeface="Times New Roman"/>
              </a:rPr>
              <a:t>Método equivalente directo: </a:t>
            </a:r>
          </a:p>
          <a:p>
            <a:pPr algn="just">
              <a:buClr>
                <a:schemeClr val="dk1"/>
              </a:buClr>
              <a:buSzPts val="2000"/>
            </a:pPr>
            <a:r>
              <a:rPr lang="es-ES" sz="1600" noProof="0" dirty="0">
                <a:solidFill>
                  <a:schemeClr val="dk1"/>
                </a:solidFill>
                <a:latin typeface="Times New Roman"/>
                <a:cs typeface="Times New Roman"/>
                <a:sym typeface="Times New Roman"/>
              </a:rPr>
              <a:t>El método equivalente directo calcula la energía primaria equivalente como la </a:t>
            </a:r>
            <a:r>
              <a:rPr lang="es-ES" sz="1600" b="1" noProof="0" dirty="0">
                <a:solidFill>
                  <a:schemeClr val="dk1"/>
                </a:solidFill>
                <a:latin typeface="Times New Roman"/>
                <a:cs typeface="Times New Roman"/>
                <a:sym typeface="Times New Roman"/>
              </a:rPr>
              <a:t>cantidad de electricidad generada </a:t>
            </a:r>
            <a:r>
              <a:rPr lang="es-ES" sz="1600" noProof="0" dirty="0">
                <a:solidFill>
                  <a:schemeClr val="dk1"/>
                </a:solidFill>
                <a:latin typeface="Times New Roman"/>
                <a:cs typeface="Times New Roman"/>
                <a:sym typeface="Times New Roman"/>
              </a:rPr>
              <a:t>por una fuente de energía.</a:t>
            </a:r>
          </a:p>
          <a:p>
            <a:pPr marL="645750" indent="-285750" algn="just">
              <a:buClr>
                <a:schemeClr val="dk1"/>
              </a:buClr>
              <a:buSzPts val="2000"/>
              <a:buFont typeface="Arial" panose="020B0604020202020204" pitchFamily="34" charset="0"/>
              <a:buChar char="•"/>
            </a:pPr>
            <a:r>
              <a:rPr lang="es-ES" sz="1600" noProof="0" dirty="0">
                <a:solidFill>
                  <a:schemeClr val="dk1"/>
                </a:solidFill>
                <a:latin typeface="Times New Roman"/>
                <a:cs typeface="Times New Roman"/>
                <a:sym typeface="Times New Roman"/>
              </a:rPr>
              <a:t>Ventajas: método simple con una conversión directa.</a:t>
            </a:r>
          </a:p>
          <a:p>
            <a:pPr marL="645750" indent="-285750" algn="just">
              <a:buClr>
                <a:schemeClr val="dk1"/>
              </a:buClr>
              <a:buSzPts val="2000"/>
              <a:buFont typeface="Arial" panose="020B0604020202020204" pitchFamily="34" charset="0"/>
              <a:buChar char="•"/>
            </a:pPr>
            <a:r>
              <a:rPr lang="es-ES" sz="1600" noProof="0" dirty="0">
                <a:solidFill>
                  <a:schemeClr val="dk1"/>
                </a:solidFill>
                <a:latin typeface="Times New Roman"/>
                <a:cs typeface="Times New Roman"/>
                <a:sym typeface="Times New Roman"/>
              </a:rPr>
              <a:t>Desventajas: los resultados no reflejan la cantidad de forma de energía no eléctrica empleada, ignora las pérdidas.</a:t>
            </a:r>
            <a:endParaRPr lang="es-ES" noProof="0" dirty="0"/>
          </a:p>
        </p:txBody>
      </p:sp>
      <p:sp>
        <p:nvSpPr>
          <p:cNvPr id="11" name="Google Shape;261;p23">
            <a:extLst>
              <a:ext uri="{FF2B5EF4-FFF2-40B4-BE49-F238E27FC236}">
                <a16:creationId xmlns:a16="http://schemas.microsoft.com/office/drawing/2014/main" id="{24658AA1-6A79-49DB-AC54-0514C0E5610A}"/>
              </a:ext>
            </a:extLst>
          </p:cNvPr>
          <p:cNvSpPr txBox="1">
            <a:spLocks/>
          </p:cNvSpPr>
          <p:nvPr/>
        </p:nvSpPr>
        <p:spPr>
          <a:xfrm>
            <a:off x="708818" y="473703"/>
            <a:ext cx="8229600" cy="64992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a:spcBef>
                <a:spcPts val="0"/>
              </a:spcBef>
              <a:buFont typeface="Times New Roman"/>
              <a:buNone/>
            </a:pPr>
            <a:r>
              <a:rPr lang="es-ES" sz="2400" noProof="0" dirty="0">
                <a:sym typeface="Arial"/>
              </a:rPr>
              <a:t>Métodos para calcular la energía primaria equivalente</a:t>
            </a:r>
          </a:p>
        </p:txBody>
      </p:sp>
      <p:sp>
        <p:nvSpPr>
          <p:cNvPr id="2" name="Google Shape;233;p20">
            <a:extLst>
              <a:ext uri="{FF2B5EF4-FFF2-40B4-BE49-F238E27FC236}">
                <a16:creationId xmlns:a16="http://schemas.microsoft.com/office/drawing/2014/main" id="{44D19CBC-AEBD-9F8B-7EFB-E708A6F8AC3C}"/>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2" name="Google Shape;262;p23"/>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14</a:t>
            </a:fld>
            <a:endParaRPr lang="es-ES" noProof="0" dirty="0"/>
          </a:p>
        </p:txBody>
      </p:sp>
      <p:sp>
        <p:nvSpPr>
          <p:cNvPr id="264" name="Google Shape;264;p23"/>
          <p:cNvSpPr txBox="1"/>
          <p:nvPr/>
        </p:nvSpPr>
        <p:spPr>
          <a:xfrm>
            <a:off x="840058" y="1277302"/>
            <a:ext cx="7761288" cy="4924385"/>
          </a:xfrm>
          <a:prstGeom prst="rect">
            <a:avLst/>
          </a:prstGeom>
          <a:noFill/>
          <a:ln>
            <a:noFill/>
          </a:ln>
        </p:spPr>
        <p:txBody>
          <a:bodyPr spcFirstLastPara="1" wrap="square" lIns="91425" tIns="45700" rIns="91425" bIns="45700" anchor="t" anchorCtr="0">
            <a:spAutoFit/>
          </a:bodyPr>
          <a:lstStyle/>
          <a:p>
            <a:pPr algn="just"/>
            <a:r>
              <a:rPr lang="es-ES" sz="2000" noProof="0" dirty="0">
                <a:latin typeface="Times New Roman" panose="02020603050405020304" pitchFamily="18" charset="0"/>
                <a:cs typeface="Times New Roman" panose="02020603050405020304" pitchFamily="18" charset="0"/>
              </a:rPr>
              <a:t>La elección del método depende del </a:t>
            </a:r>
            <a:r>
              <a:rPr lang="es-ES" sz="2000" b="1" noProof="0" dirty="0">
                <a:latin typeface="Times New Roman" panose="02020603050405020304" pitchFamily="18" charset="0"/>
                <a:cs typeface="Times New Roman" panose="02020603050405020304" pitchFamily="18" charset="0"/>
              </a:rPr>
              <a:t>propósito del cálculo</a:t>
            </a:r>
            <a:r>
              <a:rPr lang="es-ES" sz="2000" noProof="0" dirty="0">
                <a:latin typeface="Times New Roman" panose="02020603050405020304" pitchFamily="18" charset="0"/>
                <a:cs typeface="Times New Roman" panose="02020603050405020304" pitchFamily="18" charset="0"/>
              </a:rPr>
              <a:t>.</a:t>
            </a:r>
          </a:p>
          <a:p>
            <a:pPr algn="just"/>
            <a:endParaRPr lang="es-ES" sz="2000" noProof="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s-ES" sz="2000" noProof="0" dirty="0">
                <a:latin typeface="Times New Roman" panose="02020603050405020304" pitchFamily="18" charset="0"/>
                <a:cs typeface="Times New Roman" panose="02020603050405020304" pitchFamily="18" charset="0"/>
              </a:rPr>
              <a:t>Si quieres entender la </a:t>
            </a:r>
            <a:r>
              <a:rPr lang="es-ES" sz="2000" b="1" noProof="0" dirty="0">
                <a:latin typeface="Times New Roman" panose="02020603050405020304" pitchFamily="18" charset="0"/>
                <a:cs typeface="Times New Roman" panose="02020603050405020304" pitchFamily="18" charset="0"/>
              </a:rPr>
              <a:t>huella de recursos primarios y las pérdidas inherentes a la conversión de calor a electricidad</a:t>
            </a:r>
            <a:r>
              <a:rPr lang="es-ES" sz="2000" noProof="0" dirty="0">
                <a:latin typeface="Times New Roman" panose="02020603050405020304" pitchFamily="18" charset="0"/>
                <a:cs typeface="Times New Roman" panose="02020603050405020304" pitchFamily="18" charset="0"/>
              </a:rPr>
              <a:t> (para nuclear o geotermia), el </a:t>
            </a:r>
            <a:r>
              <a:rPr lang="es-ES" sz="2000" b="1" noProof="0" dirty="0">
                <a:latin typeface="Times New Roman" panose="02020603050405020304" pitchFamily="18" charset="0"/>
                <a:cs typeface="Times New Roman" panose="02020603050405020304" pitchFamily="18" charset="0"/>
              </a:rPr>
              <a:t>Método de la Energía Física Contenida</a:t>
            </a:r>
            <a:r>
              <a:rPr lang="es-ES" sz="2000" noProof="0" dirty="0">
                <a:latin typeface="Times New Roman" panose="02020603050405020304" pitchFamily="18" charset="0"/>
                <a:cs typeface="Times New Roman" panose="02020603050405020304" pitchFamily="18" charset="0"/>
              </a:rPr>
              <a:t> es más pertinente.</a:t>
            </a:r>
          </a:p>
          <a:p>
            <a:pPr marL="342900" indent="-342900" algn="just">
              <a:buFont typeface="Arial" panose="020B0604020202020204" pitchFamily="34" charset="0"/>
              <a:buChar char="•"/>
            </a:pPr>
            <a:endParaRPr lang="es-ES" sz="2000" noProof="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s-ES" sz="2000" noProof="0" dirty="0">
                <a:latin typeface="Times New Roman" panose="02020603050405020304" pitchFamily="18" charset="0"/>
                <a:cs typeface="Times New Roman" panose="02020603050405020304" pitchFamily="18" charset="0"/>
              </a:rPr>
              <a:t>Si tu objetivo es cuantificar el </a:t>
            </a:r>
            <a:r>
              <a:rPr lang="es-ES" sz="2000" b="1" noProof="0" dirty="0">
                <a:latin typeface="Times New Roman" panose="02020603050405020304" pitchFamily="18" charset="0"/>
                <a:cs typeface="Times New Roman" panose="02020603050405020304" pitchFamily="18" charset="0"/>
              </a:rPr>
              <a:t>ahorro de combustibles fósiles y las emisiones de CO2 evitadas</a:t>
            </a:r>
            <a:r>
              <a:rPr lang="es-ES" sz="2000" noProof="0" dirty="0">
                <a:latin typeface="Times New Roman" panose="02020603050405020304" pitchFamily="18" charset="0"/>
                <a:cs typeface="Times New Roman" panose="02020603050405020304" pitchFamily="18" charset="0"/>
              </a:rPr>
              <a:t> gracias a las energías no combustibles, el </a:t>
            </a:r>
            <a:r>
              <a:rPr lang="es-ES" sz="2000" b="1" noProof="0" dirty="0">
                <a:latin typeface="Times New Roman" panose="02020603050405020304" pitchFamily="18" charset="0"/>
                <a:cs typeface="Times New Roman" panose="02020603050405020304" pitchFamily="18" charset="0"/>
              </a:rPr>
              <a:t>Método de Sustitución Parcial</a:t>
            </a:r>
            <a:r>
              <a:rPr lang="es-ES" sz="2000" noProof="0" dirty="0">
                <a:latin typeface="Times New Roman" panose="02020603050405020304" pitchFamily="18" charset="0"/>
                <a:cs typeface="Times New Roman" panose="02020603050405020304" pitchFamily="18" charset="0"/>
              </a:rPr>
              <a:t> es muy útil.</a:t>
            </a:r>
          </a:p>
          <a:p>
            <a:pPr marL="342900" indent="-342900" algn="just">
              <a:buFont typeface="Arial" panose="020B0604020202020204" pitchFamily="34" charset="0"/>
              <a:buChar char="•"/>
            </a:pPr>
            <a:endParaRPr lang="es-ES" sz="2000" noProof="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s-ES" sz="2000" noProof="0" dirty="0">
                <a:latin typeface="Times New Roman" panose="02020603050405020304" pitchFamily="18" charset="0"/>
                <a:cs typeface="Times New Roman" panose="02020603050405020304" pitchFamily="18" charset="0"/>
              </a:rPr>
              <a:t>El </a:t>
            </a:r>
            <a:r>
              <a:rPr lang="es-ES" sz="2000" b="1" noProof="0" dirty="0">
                <a:latin typeface="Times New Roman" panose="02020603050405020304" pitchFamily="18" charset="0"/>
                <a:cs typeface="Times New Roman" panose="02020603050405020304" pitchFamily="18" charset="0"/>
              </a:rPr>
              <a:t>Método Equivalente Directo</a:t>
            </a:r>
            <a:r>
              <a:rPr lang="es-ES" sz="2000" noProof="0" dirty="0">
                <a:latin typeface="Times New Roman" panose="02020603050405020304" pitchFamily="18" charset="0"/>
                <a:cs typeface="Times New Roman" panose="02020603050405020304" pitchFamily="18" charset="0"/>
              </a:rPr>
              <a:t> es el más sencillo, pero su simplicidad lo hace menos representativo de la realidad energética compleja y no permite comparaciones justas entre distintas tecnologías.</a:t>
            </a:r>
          </a:p>
          <a:p>
            <a:pPr marL="0" marR="0" lvl="0" indent="0" algn="just" rtl="0">
              <a:spcBef>
                <a:spcPts val="0"/>
              </a:spcBef>
              <a:spcAft>
                <a:spcPts val="0"/>
              </a:spcAft>
              <a:buClr>
                <a:schemeClr val="dk1"/>
              </a:buClr>
              <a:buSzPts val="2000"/>
              <a:buFont typeface="Times New Roman"/>
              <a:buNone/>
            </a:pPr>
            <a:endParaRPr lang="es-ES" noProof="0" dirty="0"/>
          </a:p>
        </p:txBody>
      </p:sp>
      <p:sp>
        <p:nvSpPr>
          <p:cNvPr id="11" name="Google Shape;261;p23">
            <a:extLst>
              <a:ext uri="{FF2B5EF4-FFF2-40B4-BE49-F238E27FC236}">
                <a16:creationId xmlns:a16="http://schemas.microsoft.com/office/drawing/2014/main" id="{24658AA1-6A79-49DB-AC54-0514C0E5610A}"/>
              </a:ext>
            </a:extLst>
          </p:cNvPr>
          <p:cNvSpPr txBox="1">
            <a:spLocks/>
          </p:cNvSpPr>
          <p:nvPr/>
        </p:nvSpPr>
        <p:spPr>
          <a:xfrm>
            <a:off x="942975" y="480377"/>
            <a:ext cx="8229600" cy="64992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a:spcBef>
                <a:spcPts val="0"/>
              </a:spcBef>
              <a:buFont typeface="Times New Roman"/>
              <a:buNone/>
            </a:pPr>
            <a:r>
              <a:rPr lang="es-ES" sz="2400" noProof="0" dirty="0">
                <a:sym typeface="Arial"/>
              </a:rPr>
              <a:t>Métodos para calcular la energía primaria equivalente</a:t>
            </a:r>
          </a:p>
        </p:txBody>
      </p:sp>
      <p:sp>
        <p:nvSpPr>
          <p:cNvPr id="2" name="Google Shape;233;p20">
            <a:extLst>
              <a:ext uri="{FF2B5EF4-FFF2-40B4-BE49-F238E27FC236}">
                <a16:creationId xmlns:a16="http://schemas.microsoft.com/office/drawing/2014/main" id="{37D4A80F-8694-42D6-B10D-B2AA5C4E4FAA}"/>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Tree>
    <p:extLst>
      <p:ext uri="{BB962C8B-B14F-4D97-AF65-F5344CB8AC3E}">
        <p14:creationId xmlns:p14="http://schemas.microsoft.com/office/powerpoint/2010/main" val="958879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482B3EC5-F223-C503-178A-CDE29964DF50}"/>
            </a:ext>
          </a:extLst>
        </p:cNvPr>
        <p:cNvGrpSpPr/>
        <p:nvPr/>
      </p:nvGrpSpPr>
      <p:grpSpPr>
        <a:xfrm>
          <a:off x="0" y="0"/>
          <a:ext cx="0" cy="0"/>
          <a:chOff x="0" y="0"/>
          <a:chExt cx="0" cy="0"/>
        </a:xfrm>
      </p:grpSpPr>
      <p:sp>
        <p:nvSpPr>
          <p:cNvPr id="262" name="Google Shape;262;p23">
            <a:extLst>
              <a:ext uri="{FF2B5EF4-FFF2-40B4-BE49-F238E27FC236}">
                <a16:creationId xmlns:a16="http://schemas.microsoft.com/office/drawing/2014/main" id="{EC49CB9D-92FA-1B35-7C53-D24574E35522}"/>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15</a:t>
            </a:fld>
            <a:endParaRPr lang="es-ES" noProof="0" dirty="0"/>
          </a:p>
        </p:txBody>
      </p:sp>
      <p:sp>
        <p:nvSpPr>
          <p:cNvPr id="264" name="Google Shape;264;p23">
            <a:extLst>
              <a:ext uri="{FF2B5EF4-FFF2-40B4-BE49-F238E27FC236}">
                <a16:creationId xmlns:a16="http://schemas.microsoft.com/office/drawing/2014/main" id="{12703DB2-41F9-BD56-26FC-DD1BD55EAA44}"/>
              </a:ext>
            </a:extLst>
          </p:cNvPr>
          <p:cNvSpPr txBox="1"/>
          <p:nvPr/>
        </p:nvSpPr>
        <p:spPr>
          <a:xfrm>
            <a:off x="914400" y="1277302"/>
            <a:ext cx="7761288" cy="5201384"/>
          </a:xfrm>
          <a:prstGeom prst="rect">
            <a:avLst/>
          </a:prstGeom>
          <a:noFill/>
          <a:ln>
            <a:noFill/>
          </a:ln>
        </p:spPr>
        <p:txBody>
          <a:bodyPr spcFirstLastPara="1" wrap="square" lIns="91425" tIns="45700" rIns="91425" bIns="45700" anchor="t" anchorCtr="0">
            <a:spAutoFit/>
          </a:bodyPr>
          <a:lstStyle/>
          <a:p>
            <a:pPr algn="just">
              <a:buClr>
                <a:schemeClr val="dk1"/>
              </a:buClr>
              <a:buSzPts val="2000"/>
            </a:pPr>
            <a:r>
              <a:rPr lang="es-ES" sz="2000" noProof="0" dirty="0">
                <a:solidFill>
                  <a:schemeClr val="dk1"/>
                </a:solidFill>
                <a:latin typeface="Times New Roman"/>
                <a:ea typeface="Times New Roman"/>
                <a:cs typeface="Times New Roman"/>
                <a:sym typeface="Times New Roman"/>
              </a:rPr>
              <a:t>Los organismos de energía y normativas suelen especificar qué métodos o factores de conversión deben utilizarse para asegurar la coherencia en los informes y certificaciones:</a:t>
            </a:r>
          </a:p>
          <a:p>
            <a:pPr algn="just">
              <a:buClr>
                <a:schemeClr val="dk1"/>
              </a:buClr>
              <a:buSzPts val="2000"/>
            </a:pPr>
            <a:endParaRPr lang="es-ES" sz="2000" noProof="0" dirty="0">
              <a:solidFill>
                <a:schemeClr val="dk1"/>
              </a:solidFill>
              <a:latin typeface="Times New Roman"/>
              <a:ea typeface="Times New Roman"/>
              <a:cs typeface="Times New Roman"/>
              <a:sym typeface="Times New Roman"/>
            </a:endParaRPr>
          </a:p>
          <a:p>
            <a:pPr marL="720725" lvl="2" indent="-342900" algn="just" eaLnBrk="0" fontAlgn="base" hangingPunct="0">
              <a:spcBef>
                <a:spcPct val="0"/>
              </a:spcBef>
              <a:spcAft>
                <a:spcPct val="0"/>
              </a:spcAft>
              <a:buClrTx/>
              <a:buFont typeface="Arial" panose="020B0604020202020204" pitchFamily="34" charset="0"/>
              <a:buChar char="•"/>
            </a:pPr>
            <a:r>
              <a:rPr lang="es-ES" sz="1800" i="1" noProof="0" dirty="0">
                <a:solidFill>
                  <a:schemeClr val="dk1"/>
                </a:solidFill>
                <a:latin typeface="Times New Roman"/>
                <a:cs typeface="Times New Roman"/>
              </a:rPr>
              <a:t>Eurostat</a:t>
            </a:r>
            <a:r>
              <a:rPr lang="es-ES" sz="1800" noProof="0" dirty="0">
                <a:solidFill>
                  <a:schemeClr val="dk1"/>
                </a:solidFill>
                <a:latin typeface="Times New Roman"/>
                <a:cs typeface="Times New Roman"/>
              </a:rPr>
              <a:t> utiliza el Método de Sustitución Parcial para determinar la energía primaria equivalente producida por la energía nuclear y las fuentes de energía renovables en publicaciones de estadística energética como “Energy, </a:t>
            </a:r>
            <a:r>
              <a:rPr lang="es-ES" sz="1800" noProof="0" dirty="0" err="1">
                <a:solidFill>
                  <a:schemeClr val="dk1"/>
                </a:solidFill>
                <a:latin typeface="Times New Roman"/>
                <a:cs typeface="Times New Roman"/>
              </a:rPr>
              <a:t>Transport</a:t>
            </a:r>
            <a:r>
              <a:rPr lang="es-ES" sz="1800" noProof="0" dirty="0">
                <a:solidFill>
                  <a:schemeClr val="dk1"/>
                </a:solidFill>
                <a:latin typeface="Times New Roman"/>
                <a:cs typeface="Times New Roman"/>
              </a:rPr>
              <a:t> and </a:t>
            </a:r>
            <a:r>
              <a:rPr lang="es-ES" sz="1800" noProof="0" dirty="0" err="1">
                <a:solidFill>
                  <a:schemeClr val="dk1"/>
                </a:solidFill>
                <a:latin typeface="Times New Roman"/>
                <a:cs typeface="Times New Roman"/>
              </a:rPr>
              <a:t>Environment</a:t>
            </a:r>
            <a:r>
              <a:rPr lang="es-ES" sz="1800" noProof="0" dirty="0">
                <a:solidFill>
                  <a:schemeClr val="dk1"/>
                </a:solidFill>
                <a:latin typeface="Times New Roman"/>
                <a:cs typeface="Times New Roman"/>
              </a:rPr>
              <a:t> </a:t>
            </a:r>
            <a:r>
              <a:rPr lang="es-ES" sz="1800" noProof="0" dirty="0" err="1">
                <a:solidFill>
                  <a:schemeClr val="dk1"/>
                </a:solidFill>
                <a:latin typeface="Times New Roman"/>
                <a:cs typeface="Times New Roman"/>
              </a:rPr>
              <a:t>Statistics</a:t>
            </a:r>
            <a:r>
              <a:rPr lang="es-ES" sz="1800" noProof="0" dirty="0">
                <a:solidFill>
                  <a:schemeClr val="dk1"/>
                </a:solidFill>
                <a:latin typeface="Times New Roman"/>
                <a:cs typeface="Times New Roman"/>
              </a:rPr>
              <a:t>”.</a:t>
            </a:r>
          </a:p>
          <a:p>
            <a:pPr marL="720725" lvl="2" indent="-342900" algn="just" eaLnBrk="0" fontAlgn="base" hangingPunct="0">
              <a:spcBef>
                <a:spcPct val="0"/>
              </a:spcBef>
              <a:spcAft>
                <a:spcPct val="0"/>
              </a:spcAft>
              <a:buClrTx/>
              <a:buFont typeface="Arial" panose="020B0604020202020204" pitchFamily="34" charset="0"/>
              <a:buChar char="•"/>
            </a:pPr>
            <a:endParaRPr lang="es-ES" sz="1800" noProof="0" dirty="0">
              <a:solidFill>
                <a:schemeClr val="dk1"/>
              </a:solidFill>
              <a:latin typeface="Times New Roman"/>
              <a:cs typeface="Times New Roman"/>
            </a:endParaRPr>
          </a:p>
          <a:p>
            <a:pPr marL="720725" lvl="2" indent="-342900" algn="just" eaLnBrk="0" fontAlgn="base" hangingPunct="0">
              <a:spcBef>
                <a:spcPct val="0"/>
              </a:spcBef>
              <a:spcAft>
                <a:spcPct val="0"/>
              </a:spcAft>
              <a:buClrTx/>
              <a:buFont typeface="Arial" panose="020B0604020202020204" pitchFamily="34" charset="0"/>
              <a:buChar char="•"/>
            </a:pPr>
            <a:r>
              <a:rPr lang="es-ES" sz="1800" noProof="0" dirty="0">
                <a:solidFill>
                  <a:schemeClr val="dk1"/>
                </a:solidFill>
                <a:latin typeface="Times New Roman"/>
                <a:cs typeface="Times New Roman"/>
              </a:rPr>
              <a:t>Las Naciones Unidas, en particular la </a:t>
            </a:r>
            <a:r>
              <a:rPr lang="es-ES" sz="1800" i="1" noProof="0" dirty="0">
                <a:solidFill>
                  <a:schemeClr val="dk1"/>
                </a:solidFill>
                <a:latin typeface="Times New Roman"/>
                <a:cs typeface="Times New Roman"/>
              </a:rPr>
              <a:t>Agencia Internacional de la Energía Atómica (IAEA)</a:t>
            </a:r>
            <a:r>
              <a:rPr lang="es-ES" sz="1800" noProof="0" dirty="0">
                <a:solidFill>
                  <a:schemeClr val="dk1"/>
                </a:solidFill>
                <a:latin typeface="Times New Roman"/>
                <a:cs typeface="Times New Roman"/>
              </a:rPr>
              <a:t> emplean el Método de la Energía Física Contenida en sus publicaciones estadísticas como “IAEA Energy and </a:t>
            </a:r>
            <a:r>
              <a:rPr lang="es-ES" sz="1800" noProof="0" dirty="0" err="1">
                <a:solidFill>
                  <a:schemeClr val="dk1"/>
                </a:solidFill>
                <a:latin typeface="Times New Roman"/>
                <a:cs typeface="Times New Roman"/>
              </a:rPr>
              <a:t>Economic</a:t>
            </a:r>
            <a:r>
              <a:rPr lang="es-ES" sz="1800" noProof="0" dirty="0">
                <a:solidFill>
                  <a:schemeClr val="dk1"/>
                </a:solidFill>
                <a:latin typeface="Times New Roman"/>
                <a:cs typeface="Times New Roman"/>
              </a:rPr>
              <a:t> Data Base”.</a:t>
            </a:r>
          </a:p>
          <a:p>
            <a:pPr marL="720725" lvl="2" indent="-342900" algn="just" eaLnBrk="0" fontAlgn="base" hangingPunct="0">
              <a:spcBef>
                <a:spcPct val="0"/>
              </a:spcBef>
              <a:spcAft>
                <a:spcPct val="0"/>
              </a:spcAft>
              <a:buClrTx/>
              <a:buFont typeface="Arial" panose="020B0604020202020204" pitchFamily="34" charset="0"/>
              <a:buChar char="•"/>
            </a:pPr>
            <a:endParaRPr lang="es-ES" sz="1800" noProof="0" dirty="0">
              <a:solidFill>
                <a:schemeClr val="dk1"/>
              </a:solidFill>
              <a:latin typeface="Times New Roman"/>
              <a:cs typeface="Times New Roman"/>
            </a:endParaRPr>
          </a:p>
          <a:p>
            <a:pPr marL="720725" lvl="2" indent="-342900" algn="just" eaLnBrk="0" fontAlgn="base" hangingPunct="0">
              <a:spcBef>
                <a:spcPct val="0"/>
              </a:spcBef>
              <a:spcAft>
                <a:spcPct val="0"/>
              </a:spcAft>
              <a:buClrTx/>
              <a:buFont typeface="Arial" panose="020B0604020202020204" pitchFamily="34" charset="0"/>
              <a:buChar char="•"/>
            </a:pPr>
            <a:r>
              <a:rPr lang="es-ES" sz="1800" noProof="0" dirty="0">
                <a:solidFill>
                  <a:schemeClr val="dk1"/>
                </a:solidFill>
                <a:latin typeface="Times New Roman"/>
                <a:cs typeface="Times New Roman"/>
              </a:rPr>
              <a:t>La </a:t>
            </a:r>
            <a:r>
              <a:rPr lang="es-ES" sz="1800" i="1" noProof="0" dirty="0">
                <a:solidFill>
                  <a:schemeClr val="dk1"/>
                </a:solidFill>
                <a:latin typeface="Times New Roman"/>
                <a:cs typeface="Times New Roman"/>
              </a:rPr>
              <a:t>Agencia Internacional de la Energía (IEA)</a:t>
            </a:r>
            <a:r>
              <a:rPr lang="es-ES" sz="1800" noProof="0" dirty="0">
                <a:solidFill>
                  <a:schemeClr val="dk1"/>
                </a:solidFill>
                <a:latin typeface="Times New Roman"/>
                <a:cs typeface="Times New Roman"/>
              </a:rPr>
              <a:t> es una de las organizaciones que emplea el Método de Equivalencia Directa en la realización de las publicaciones estadísticas como “World Energy Outlook” para simplificar las comparación entre las diferentes fuentes de energía.</a:t>
            </a:r>
          </a:p>
          <a:p>
            <a:pPr marL="0" marR="0" lvl="0" indent="0" algn="just" rtl="0">
              <a:spcBef>
                <a:spcPts val="0"/>
              </a:spcBef>
              <a:spcAft>
                <a:spcPts val="0"/>
              </a:spcAft>
              <a:buClr>
                <a:schemeClr val="dk1"/>
              </a:buClr>
              <a:buSzPts val="2000"/>
              <a:buFont typeface="Times New Roman"/>
              <a:buNone/>
            </a:pPr>
            <a:endParaRPr lang="es-ES" noProof="0" dirty="0"/>
          </a:p>
        </p:txBody>
      </p:sp>
      <p:sp>
        <p:nvSpPr>
          <p:cNvPr id="11" name="Google Shape;261;p23">
            <a:extLst>
              <a:ext uri="{FF2B5EF4-FFF2-40B4-BE49-F238E27FC236}">
                <a16:creationId xmlns:a16="http://schemas.microsoft.com/office/drawing/2014/main" id="{514D95F1-9CD6-261F-154B-14260B4A14FD}"/>
              </a:ext>
            </a:extLst>
          </p:cNvPr>
          <p:cNvSpPr txBox="1">
            <a:spLocks/>
          </p:cNvSpPr>
          <p:nvPr/>
        </p:nvSpPr>
        <p:spPr>
          <a:xfrm>
            <a:off x="942975" y="480377"/>
            <a:ext cx="8229600" cy="64992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a:spcBef>
                <a:spcPts val="0"/>
              </a:spcBef>
              <a:buFont typeface="Times New Roman"/>
              <a:buNone/>
            </a:pPr>
            <a:r>
              <a:rPr lang="es-ES" sz="2400" noProof="0" dirty="0">
                <a:sym typeface="Arial"/>
              </a:rPr>
              <a:t>Métodos para calcular la energía primaria equivalente</a:t>
            </a:r>
          </a:p>
        </p:txBody>
      </p:sp>
      <p:sp>
        <p:nvSpPr>
          <p:cNvPr id="2" name="Google Shape;233;p20">
            <a:extLst>
              <a:ext uri="{FF2B5EF4-FFF2-40B4-BE49-F238E27FC236}">
                <a16:creationId xmlns:a16="http://schemas.microsoft.com/office/drawing/2014/main" id="{5C2CB783-81C7-1765-D111-54E8CB4D630C}"/>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Tree>
    <p:extLst>
      <p:ext uri="{BB962C8B-B14F-4D97-AF65-F5344CB8AC3E}">
        <p14:creationId xmlns:p14="http://schemas.microsoft.com/office/powerpoint/2010/main" val="1493904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EA933DF5-2066-8834-92EC-792E40EDCC87}"/>
            </a:ext>
          </a:extLst>
        </p:cNvPr>
        <p:cNvGrpSpPr/>
        <p:nvPr/>
      </p:nvGrpSpPr>
      <p:grpSpPr>
        <a:xfrm>
          <a:off x="0" y="0"/>
          <a:ext cx="0" cy="0"/>
          <a:chOff x="0" y="0"/>
          <a:chExt cx="0" cy="0"/>
        </a:xfrm>
      </p:grpSpPr>
      <p:sp>
        <p:nvSpPr>
          <p:cNvPr id="262" name="Google Shape;262;p23">
            <a:extLst>
              <a:ext uri="{FF2B5EF4-FFF2-40B4-BE49-F238E27FC236}">
                <a16:creationId xmlns:a16="http://schemas.microsoft.com/office/drawing/2014/main" id="{95D9DC94-3166-83C5-8ABE-060C268EAD2F}"/>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16</a:t>
            </a:fld>
            <a:endParaRPr lang="es-ES" noProof="0" dirty="0"/>
          </a:p>
        </p:txBody>
      </p:sp>
      <p:sp>
        <p:nvSpPr>
          <p:cNvPr id="264" name="Google Shape;264;p23">
            <a:extLst>
              <a:ext uri="{FF2B5EF4-FFF2-40B4-BE49-F238E27FC236}">
                <a16:creationId xmlns:a16="http://schemas.microsoft.com/office/drawing/2014/main" id="{F751EA8B-E287-B8C5-0137-E64224957416}"/>
              </a:ext>
            </a:extLst>
          </p:cNvPr>
          <p:cNvSpPr txBox="1"/>
          <p:nvPr/>
        </p:nvSpPr>
        <p:spPr>
          <a:xfrm>
            <a:off x="1070498" y="1029116"/>
            <a:ext cx="7761288" cy="4278054"/>
          </a:xfrm>
          <a:prstGeom prst="rect">
            <a:avLst/>
          </a:prstGeom>
          <a:noFill/>
          <a:ln>
            <a:noFill/>
          </a:ln>
        </p:spPr>
        <p:txBody>
          <a:bodyPr spcFirstLastPara="1" wrap="square" lIns="91425" tIns="45700" rIns="91425" bIns="45700" anchor="t" anchorCtr="0">
            <a:spAutoFit/>
          </a:bodyPr>
          <a:lstStyle/>
          <a:p>
            <a:pPr algn="just">
              <a:buClr>
                <a:schemeClr val="dk1"/>
              </a:buClr>
              <a:buSzPts val="2000"/>
            </a:pPr>
            <a:r>
              <a:rPr lang="es-ES" sz="2000" i="1" noProof="0" dirty="0">
                <a:solidFill>
                  <a:srgbClr val="0000FF"/>
                </a:solidFill>
                <a:latin typeface="Times New Roman"/>
                <a:ea typeface="Times New Roman"/>
                <a:cs typeface="Times New Roman"/>
                <a:sym typeface="Times New Roman"/>
              </a:rPr>
              <a:t>Ejemplo 1: cálculo de la energía primaria equivalente</a:t>
            </a:r>
          </a:p>
          <a:p>
            <a:pPr algn="just">
              <a:buClr>
                <a:schemeClr val="dk1"/>
              </a:buClr>
              <a:buSzPts val="2000"/>
            </a:pPr>
            <a:endParaRPr lang="es-ES" sz="1800" noProof="0" dirty="0">
              <a:solidFill>
                <a:schemeClr val="dk1"/>
              </a:solidFill>
              <a:latin typeface="Times New Roman"/>
              <a:cs typeface="Times New Roman"/>
              <a:sym typeface="Times New Roman"/>
            </a:endParaRPr>
          </a:p>
          <a:p>
            <a:pPr algn="just"/>
            <a:r>
              <a:rPr lang="es-ES" sz="1600" noProof="0" dirty="0">
                <a:solidFill>
                  <a:schemeClr val="dk1"/>
                </a:solidFill>
                <a:latin typeface="Times New Roman"/>
                <a:cs typeface="Times New Roman"/>
              </a:rPr>
              <a:t>Calcular la energía primaria equivalente de fuentes de energía nuclear, solar de concentración (CSP), solar fotovoltaica (PV), hidroeléctrica y gas natural (GN) asumiendo que todas producen 100 GWh de electricidad final. Utilice los 3 métodos estudiados en clase.</a:t>
            </a:r>
          </a:p>
          <a:p>
            <a:pPr algn="just"/>
            <a:r>
              <a:rPr lang="es-ES" sz="1600" noProof="0" dirty="0">
                <a:solidFill>
                  <a:schemeClr val="dk1"/>
                </a:solidFill>
                <a:latin typeface="Times New Roman"/>
                <a:cs typeface="Times New Roman"/>
              </a:rPr>
              <a:t>Para ello considere los siguientes factores de conversión de energía térmica a eléctrica:</a:t>
            </a:r>
          </a:p>
          <a:p>
            <a:pPr marL="541338" lvl="1" indent="-285750" algn="just">
              <a:buFont typeface="Arial" panose="020B0604020202020204" pitchFamily="34" charset="0"/>
              <a:buChar char="•"/>
            </a:pPr>
            <a:r>
              <a:rPr lang="es-ES" sz="1600" noProof="0" dirty="0">
                <a:solidFill>
                  <a:schemeClr val="dk1"/>
                </a:solidFill>
                <a:latin typeface="Times New Roman"/>
                <a:cs typeface="Times New Roman"/>
              </a:rPr>
              <a:t>Nuclear: 33%</a:t>
            </a:r>
          </a:p>
          <a:p>
            <a:pPr marL="541338" lvl="1" indent="-285750" algn="just">
              <a:buFont typeface="Arial" panose="020B0604020202020204" pitchFamily="34" charset="0"/>
              <a:buChar char="•"/>
            </a:pPr>
            <a:r>
              <a:rPr lang="es-ES" sz="1600" noProof="0" dirty="0">
                <a:solidFill>
                  <a:schemeClr val="dk1"/>
                </a:solidFill>
                <a:latin typeface="Times New Roman"/>
                <a:cs typeface="Times New Roman"/>
              </a:rPr>
              <a:t>CSP: 35%</a:t>
            </a:r>
          </a:p>
          <a:p>
            <a:pPr marL="541338" lvl="1" indent="-285750" algn="just">
              <a:buFont typeface="Arial" panose="020B0604020202020204" pitchFamily="34" charset="0"/>
              <a:buChar char="•"/>
            </a:pPr>
            <a:r>
              <a:rPr lang="es-ES" sz="1600" noProof="0" dirty="0">
                <a:solidFill>
                  <a:schemeClr val="dk1"/>
                </a:solidFill>
                <a:latin typeface="Times New Roman"/>
                <a:cs typeface="Times New Roman"/>
              </a:rPr>
              <a:t>Ciclo combinado de gas natural: 55%</a:t>
            </a:r>
          </a:p>
          <a:p>
            <a:pPr marL="541338" lvl="1" indent="-285750" algn="just">
              <a:buFont typeface="Arial" panose="020B0604020202020204" pitchFamily="34" charset="0"/>
              <a:buChar char="•"/>
            </a:pPr>
            <a:r>
              <a:rPr lang="es-ES" sz="1600" noProof="0" dirty="0">
                <a:solidFill>
                  <a:schemeClr val="dk1"/>
                </a:solidFill>
                <a:latin typeface="Times New Roman"/>
                <a:cs typeface="Times New Roman"/>
              </a:rPr>
              <a:t>Central de carbón de referencia: 38%</a:t>
            </a:r>
          </a:p>
          <a:p>
            <a:pPr marL="285750" indent="-285750" algn="just">
              <a:buClr>
                <a:schemeClr val="dk1"/>
              </a:buClr>
              <a:buSzPts val="2000"/>
              <a:buFontTx/>
              <a:buChar char="-"/>
            </a:pPr>
            <a:endParaRPr lang="es-ES" sz="1600" noProof="0" dirty="0">
              <a:solidFill>
                <a:schemeClr val="dk1"/>
              </a:solidFill>
              <a:latin typeface="Times New Roman"/>
              <a:cs typeface="Times New Roman"/>
              <a:sym typeface="Times New Roman"/>
            </a:endParaRPr>
          </a:p>
          <a:p>
            <a:pPr algn="just">
              <a:buClr>
                <a:schemeClr val="dk1"/>
              </a:buClr>
              <a:buSzPts val="2000"/>
            </a:pPr>
            <a:endParaRPr lang="es-ES" sz="1600" noProof="0" dirty="0">
              <a:solidFill>
                <a:schemeClr val="dk1"/>
              </a:solidFill>
              <a:latin typeface="Times New Roman"/>
              <a:cs typeface="Times New Roman"/>
            </a:endParaRPr>
          </a:p>
          <a:p>
            <a:pPr marL="0" marR="0" lvl="0" indent="0" algn="just" rtl="0">
              <a:spcBef>
                <a:spcPts val="0"/>
              </a:spcBef>
              <a:spcAft>
                <a:spcPts val="0"/>
              </a:spcAft>
              <a:buClr>
                <a:schemeClr val="dk1"/>
              </a:buClr>
              <a:buSzPts val="2000"/>
              <a:buFont typeface="Times New Roman"/>
              <a:buNone/>
            </a:pPr>
            <a:endParaRPr lang="es-ES" sz="2000" u="sng" noProof="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000"/>
              <a:buFont typeface="Times New Roman"/>
              <a:buNone/>
            </a:pPr>
            <a:endParaRPr lang="es-ES" sz="2000" u="sng" noProof="0" dirty="0">
              <a:solidFill>
                <a:schemeClr val="dk1"/>
              </a:solidFill>
              <a:latin typeface="Times New Roman"/>
              <a:cs typeface="Times New Roman"/>
              <a:sym typeface="Times New Roman"/>
            </a:endParaRPr>
          </a:p>
          <a:p>
            <a:pPr marL="0" marR="0" lvl="0" indent="0" algn="just" rtl="0">
              <a:spcBef>
                <a:spcPts val="0"/>
              </a:spcBef>
              <a:spcAft>
                <a:spcPts val="0"/>
              </a:spcAft>
              <a:buClr>
                <a:schemeClr val="dk1"/>
              </a:buClr>
              <a:buSzPts val="2000"/>
              <a:buFont typeface="Times New Roman"/>
              <a:buNone/>
            </a:pPr>
            <a:endParaRPr lang="es-ES" noProof="0" dirty="0"/>
          </a:p>
        </p:txBody>
      </p:sp>
      <p:sp>
        <p:nvSpPr>
          <p:cNvPr id="11" name="Google Shape;261;p23">
            <a:extLst>
              <a:ext uri="{FF2B5EF4-FFF2-40B4-BE49-F238E27FC236}">
                <a16:creationId xmlns:a16="http://schemas.microsoft.com/office/drawing/2014/main" id="{E5078814-ADB5-D560-87BA-94BE4E784ABB}"/>
              </a:ext>
            </a:extLst>
          </p:cNvPr>
          <p:cNvSpPr txBox="1">
            <a:spLocks/>
          </p:cNvSpPr>
          <p:nvPr/>
        </p:nvSpPr>
        <p:spPr>
          <a:xfrm>
            <a:off x="942975" y="480377"/>
            <a:ext cx="8229600" cy="64992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a:spcBef>
                <a:spcPts val="0"/>
              </a:spcBef>
              <a:buFont typeface="Times New Roman"/>
              <a:buNone/>
            </a:pPr>
            <a:r>
              <a:rPr lang="es-ES" sz="2400" noProof="0" dirty="0">
                <a:sym typeface="Arial"/>
              </a:rPr>
              <a:t>Métodos para calcular la energía primaria equivalente</a:t>
            </a:r>
          </a:p>
        </p:txBody>
      </p:sp>
      <p:graphicFrame>
        <p:nvGraphicFramePr>
          <p:cNvPr id="2" name="Tabla 1">
            <a:extLst>
              <a:ext uri="{FF2B5EF4-FFF2-40B4-BE49-F238E27FC236}">
                <a16:creationId xmlns:a16="http://schemas.microsoft.com/office/drawing/2014/main" id="{0CD0A1C0-25CD-6984-E2E1-7E2B6963F2CC}"/>
              </a:ext>
            </a:extLst>
          </p:cNvPr>
          <p:cNvGraphicFramePr>
            <a:graphicFrameLocks noGrp="1"/>
          </p:cNvGraphicFramePr>
          <p:nvPr>
            <p:extLst>
              <p:ext uri="{D42A27DB-BD31-4B8C-83A1-F6EECF244321}">
                <p14:modId xmlns:p14="http://schemas.microsoft.com/office/powerpoint/2010/main" val="2896802727"/>
              </p:ext>
            </p:extLst>
          </p:nvPr>
        </p:nvGraphicFramePr>
        <p:xfrm>
          <a:off x="1168214" y="4345524"/>
          <a:ext cx="7310811" cy="2194560"/>
        </p:xfrm>
        <a:graphic>
          <a:graphicData uri="http://schemas.openxmlformats.org/drawingml/2006/table">
            <a:tbl>
              <a:tblPr firstRow="1" bandRow="1">
                <a:tableStyleId>{EB344D84-9AFB-497E-A393-DC336BA19D2E}</a:tableStyleId>
              </a:tblPr>
              <a:tblGrid>
                <a:gridCol w="3056714">
                  <a:extLst>
                    <a:ext uri="{9D8B030D-6E8A-4147-A177-3AD203B41FA5}">
                      <a16:colId xmlns:a16="http://schemas.microsoft.com/office/drawing/2014/main" val="1250290117"/>
                    </a:ext>
                  </a:extLst>
                </a:gridCol>
                <a:gridCol w="807609">
                  <a:extLst>
                    <a:ext uri="{9D8B030D-6E8A-4147-A177-3AD203B41FA5}">
                      <a16:colId xmlns:a16="http://schemas.microsoft.com/office/drawing/2014/main" val="3266677001"/>
                    </a:ext>
                  </a:extLst>
                </a:gridCol>
                <a:gridCol w="740864">
                  <a:extLst>
                    <a:ext uri="{9D8B030D-6E8A-4147-A177-3AD203B41FA5}">
                      <a16:colId xmlns:a16="http://schemas.microsoft.com/office/drawing/2014/main" val="3857998408"/>
                    </a:ext>
                  </a:extLst>
                </a:gridCol>
                <a:gridCol w="687469">
                  <a:extLst>
                    <a:ext uri="{9D8B030D-6E8A-4147-A177-3AD203B41FA5}">
                      <a16:colId xmlns:a16="http://schemas.microsoft.com/office/drawing/2014/main" val="159300810"/>
                    </a:ext>
                  </a:extLst>
                </a:gridCol>
                <a:gridCol w="1161355">
                  <a:extLst>
                    <a:ext uri="{9D8B030D-6E8A-4147-A177-3AD203B41FA5}">
                      <a16:colId xmlns:a16="http://schemas.microsoft.com/office/drawing/2014/main" val="1489601422"/>
                    </a:ext>
                  </a:extLst>
                </a:gridCol>
                <a:gridCol w="856800">
                  <a:extLst>
                    <a:ext uri="{9D8B030D-6E8A-4147-A177-3AD203B41FA5}">
                      <a16:colId xmlns:a16="http://schemas.microsoft.com/office/drawing/2014/main" val="1577976884"/>
                    </a:ext>
                  </a:extLst>
                </a:gridCol>
              </a:tblGrid>
              <a:tr h="370840">
                <a:tc>
                  <a:txBody>
                    <a:bodyPr/>
                    <a:lstStyle/>
                    <a:p>
                      <a:pPr algn="ctr"/>
                      <a:r>
                        <a:rPr lang="es-ES" sz="1200" b="0" i="1" noProof="0" dirty="0">
                          <a:solidFill>
                            <a:schemeClr val="tx1"/>
                          </a:solidFill>
                        </a:rPr>
                        <a:t>Método</a:t>
                      </a:r>
                    </a:p>
                  </a:txBody>
                  <a:tcPr/>
                </a:tc>
                <a:tc>
                  <a:txBody>
                    <a:bodyPr/>
                    <a:lstStyle/>
                    <a:p>
                      <a:pPr algn="ctr"/>
                      <a:r>
                        <a:rPr lang="es-ES" sz="1200" b="0" i="1" noProof="0" dirty="0">
                          <a:solidFill>
                            <a:schemeClr val="tx1"/>
                          </a:solidFill>
                        </a:rPr>
                        <a:t>Nuclear</a:t>
                      </a:r>
                    </a:p>
                    <a:p>
                      <a:pPr algn="ctr"/>
                      <a:r>
                        <a:rPr lang="es-ES" sz="1200" b="0" i="1" noProof="0" dirty="0">
                          <a:solidFill>
                            <a:schemeClr val="tx1"/>
                          </a:solidFill>
                        </a:rPr>
                        <a:t>[GWh]</a:t>
                      </a:r>
                    </a:p>
                  </a:txBody>
                  <a:tcPr/>
                </a:tc>
                <a:tc>
                  <a:txBody>
                    <a:bodyPr/>
                    <a:lstStyle/>
                    <a:p>
                      <a:pPr algn="ctr"/>
                      <a:r>
                        <a:rPr lang="es-ES" sz="1200" b="0" i="1" noProof="0" dirty="0">
                          <a:solidFill>
                            <a:schemeClr val="tx1"/>
                          </a:solidFill>
                        </a:rPr>
                        <a:t>CSP [GWh]</a:t>
                      </a:r>
                    </a:p>
                  </a:txBody>
                  <a:tcPr/>
                </a:tc>
                <a:tc>
                  <a:txBody>
                    <a:bodyPr/>
                    <a:lstStyle/>
                    <a:p>
                      <a:pPr algn="ctr"/>
                      <a:r>
                        <a:rPr lang="es-ES" sz="1200" b="0" i="1" noProof="0" dirty="0">
                          <a:solidFill>
                            <a:schemeClr val="tx1"/>
                          </a:solidFill>
                        </a:rPr>
                        <a:t>PV [GWh]</a:t>
                      </a:r>
                    </a:p>
                  </a:txBody>
                  <a:tcPr/>
                </a:tc>
                <a:tc>
                  <a:txBody>
                    <a:bodyPr/>
                    <a:lstStyle/>
                    <a:p>
                      <a:pPr algn="ctr"/>
                      <a:r>
                        <a:rPr lang="es-ES" sz="1200" b="0" i="1" noProof="0" dirty="0">
                          <a:solidFill>
                            <a:schemeClr val="tx1"/>
                          </a:solidFill>
                        </a:rPr>
                        <a:t>Hidroeléctrica [GWh]</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200" b="0" i="1" noProof="0" dirty="0">
                          <a:solidFill>
                            <a:schemeClr val="tx1"/>
                          </a:solidFill>
                        </a:rPr>
                        <a:t>GN [GWh]</a:t>
                      </a:r>
                    </a:p>
                    <a:p>
                      <a:pPr algn="ctr"/>
                      <a:endParaRPr lang="es-ES" sz="1200" b="0" i="1" noProof="0" dirty="0">
                        <a:solidFill>
                          <a:schemeClr val="tx1"/>
                        </a:solidFill>
                      </a:endParaRPr>
                    </a:p>
                  </a:txBody>
                  <a:tcPr/>
                </a:tc>
                <a:extLst>
                  <a:ext uri="{0D108BD9-81ED-4DB2-BD59-A6C34878D82A}">
                    <a16:rowId xmlns:a16="http://schemas.microsoft.com/office/drawing/2014/main" val="1059519303"/>
                  </a:ext>
                </a:extLst>
              </a:tr>
              <a:tr h="370840">
                <a:tc>
                  <a:txBody>
                    <a:bodyPr/>
                    <a:lstStyle/>
                    <a:p>
                      <a:pPr algn="ctr"/>
                      <a:r>
                        <a:rPr lang="es-ES" sz="1200" i="1" noProof="0" dirty="0"/>
                        <a:t>Energía Física Contenida</a:t>
                      </a:r>
                    </a:p>
                    <a:p>
                      <a:pPr algn="ctr"/>
                      <a:r>
                        <a:rPr lang="es-ES" sz="1200" i="1" noProof="0" dirty="0"/>
                        <a:t>(calor disponible según tecnología empleada)</a:t>
                      </a:r>
                    </a:p>
                  </a:txBody>
                  <a:tcPr/>
                </a:tc>
                <a:tc>
                  <a:txBody>
                    <a:bodyPr/>
                    <a:lstStyle/>
                    <a:p>
                      <a:pPr algn="ctr"/>
                      <a:endParaRPr lang="es-ES" sz="1200" b="0" i="1" noProof="0" dirty="0"/>
                    </a:p>
                  </a:txBody>
                  <a:tcPr/>
                </a:tc>
                <a:tc>
                  <a:txBody>
                    <a:bodyPr/>
                    <a:lstStyle/>
                    <a:p>
                      <a:pPr algn="ctr"/>
                      <a:endParaRPr lang="es-ES" sz="1200" b="0" noProof="0" dirty="0"/>
                    </a:p>
                  </a:txBody>
                  <a:tcPr/>
                </a:tc>
                <a:tc>
                  <a:txBody>
                    <a:bodyPr/>
                    <a:lstStyle/>
                    <a:p>
                      <a:pPr algn="ctr"/>
                      <a:endParaRPr lang="es-ES" sz="1200" b="0" noProof="0" dirty="0"/>
                    </a:p>
                  </a:txBody>
                  <a:tcPr/>
                </a:tc>
                <a:tc>
                  <a:txBody>
                    <a:bodyPr/>
                    <a:lstStyle/>
                    <a:p>
                      <a:pPr algn="ctr"/>
                      <a:endParaRPr lang="es-ES" sz="1200" b="0" noProof="0" dirty="0"/>
                    </a:p>
                  </a:txBody>
                  <a:tcPr/>
                </a:tc>
                <a:tc>
                  <a:txBody>
                    <a:bodyPr/>
                    <a:lstStyle/>
                    <a:p>
                      <a:pPr algn="ctr"/>
                      <a:endParaRPr lang="es-ES" sz="1200" b="0" noProof="0" dirty="0"/>
                    </a:p>
                  </a:txBody>
                  <a:tcPr/>
                </a:tc>
                <a:extLst>
                  <a:ext uri="{0D108BD9-81ED-4DB2-BD59-A6C34878D82A}">
                    <a16:rowId xmlns:a16="http://schemas.microsoft.com/office/drawing/2014/main" val="2985600693"/>
                  </a:ext>
                </a:extLst>
              </a:tr>
              <a:tr h="370840">
                <a:tc>
                  <a:txBody>
                    <a:bodyPr/>
                    <a:lstStyle/>
                    <a:p>
                      <a:pPr algn="ctr"/>
                      <a:r>
                        <a:rPr lang="es-ES" sz="1200" i="1" noProof="0" dirty="0"/>
                        <a:t>Sustitución Parcial</a:t>
                      </a:r>
                    </a:p>
                    <a:p>
                      <a:pPr algn="ctr"/>
                      <a:r>
                        <a:rPr lang="es-ES" sz="1200" i="1" noProof="0" dirty="0"/>
                        <a:t>(cuanto carbón o combustible fósil ahorro)</a:t>
                      </a:r>
                    </a:p>
                  </a:txBody>
                  <a:tcPr/>
                </a:tc>
                <a:tc>
                  <a:txBody>
                    <a:bodyPr/>
                    <a:lstStyle/>
                    <a:p>
                      <a:pPr algn="ctr"/>
                      <a:endParaRPr lang="es-ES" sz="1200" b="0" i="1" noProof="0" dirty="0"/>
                    </a:p>
                  </a:txBody>
                  <a:tcPr/>
                </a:tc>
                <a:tc>
                  <a:txBody>
                    <a:bodyPr/>
                    <a:lstStyle/>
                    <a:p>
                      <a:pPr algn="ctr"/>
                      <a:endParaRPr lang="es-ES" sz="1200" b="0" noProof="0" dirty="0"/>
                    </a:p>
                  </a:txBody>
                  <a:tcPr/>
                </a:tc>
                <a:tc>
                  <a:txBody>
                    <a:bodyPr/>
                    <a:lstStyle/>
                    <a:p>
                      <a:pPr algn="ctr"/>
                      <a:endParaRPr lang="es-ES" sz="1200" b="0" noProof="0" dirty="0"/>
                    </a:p>
                  </a:txBody>
                  <a:tcPr/>
                </a:tc>
                <a:tc>
                  <a:txBody>
                    <a:bodyPr/>
                    <a:lstStyle/>
                    <a:p>
                      <a:pPr algn="ctr"/>
                      <a:endParaRPr lang="es-ES" sz="1200" b="0" noProof="0" dirty="0"/>
                    </a:p>
                  </a:txBody>
                  <a:tcPr/>
                </a:tc>
                <a:tc>
                  <a:txBody>
                    <a:bodyPr/>
                    <a:lstStyle/>
                    <a:p>
                      <a:pPr algn="ctr"/>
                      <a:endParaRPr lang="es-ES" sz="1200" b="0" noProof="0" dirty="0"/>
                    </a:p>
                  </a:txBody>
                  <a:tcPr/>
                </a:tc>
                <a:extLst>
                  <a:ext uri="{0D108BD9-81ED-4DB2-BD59-A6C34878D82A}">
                    <a16:rowId xmlns:a16="http://schemas.microsoft.com/office/drawing/2014/main" val="4243706457"/>
                  </a:ext>
                </a:extLst>
              </a:tr>
              <a:tr h="370840">
                <a:tc>
                  <a:txBody>
                    <a:bodyPr/>
                    <a:lstStyle/>
                    <a:p>
                      <a:pPr algn="ctr"/>
                      <a:r>
                        <a:rPr lang="es-ES" sz="1200" i="1" noProof="0" dirty="0"/>
                        <a:t>Equivalente Directo</a:t>
                      </a:r>
                    </a:p>
                    <a:p>
                      <a:pPr algn="ctr"/>
                      <a:r>
                        <a:rPr lang="es-ES" sz="1200" i="1" noProof="0" dirty="0"/>
                        <a:t>(electricidad producida)</a:t>
                      </a:r>
                    </a:p>
                  </a:txBody>
                  <a:tcPr/>
                </a:tc>
                <a:tc>
                  <a:txBody>
                    <a:bodyPr/>
                    <a:lstStyle/>
                    <a:p>
                      <a:pPr algn="ctr"/>
                      <a:r>
                        <a:rPr lang="es-ES" sz="1200" b="1" i="1" noProof="0" dirty="0"/>
                        <a:t>100</a:t>
                      </a:r>
                    </a:p>
                  </a:txBody>
                  <a:tcPr/>
                </a:tc>
                <a:tc>
                  <a:txBody>
                    <a:bodyPr/>
                    <a:lstStyle/>
                    <a:p>
                      <a:pPr algn="ctr"/>
                      <a:r>
                        <a:rPr lang="es-ES" sz="1200" b="1" noProof="0" dirty="0"/>
                        <a:t>100</a:t>
                      </a:r>
                    </a:p>
                  </a:txBody>
                  <a:tcPr/>
                </a:tc>
                <a:tc>
                  <a:txBody>
                    <a:bodyPr/>
                    <a:lstStyle/>
                    <a:p>
                      <a:pPr algn="ctr"/>
                      <a:r>
                        <a:rPr lang="es-ES" sz="1200" b="1" noProof="0" dirty="0"/>
                        <a:t>100</a:t>
                      </a:r>
                    </a:p>
                  </a:txBody>
                  <a:tcPr/>
                </a:tc>
                <a:tc>
                  <a:txBody>
                    <a:bodyPr/>
                    <a:lstStyle/>
                    <a:p>
                      <a:pPr algn="ctr"/>
                      <a:r>
                        <a:rPr lang="es-ES" sz="1200" b="1" noProof="0" dirty="0"/>
                        <a:t>100</a:t>
                      </a:r>
                    </a:p>
                  </a:txBody>
                  <a:tcPr/>
                </a:tc>
                <a:tc>
                  <a:txBody>
                    <a:bodyPr/>
                    <a:lstStyle/>
                    <a:p>
                      <a:pPr algn="ctr"/>
                      <a:r>
                        <a:rPr lang="es-ES" sz="1200" b="1" noProof="0" dirty="0"/>
                        <a:t>100</a:t>
                      </a:r>
                    </a:p>
                  </a:txBody>
                  <a:tcPr/>
                </a:tc>
                <a:extLst>
                  <a:ext uri="{0D108BD9-81ED-4DB2-BD59-A6C34878D82A}">
                    <a16:rowId xmlns:a16="http://schemas.microsoft.com/office/drawing/2014/main" val="1443750179"/>
                  </a:ext>
                </a:extLst>
              </a:tr>
            </a:tbl>
          </a:graphicData>
        </a:graphic>
      </p:graphicFrame>
      <p:sp>
        <p:nvSpPr>
          <p:cNvPr id="3" name="Google Shape;233;p20">
            <a:extLst>
              <a:ext uri="{FF2B5EF4-FFF2-40B4-BE49-F238E27FC236}">
                <a16:creationId xmlns:a16="http://schemas.microsoft.com/office/drawing/2014/main" id="{11E001C4-4014-E5D6-2C9B-92E5499C7955}"/>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dirty="0"/>
              <a:t>Balance energético</a:t>
            </a:r>
            <a:endParaRPr dirty="0"/>
          </a:p>
        </p:txBody>
      </p:sp>
    </p:spTree>
    <p:extLst>
      <p:ext uri="{BB962C8B-B14F-4D97-AF65-F5344CB8AC3E}">
        <p14:creationId xmlns:p14="http://schemas.microsoft.com/office/powerpoint/2010/main" val="4285896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119B3D34-B9BC-8C79-A843-96EAD0CFC0F5}"/>
            </a:ext>
          </a:extLst>
        </p:cNvPr>
        <p:cNvGrpSpPr/>
        <p:nvPr/>
      </p:nvGrpSpPr>
      <p:grpSpPr>
        <a:xfrm>
          <a:off x="0" y="0"/>
          <a:ext cx="0" cy="0"/>
          <a:chOff x="0" y="0"/>
          <a:chExt cx="0" cy="0"/>
        </a:xfrm>
      </p:grpSpPr>
      <p:sp>
        <p:nvSpPr>
          <p:cNvPr id="262" name="Google Shape;262;p23">
            <a:extLst>
              <a:ext uri="{FF2B5EF4-FFF2-40B4-BE49-F238E27FC236}">
                <a16:creationId xmlns:a16="http://schemas.microsoft.com/office/drawing/2014/main" id="{B7C3D14F-C8B7-F1CF-6552-C3A6D66E1794}"/>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17</a:t>
            </a:fld>
            <a:endParaRPr lang="es-ES" noProof="0" dirty="0"/>
          </a:p>
        </p:txBody>
      </p:sp>
      <p:sp>
        <p:nvSpPr>
          <p:cNvPr id="264" name="Google Shape;264;p23">
            <a:extLst>
              <a:ext uri="{FF2B5EF4-FFF2-40B4-BE49-F238E27FC236}">
                <a16:creationId xmlns:a16="http://schemas.microsoft.com/office/drawing/2014/main" id="{ADD3D031-F70E-F225-95D9-9004ED4F5E5F}"/>
              </a:ext>
            </a:extLst>
          </p:cNvPr>
          <p:cNvSpPr txBox="1"/>
          <p:nvPr/>
        </p:nvSpPr>
        <p:spPr>
          <a:xfrm>
            <a:off x="1177131" y="997122"/>
            <a:ext cx="7761288" cy="4278054"/>
          </a:xfrm>
          <a:prstGeom prst="rect">
            <a:avLst/>
          </a:prstGeom>
          <a:noFill/>
          <a:ln>
            <a:noFill/>
          </a:ln>
        </p:spPr>
        <p:txBody>
          <a:bodyPr spcFirstLastPara="1" wrap="square" lIns="91425" tIns="45700" rIns="91425" bIns="45700" anchor="t" anchorCtr="0">
            <a:spAutoFit/>
          </a:bodyPr>
          <a:lstStyle/>
          <a:p>
            <a:pPr algn="just">
              <a:buClr>
                <a:schemeClr val="dk1"/>
              </a:buClr>
              <a:buSzPts val="2000"/>
            </a:pPr>
            <a:r>
              <a:rPr lang="es-ES" sz="2000" i="1" noProof="0" dirty="0">
                <a:solidFill>
                  <a:srgbClr val="0000FF"/>
                </a:solidFill>
                <a:latin typeface="Times New Roman"/>
                <a:ea typeface="Times New Roman"/>
                <a:cs typeface="Times New Roman"/>
                <a:sym typeface="Times New Roman"/>
              </a:rPr>
              <a:t>Ejemplo 1: cálculo de la energía primaria equivalente</a:t>
            </a:r>
          </a:p>
          <a:p>
            <a:pPr algn="just">
              <a:buClr>
                <a:schemeClr val="dk1"/>
              </a:buClr>
              <a:buSzPts val="2000"/>
            </a:pPr>
            <a:endParaRPr lang="es-ES" sz="1800" noProof="0" dirty="0">
              <a:solidFill>
                <a:schemeClr val="dk1"/>
              </a:solidFill>
              <a:latin typeface="Times New Roman"/>
              <a:cs typeface="Times New Roman"/>
              <a:sym typeface="Times New Roman"/>
            </a:endParaRPr>
          </a:p>
          <a:p>
            <a:pPr algn="just"/>
            <a:r>
              <a:rPr lang="es-ES" sz="1600" noProof="0" dirty="0">
                <a:solidFill>
                  <a:schemeClr val="dk1"/>
                </a:solidFill>
                <a:latin typeface="Times New Roman"/>
                <a:cs typeface="Times New Roman"/>
              </a:rPr>
              <a:t>Calcular la energía primaria equivalente de fuentes de energía nuclear, solar de concentración (CSP), solar fotovoltaica (PV), hidroeléctrica y gas natural (GN) asumiendo que todas producen 100 GWh de electricidad final. Utilice los 3 métodos estudiados en clase.</a:t>
            </a:r>
          </a:p>
          <a:p>
            <a:pPr algn="just"/>
            <a:r>
              <a:rPr lang="es-ES" sz="1600" noProof="0" dirty="0">
                <a:solidFill>
                  <a:schemeClr val="dk1"/>
                </a:solidFill>
                <a:latin typeface="Times New Roman"/>
                <a:cs typeface="Times New Roman"/>
              </a:rPr>
              <a:t>Para ello considere los siguientes factores de conversión de energía térmica a eléctrica</a:t>
            </a:r>
          </a:p>
          <a:p>
            <a:pPr marL="541338" lvl="1" indent="-285750" algn="just">
              <a:buFont typeface="Arial" panose="020B0604020202020204" pitchFamily="34" charset="0"/>
              <a:buChar char="•"/>
            </a:pPr>
            <a:r>
              <a:rPr lang="es-ES" sz="1600" noProof="0" dirty="0">
                <a:solidFill>
                  <a:schemeClr val="dk1"/>
                </a:solidFill>
                <a:latin typeface="Times New Roman"/>
                <a:cs typeface="Times New Roman"/>
              </a:rPr>
              <a:t>Nuclear: 33%</a:t>
            </a:r>
          </a:p>
          <a:p>
            <a:pPr marL="541338" lvl="1" indent="-285750" algn="just">
              <a:buFont typeface="Arial" panose="020B0604020202020204" pitchFamily="34" charset="0"/>
              <a:buChar char="•"/>
            </a:pPr>
            <a:r>
              <a:rPr lang="es-ES" sz="1600" noProof="0" dirty="0">
                <a:solidFill>
                  <a:schemeClr val="dk1"/>
                </a:solidFill>
                <a:latin typeface="Times New Roman"/>
                <a:cs typeface="Times New Roman"/>
              </a:rPr>
              <a:t>CSP: 35%</a:t>
            </a:r>
          </a:p>
          <a:p>
            <a:pPr marL="541338" lvl="1" indent="-285750" algn="just">
              <a:buFont typeface="Arial" panose="020B0604020202020204" pitchFamily="34" charset="0"/>
              <a:buChar char="•"/>
            </a:pPr>
            <a:r>
              <a:rPr lang="es-ES" sz="1600" noProof="0" dirty="0">
                <a:solidFill>
                  <a:schemeClr val="dk1"/>
                </a:solidFill>
                <a:latin typeface="Times New Roman"/>
                <a:cs typeface="Times New Roman"/>
              </a:rPr>
              <a:t>Ciclo combinado de gas natural: 55%</a:t>
            </a:r>
          </a:p>
          <a:p>
            <a:pPr marL="541338" lvl="1" indent="-285750" algn="just">
              <a:buFont typeface="Arial" panose="020B0604020202020204" pitchFamily="34" charset="0"/>
              <a:buChar char="•"/>
            </a:pPr>
            <a:r>
              <a:rPr lang="es-ES" sz="1600" noProof="0" dirty="0">
                <a:solidFill>
                  <a:schemeClr val="dk1"/>
                </a:solidFill>
                <a:latin typeface="Times New Roman"/>
                <a:cs typeface="Times New Roman"/>
              </a:rPr>
              <a:t>Central de carbón de referencia: 38%</a:t>
            </a:r>
          </a:p>
          <a:p>
            <a:pPr marL="285750" indent="-285750" algn="just">
              <a:buClr>
                <a:schemeClr val="dk1"/>
              </a:buClr>
              <a:buSzPts val="2000"/>
              <a:buFontTx/>
              <a:buChar char="-"/>
            </a:pPr>
            <a:endParaRPr lang="es-ES" sz="1600" noProof="0" dirty="0">
              <a:solidFill>
                <a:schemeClr val="dk1"/>
              </a:solidFill>
              <a:latin typeface="Times New Roman"/>
              <a:cs typeface="Times New Roman"/>
              <a:sym typeface="Times New Roman"/>
            </a:endParaRPr>
          </a:p>
          <a:p>
            <a:pPr algn="just">
              <a:buClr>
                <a:schemeClr val="dk1"/>
              </a:buClr>
              <a:buSzPts val="2000"/>
            </a:pPr>
            <a:endParaRPr lang="es-ES" sz="1600" noProof="0" dirty="0">
              <a:solidFill>
                <a:schemeClr val="dk1"/>
              </a:solidFill>
              <a:latin typeface="Times New Roman"/>
              <a:cs typeface="Times New Roman"/>
            </a:endParaRPr>
          </a:p>
          <a:p>
            <a:pPr marL="0" marR="0" lvl="0" indent="0" algn="just" rtl="0">
              <a:spcBef>
                <a:spcPts val="0"/>
              </a:spcBef>
              <a:spcAft>
                <a:spcPts val="0"/>
              </a:spcAft>
              <a:buClr>
                <a:schemeClr val="dk1"/>
              </a:buClr>
              <a:buSzPts val="2000"/>
              <a:buFont typeface="Times New Roman"/>
              <a:buNone/>
            </a:pPr>
            <a:endParaRPr lang="es-ES" sz="2000" u="sng" noProof="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000"/>
              <a:buFont typeface="Times New Roman"/>
              <a:buNone/>
            </a:pPr>
            <a:endParaRPr lang="es-ES" sz="2000" u="sng" noProof="0" dirty="0">
              <a:solidFill>
                <a:schemeClr val="dk1"/>
              </a:solidFill>
              <a:latin typeface="Times New Roman"/>
              <a:cs typeface="Times New Roman"/>
              <a:sym typeface="Times New Roman"/>
            </a:endParaRPr>
          </a:p>
          <a:p>
            <a:pPr marL="0" marR="0" lvl="0" indent="0" algn="just" rtl="0">
              <a:spcBef>
                <a:spcPts val="0"/>
              </a:spcBef>
              <a:spcAft>
                <a:spcPts val="0"/>
              </a:spcAft>
              <a:buClr>
                <a:schemeClr val="dk1"/>
              </a:buClr>
              <a:buSzPts val="2000"/>
              <a:buFont typeface="Times New Roman"/>
              <a:buNone/>
            </a:pPr>
            <a:endParaRPr lang="es-ES" noProof="0" dirty="0"/>
          </a:p>
        </p:txBody>
      </p:sp>
      <p:sp>
        <p:nvSpPr>
          <p:cNvPr id="11" name="Google Shape;261;p23">
            <a:extLst>
              <a:ext uri="{FF2B5EF4-FFF2-40B4-BE49-F238E27FC236}">
                <a16:creationId xmlns:a16="http://schemas.microsoft.com/office/drawing/2014/main" id="{769CA480-B98C-FA15-DC52-AE953857C2D6}"/>
              </a:ext>
            </a:extLst>
          </p:cNvPr>
          <p:cNvSpPr txBox="1">
            <a:spLocks/>
          </p:cNvSpPr>
          <p:nvPr/>
        </p:nvSpPr>
        <p:spPr>
          <a:xfrm>
            <a:off x="942975" y="480377"/>
            <a:ext cx="8229600" cy="64992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a:spcBef>
                <a:spcPts val="0"/>
              </a:spcBef>
              <a:buFont typeface="Times New Roman"/>
              <a:buNone/>
            </a:pPr>
            <a:r>
              <a:rPr lang="es-ES" sz="2400" noProof="0" dirty="0">
                <a:sym typeface="Arial"/>
              </a:rPr>
              <a:t>Métodos para calcular la energía primaria equivalente</a:t>
            </a:r>
          </a:p>
        </p:txBody>
      </p:sp>
      <p:graphicFrame>
        <p:nvGraphicFramePr>
          <p:cNvPr id="2" name="Tabla 1">
            <a:extLst>
              <a:ext uri="{FF2B5EF4-FFF2-40B4-BE49-F238E27FC236}">
                <a16:creationId xmlns:a16="http://schemas.microsoft.com/office/drawing/2014/main" id="{2F5BAFB1-FD89-1A8F-2139-5D7025BAB917}"/>
              </a:ext>
            </a:extLst>
          </p:cNvPr>
          <p:cNvGraphicFramePr>
            <a:graphicFrameLocks noGrp="1"/>
          </p:cNvGraphicFramePr>
          <p:nvPr>
            <p:extLst>
              <p:ext uri="{D42A27DB-BD31-4B8C-83A1-F6EECF244321}">
                <p14:modId xmlns:p14="http://schemas.microsoft.com/office/powerpoint/2010/main" val="1383840034"/>
              </p:ext>
            </p:extLst>
          </p:nvPr>
        </p:nvGraphicFramePr>
        <p:xfrm>
          <a:off x="1107960" y="4345524"/>
          <a:ext cx="7371068" cy="2011680"/>
        </p:xfrm>
        <a:graphic>
          <a:graphicData uri="http://schemas.openxmlformats.org/drawingml/2006/table">
            <a:tbl>
              <a:tblPr firstRow="1" bandRow="1">
                <a:tableStyleId>{EB344D84-9AFB-497E-A393-DC336BA19D2E}</a:tableStyleId>
              </a:tblPr>
              <a:tblGrid>
                <a:gridCol w="1473566">
                  <a:extLst>
                    <a:ext uri="{9D8B030D-6E8A-4147-A177-3AD203B41FA5}">
                      <a16:colId xmlns:a16="http://schemas.microsoft.com/office/drawing/2014/main" val="1250290117"/>
                    </a:ext>
                  </a:extLst>
                </a:gridCol>
                <a:gridCol w="1182865">
                  <a:extLst>
                    <a:ext uri="{9D8B030D-6E8A-4147-A177-3AD203B41FA5}">
                      <a16:colId xmlns:a16="http://schemas.microsoft.com/office/drawing/2014/main" val="3266677001"/>
                    </a:ext>
                  </a:extLst>
                </a:gridCol>
                <a:gridCol w="1152259">
                  <a:extLst>
                    <a:ext uri="{9D8B030D-6E8A-4147-A177-3AD203B41FA5}">
                      <a16:colId xmlns:a16="http://schemas.microsoft.com/office/drawing/2014/main" val="3857998408"/>
                    </a:ext>
                  </a:extLst>
                </a:gridCol>
                <a:gridCol w="1150427">
                  <a:extLst>
                    <a:ext uri="{9D8B030D-6E8A-4147-A177-3AD203B41FA5}">
                      <a16:colId xmlns:a16="http://schemas.microsoft.com/office/drawing/2014/main" val="159300810"/>
                    </a:ext>
                  </a:extLst>
                </a:gridCol>
                <a:gridCol w="1188053">
                  <a:extLst>
                    <a:ext uri="{9D8B030D-6E8A-4147-A177-3AD203B41FA5}">
                      <a16:colId xmlns:a16="http://schemas.microsoft.com/office/drawing/2014/main" val="1489601422"/>
                    </a:ext>
                  </a:extLst>
                </a:gridCol>
                <a:gridCol w="1223898">
                  <a:extLst>
                    <a:ext uri="{9D8B030D-6E8A-4147-A177-3AD203B41FA5}">
                      <a16:colId xmlns:a16="http://schemas.microsoft.com/office/drawing/2014/main" val="1577976884"/>
                    </a:ext>
                  </a:extLst>
                </a:gridCol>
              </a:tblGrid>
              <a:tr h="370840">
                <a:tc>
                  <a:txBody>
                    <a:bodyPr/>
                    <a:lstStyle/>
                    <a:p>
                      <a:pPr algn="ctr"/>
                      <a:r>
                        <a:rPr lang="es-ES" sz="1200" b="0" i="1" noProof="0" dirty="0">
                          <a:solidFill>
                            <a:schemeClr val="tx1"/>
                          </a:solidFill>
                        </a:rPr>
                        <a:t>Método</a:t>
                      </a:r>
                    </a:p>
                  </a:txBody>
                  <a:tcPr/>
                </a:tc>
                <a:tc>
                  <a:txBody>
                    <a:bodyPr/>
                    <a:lstStyle/>
                    <a:p>
                      <a:pPr algn="ctr"/>
                      <a:r>
                        <a:rPr lang="es-ES" sz="1200" b="0" i="1" noProof="0" dirty="0">
                          <a:solidFill>
                            <a:schemeClr val="tx1"/>
                          </a:solidFill>
                        </a:rPr>
                        <a:t>Nuclear</a:t>
                      </a:r>
                    </a:p>
                    <a:p>
                      <a:pPr algn="ctr"/>
                      <a:r>
                        <a:rPr lang="es-ES" sz="1200" b="0" i="1" noProof="0" dirty="0">
                          <a:solidFill>
                            <a:schemeClr val="tx1"/>
                          </a:solidFill>
                        </a:rPr>
                        <a:t>[GWh]</a:t>
                      </a:r>
                    </a:p>
                  </a:txBody>
                  <a:tcPr/>
                </a:tc>
                <a:tc>
                  <a:txBody>
                    <a:bodyPr/>
                    <a:lstStyle/>
                    <a:p>
                      <a:pPr algn="ctr"/>
                      <a:r>
                        <a:rPr lang="es-ES" sz="1200" b="0" i="1" noProof="0" dirty="0">
                          <a:solidFill>
                            <a:schemeClr val="tx1"/>
                          </a:solidFill>
                        </a:rPr>
                        <a:t>CSP [GWh]</a:t>
                      </a:r>
                    </a:p>
                  </a:txBody>
                  <a:tcPr/>
                </a:tc>
                <a:tc>
                  <a:txBody>
                    <a:bodyPr/>
                    <a:lstStyle/>
                    <a:p>
                      <a:pPr algn="ctr"/>
                      <a:r>
                        <a:rPr lang="es-ES" sz="1200" b="0" i="1" noProof="0" dirty="0">
                          <a:solidFill>
                            <a:schemeClr val="tx1"/>
                          </a:solidFill>
                        </a:rPr>
                        <a:t>PV [GWh]</a:t>
                      </a:r>
                    </a:p>
                  </a:txBody>
                  <a:tcPr/>
                </a:tc>
                <a:tc>
                  <a:txBody>
                    <a:bodyPr/>
                    <a:lstStyle/>
                    <a:p>
                      <a:pPr algn="ctr"/>
                      <a:r>
                        <a:rPr lang="es-ES" sz="1200" b="0" i="1" noProof="0" dirty="0">
                          <a:solidFill>
                            <a:schemeClr val="tx1"/>
                          </a:solidFill>
                        </a:rPr>
                        <a:t>Hidroeléctrica [GWh]</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200" b="0" i="1" noProof="0" dirty="0">
                          <a:solidFill>
                            <a:schemeClr val="tx1"/>
                          </a:solidFill>
                        </a:rPr>
                        <a:t>GN [GWh]</a:t>
                      </a:r>
                    </a:p>
                    <a:p>
                      <a:pPr algn="ctr"/>
                      <a:endParaRPr lang="es-ES" sz="1200" b="0" i="1" noProof="0" dirty="0">
                        <a:solidFill>
                          <a:schemeClr val="tx1"/>
                        </a:solidFill>
                      </a:endParaRPr>
                    </a:p>
                  </a:txBody>
                  <a:tcPr/>
                </a:tc>
                <a:extLst>
                  <a:ext uri="{0D108BD9-81ED-4DB2-BD59-A6C34878D82A}">
                    <a16:rowId xmlns:a16="http://schemas.microsoft.com/office/drawing/2014/main" val="1059519303"/>
                  </a:ext>
                </a:extLst>
              </a:tr>
              <a:tr h="370840">
                <a:tc>
                  <a:txBody>
                    <a:bodyPr/>
                    <a:lstStyle/>
                    <a:p>
                      <a:pPr algn="ctr"/>
                      <a:r>
                        <a:rPr lang="es-ES" sz="1200" i="1" noProof="0" dirty="0"/>
                        <a:t>Energía Física Contenida</a:t>
                      </a:r>
                    </a:p>
                  </a:txBody>
                  <a:tcPr/>
                </a:tc>
                <a:tc>
                  <a:txBody>
                    <a:bodyPr/>
                    <a:lstStyle/>
                    <a:p>
                      <a:pPr algn="ctr"/>
                      <a:r>
                        <a:rPr lang="es-ES" sz="1200" b="0" i="1" noProof="0" dirty="0"/>
                        <a:t>100/0.33=303</a:t>
                      </a:r>
                    </a:p>
                  </a:txBody>
                  <a:tcPr/>
                </a:tc>
                <a:tc>
                  <a:txBody>
                    <a:bodyPr/>
                    <a:lstStyle/>
                    <a:p>
                      <a:pPr algn="ctr"/>
                      <a:r>
                        <a:rPr lang="es-ES" sz="1200" b="0" noProof="0" dirty="0"/>
                        <a:t>100/0.35=285</a:t>
                      </a:r>
                    </a:p>
                  </a:txBody>
                  <a:tcPr/>
                </a:tc>
                <a:tc>
                  <a:txBody>
                    <a:bodyPr/>
                    <a:lstStyle/>
                    <a:p>
                      <a:pPr algn="ctr"/>
                      <a:r>
                        <a:rPr lang="es-ES" sz="1200" b="0" noProof="0" dirty="0"/>
                        <a:t>100</a:t>
                      </a:r>
                    </a:p>
                    <a:p>
                      <a:pPr algn="ctr"/>
                      <a:r>
                        <a:rPr lang="es-ES" sz="1200" b="0" noProof="0" dirty="0"/>
                        <a:t>(subestimada)</a:t>
                      </a:r>
                    </a:p>
                  </a:txBody>
                  <a:tcPr/>
                </a:tc>
                <a:tc>
                  <a:txBody>
                    <a:bodyPr/>
                    <a:lstStyle/>
                    <a:p>
                      <a:pPr algn="ctr"/>
                      <a:r>
                        <a:rPr lang="es-ES" sz="1200" b="0" noProof="0" dirty="0"/>
                        <a:t>100</a:t>
                      </a:r>
                    </a:p>
                    <a:p>
                      <a:pPr algn="ctr"/>
                      <a:r>
                        <a:rPr lang="es-ES" sz="1200" b="0" noProof="0" dirty="0"/>
                        <a:t>(subestimada)</a:t>
                      </a:r>
                    </a:p>
                  </a:txBody>
                  <a:tcPr/>
                </a:tc>
                <a:tc>
                  <a:txBody>
                    <a:bodyPr/>
                    <a:lstStyle/>
                    <a:p>
                      <a:pPr algn="ctr"/>
                      <a:r>
                        <a:rPr lang="es-ES" sz="1200" b="0" noProof="0" dirty="0"/>
                        <a:t>100/0.55=181</a:t>
                      </a:r>
                    </a:p>
                  </a:txBody>
                  <a:tcPr/>
                </a:tc>
                <a:extLst>
                  <a:ext uri="{0D108BD9-81ED-4DB2-BD59-A6C34878D82A}">
                    <a16:rowId xmlns:a16="http://schemas.microsoft.com/office/drawing/2014/main" val="2985600693"/>
                  </a:ext>
                </a:extLst>
              </a:tr>
              <a:tr h="370840">
                <a:tc>
                  <a:txBody>
                    <a:bodyPr/>
                    <a:lstStyle/>
                    <a:p>
                      <a:pPr algn="ctr"/>
                      <a:r>
                        <a:rPr lang="es-ES" sz="1200" i="1" noProof="0" dirty="0"/>
                        <a:t>Sustitución Parcial</a:t>
                      </a:r>
                    </a:p>
                    <a:p>
                      <a:pPr algn="ctr"/>
                      <a:r>
                        <a:rPr lang="es-ES" sz="1200" i="1" noProof="0" dirty="0"/>
                        <a:t>(referencia carbón)</a:t>
                      </a:r>
                    </a:p>
                  </a:txBody>
                  <a:tcPr/>
                </a:tc>
                <a:tc>
                  <a:txBody>
                    <a:bodyPr/>
                    <a:lstStyle/>
                    <a:p>
                      <a:pPr algn="ctr"/>
                      <a:r>
                        <a:rPr lang="es-ES" sz="1200" b="0" i="1" noProof="0" dirty="0"/>
                        <a:t>100/0.38=263</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0" i="1" u="none" strike="noStrike" kern="0" cap="none" spc="0" normalizeH="0" baseline="0" noProof="0" dirty="0">
                          <a:ln>
                            <a:noFill/>
                          </a:ln>
                          <a:solidFill>
                            <a:srgbClr val="000000"/>
                          </a:solidFill>
                          <a:effectLst/>
                          <a:uLnTx/>
                          <a:uFillTx/>
                          <a:latin typeface="Arial"/>
                          <a:ea typeface="+mn-ea"/>
                          <a:cs typeface="+mn-cs"/>
                          <a:sym typeface="Arial"/>
                        </a:rPr>
                        <a:t>100/0.38=263</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0" i="1" u="none" strike="noStrike" kern="0" cap="none" spc="0" normalizeH="0" baseline="0" noProof="0" dirty="0">
                          <a:ln>
                            <a:noFill/>
                          </a:ln>
                          <a:solidFill>
                            <a:srgbClr val="000000"/>
                          </a:solidFill>
                          <a:effectLst/>
                          <a:uLnTx/>
                          <a:uFillTx/>
                          <a:latin typeface="Arial"/>
                          <a:ea typeface="+mn-ea"/>
                          <a:cs typeface="+mn-cs"/>
                          <a:sym typeface="Arial"/>
                        </a:rPr>
                        <a:t>100/0.38=263</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0" i="1" u="none" strike="noStrike" kern="0" cap="none" spc="0" normalizeH="0" baseline="0" noProof="0" dirty="0">
                          <a:ln>
                            <a:noFill/>
                          </a:ln>
                          <a:solidFill>
                            <a:srgbClr val="000000"/>
                          </a:solidFill>
                          <a:effectLst/>
                          <a:uLnTx/>
                          <a:uFillTx/>
                          <a:latin typeface="Arial"/>
                          <a:ea typeface="+mn-ea"/>
                          <a:cs typeface="+mn-cs"/>
                          <a:sym typeface="Arial"/>
                        </a:rPr>
                        <a:t>100/0.38=263</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200" b="0" i="1" noProof="0" dirty="0"/>
                        <a:t>100/0.55=181</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200" b="0" i="1" noProof="0" dirty="0"/>
                        <a:t>(combustible fósil)</a:t>
                      </a:r>
                      <a:endParaRPr lang="es-ES" sz="1200" b="0" noProof="0" dirty="0"/>
                    </a:p>
                  </a:txBody>
                  <a:tcPr/>
                </a:tc>
                <a:extLst>
                  <a:ext uri="{0D108BD9-81ED-4DB2-BD59-A6C34878D82A}">
                    <a16:rowId xmlns:a16="http://schemas.microsoft.com/office/drawing/2014/main" val="4243706457"/>
                  </a:ext>
                </a:extLst>
              </a:tr>
              <a:tr h="370840">
                <a:tc>
                  <a:txBody>
                    <a:bodyPr/>
                    <a:lstStyle/>
                    <a:p>
                      <a:pPr algn="ctr"/>
                      <a:r>
                        <a:rPr lang="es-ES" sz="1200" i="1" noProof="0" dirty="0"/>
                        <a:t>Equivalente Directo</a:t>
                      </a:r>
                    </a:p>
                  </a:txBody>
                  <a:tcPr/>
                </a:tc>
                <a:tc>
                  <a:txBody>
                    <a:bodyPr/>
                    <a:lstStyle/>
                    <a:p>
                      <a:pPr algn="ctr"/>
                      <a:r>
                        <a:rPr lang="es-ES" sz="1200" b="1" i="1" noProof="0" dirty="0"/>
                        <a:t>100</a:t>
                      </a:r>
                    </a:p>
                  </a:txBody>
                  <a:tcPr/>
                </a:tc>
                <a:tc>
                  <a:txBody>
                    <a:bodyPr/>
                    <a:lstStyle/>
                    <a:p>
                      <a:pPr algn="ctr"/>
                      <a:r>
                        <a:rPr lang="es-ES" sz="1200" b="1" noProof="0" dirty="0"/>
                        <a:t>100</a:t>
                      </a:r>
                    </a:p>
                  </a:txBody>
                  <a:tcPr/>
                </a:tc>
                <a:tc>
                  <a:txBody>
                    <a:bodyPr/>
                    <a:lstStyle/>
                    <a:p>
                      <a:pPr algn="ctr"/>
                      <a:r>
                        <a:rPr lang="es-ES" sz="1200" b="1" noProof="0" dirty="0"/>
                        <a:t>100</a:t>
                      </a:r>
                    </a:p>
                  </a:txBody>
                  <a:tcPr/>
                </a:tc>
                <a:tc>
                  <a:txBody>
                    <a:bodyPr/>
                    <a:lstStyle/>
                    <a:p>
                      <a:pPr algn="ctr"/>
                      <a:r>
                        <a:rPr lang="es-ES" sz="1200" b="1" noProof="0" dirty="0"/>
                        <a:t>100</a:t>
                      </a:r>
                    </a:p>
                  </a:txBody>
                  <a:tcPr/>
                </a:tc>
                <a:tc>
                  <a:txBody>
                    <a:bodyPr/>
                    <a:lstStyle/>
                    <a:p>
                      <a:pPr algn="ctr"/>
                      <a:r>
                        <a:rPr lang="es-ES" sz="1200" b="1" noProof="0" dirty="0"/>
                        <a:t>100</a:t>
                      </a:r>
                    </a:p>
                  </a:txBody>
                  <a:tcPr/>
                </a:tc>
                <a:extLst>
                  <a:ext uri="{0D108BD9-81ED-4DB2-BD59-A6C34878D82A}">
                    <a16:rowId xmlns:a16="http://schemas.microsoft.com/office/drawing/2014/main" val="1443750179"/>
                  </a:ext>
                </a:extLst>
              </a:tr>
            </a:tbl>
          </a:graphicData>
        </a:graphic>
      </p:graphicFrame>
      <p:sp>
        <p:nvSpPr>
          <p:cNvPr id="5" name="Google Shape;233;p20">
            <a:extLst>
              <a:ext uri="{FF2B5EF4-FFF2-40B4-BE49-F238E27FC236}">
                <a16:creationId xmlns:a16="http://schemas.microsoft.com/office/drawing/2014/main" id="{C98BD7BD-88B7-E3FE-E558-3CB9C84ADEA5}"/>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a:t>Balance energético</a:t>
            </a:r>
            <a:endParaRPr lang="es-ES" kern="0" dirty="0"/>
          </a:p>
        </p:txBody>
      </p:sp>
    </p:spTree>
    <p:extLst>
      <p:ext uri="{BB962C8B-B14F-4D97-AF65-F5344CB8AC3E}">
        <p14:creationId xmlns:p14="http://schemas.microsoft.com/office/powerpoint/2010/main" val="3662886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62BB3C17-1200-593E-7754-2A6562E0CFB8}"/>
            </a:ext>
          </a:extLst>
        </p:cNvPr>
        <p:cNvGrpSpPr/>
        <p:nvPr/>
      </p:nvGrpSpPr>
      <p:grpSpPr>
        <a:xfrm>
          <a:off x="0" y="0"/>
          <a:ext cx="0" cy="0"/>
          <a:chOff x="0" y="0"/>
          <a:chExt cx="0" cy="0"/>
        </a:xfrm>
      </p:grpSpPr>
      <p:sp>
        <p:nvSpPr>
          <p:cNvPr id="262" name="Google Shape;262;p23">
            <a:extLst>
              <a:ext uri="{FF2B5EF4-FFF2-40B4-BE49-F238E27FC236}">
                <a16:creationId xmlns:a16="http://schemas.microsoft.com/office/drawing/2014/main" id="{4B8B6724-22E9-38DE-C7BA-D1D935ABC565}"/>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18</a:t>
            </a:fld>
            <a:endParaRPr lang="es-ES" noProof="0" dirty="0"/>
          </a:p>
        </p:txBody>
      </p:sp>
      <p:sp>
        <p:nvSpPr>
          <p:cNvPr id="264" name="Google Shape;264;p23">
            <a:extLst>
              <a:ext uri="{FF2B5EF4-FFF2-40B4-BE49-F238E27FC236}">
                <a16:creationId xmlns:a16="http://schemas.microsoft.com/office/drawing/2014/main" id="{9D4E9525-6A68-0644-5AC4-56DAE1C94ED5}"/>
              </a:ext>
            </a:extLst>
          </p:cNvPr>
          <p:cNvSpPr txBox="1"/>
          <p:nvPr/>
        </p:nvSpPr>
        <p:spPr>
          <a:xfrm>
            <a:off x="1008720" y="1029116"/>
            <a:ext cx="7761288" cy="4216499"/>
          </a:xfrm>
          <a:prstGeom prst="rect">
            <a:avLst/>
          </a:prstGeom>
          <a:noFill/>
          <a:ln>
            <a:noFill/>
          </a:ln>
        </p:spPr>
        <p:txBody>
          <a:bodyPr spcFirstLastPara="1" wrap="square" lIns="91425" tIns="45700" rIns="91425" bIns="45700" anchor="t" anchorCtr="0">
            <a:spAutoFit/>
          </a:bodyPr>
          <a:lstStyle/>
          <a:p>
            <a:pPr algn="just">
              <a:buClr>
                <a:schemeClr val="dk1"/>
              </a:buClr>
              <a:buSzPts val="2000"/>
            </a:pPr>
            <a:r>
              <a:rPr lang="es-ES" sz="2000" i="1" noProof="0" dirty="0">
                <a:solidFill>
                  <a:srgbClr val="0000FF"/>
                </a:solidFill>
                <a:latin typeface="Times New Roman"/>
                <a:ea typeface="Times New Roman"/>
                <a:cs typeface="Times New Roman"/>
                <a:sym typeface="Times New Roman"/>
              </a:rPr>
              <a:t>Ejemplo 2: cálculo de la energía primaria equivalente</a:t>
            </a:r>
          </a:p>
          <a:p>
            <a:pPr algn="just">
              <a:buClr>
                <a:schemeClr val="dk1"/>
              </a:buClr>
              <a:buSzPts val="2000"/>
            </a:pPr>
            <a:endParaRPr lang="es-ES" sz="1800" noProof="0" dirty="0">
              <a:solidFill>
                <a:schemeClr val="dk1"/>
              </a:solidFill>
              <a:latin typeface="Times New Roman"/>
              <a:cs typeface="Times New Roman"/>
              <a:sym typeface="Times New Roman"/>
            </a:endParaRPr>
          </a:p>
          <a:p>
            <a:pPr algn="just">
              <a:buClr>
                <a:schemeClr val="dk1"/>
              </a:buClr>
              <a:buSzPts val="2000"/>
            </a:pPr>
            <a:r>
              <a:rPr lang="es-ES" sz="1600" noProof="0" dirty="0">
                <a:solidFill>
                  <a:schemeClr val="dk1"/>
                </a:solidFill>
                <a:latin typeface="Times New Roman"/>
                <a:cs typeface="Times New Roman"/>
                <a:sym typeface="Times New Roman"/>
              </a:rPr>
              <a:t>En el balance energético anual de una región se tienen las siguientes cantidades de energía primaria equivalente para distintas fuentes de energía. Calcule utilizando los métodos estudiados el resto de los parámetros y compárelos entre ellos.</a:t>
            </a:r>
          </a:p>
          <a:p>
            <a:pPr algn="just">
              <a:buClr>
                <a:schemeClr val="dk1"/>
              </a:buClr>
              <a:buSzPts val="2000"/>
            </a:pPr>
            <a:endParaRPr lang="es-ES" sz="1600" noProof="0" dirty="0">
              <a:solidFill>
                <a:schemeClr val="dk1"/>
              </a:solidFill>
              <a:latin typeface="Times New Roman"/>
              <a:cs typeface="Times New Roman"/>
              <a:sym typeface="Times New Roman"/>
            </a:endParaRPr>
          </a:p>
          <a:p>
            <a:pPr algn="just">
              <a:buClr>
                <a:schemeClr val="dk1"/>
              </a:buClr>
              <a:buSzPts val="2000"/>
            </a:pPr>
            <a:r>
              <a:rPr lang="es-ES" sz="1600" noProof="0" dirty="0">
                <a:solidFill>
                  <a:schemeClr val="dk1"/>
                </a:solidFill>
                <a:latin typeface="Times New Roman"/>
                <a:cs typeface="Times New Roman"/>
                <a:sym typeface="Times New Roman"/>
              </a:rPr>
              <a:t>Considere los siguientes factores de conversión:</a:t>
            </a:r>
          </a:p>
          <a:p>
            <a:pPr algn="just">
              <a:buClr>
                <a:schemeClr val="dk1"/>
              </a:buClr>
              <a:buSzPts val="2000"/>
            </a:pPr>
            <a:endParaRPr lang="es-ES" sz="1600" noProof="0" dirty="0">
              <a:solidFill>
                <a:schemeClr val="dk1"/>
              </a:solidFill>
              <a:latin typeface="Times New Roman"/>
              <a:cs typeface="Times New Roman"/>
              <a:sym typeface="Times New Roman"/>
            </a:endParaRPr>
          </a:p>
          <a:p>
            <a:pPr marL="285750" indent="-285750" algn="just">
              <a:buClr>
                <a:schemeClr val="dk1"/>
              </a:buClr>
              <a:buSzPts val="2000"/>
              <a:buFontTx/>
              <a:buChar char="-"/>
            </a:pPr>
            <a:r>
              <a:rPr lang="es-ES" sz="1600" noProof="0" dirty="0">
                <a:solidFill>
                  <a:schemeClr val="dk1"/>
                </a:solidFill>
                <a:latin typeface="Times New Roman"/>
                <a:cs typeface="Times New Roman"/>
                <a:sym typeface="Times New Roman"/>
              </a:rPr>
              <a:t>Eficiencia central térmica de carbón: 38%</a:t>
            </a:r>
          </a:p>
          <a:p>
            <a:pPr marL="285750" indent="-285750" algn="just">
              <a:buClr>
                <a:schemeClr val="dk1"/>
              </a:buClr>
              <a:buSzPts val="2000"/>
              <a:buFontTx/>
              <a:buChar char="-"/>
            </a:pPr>
            <a:r>
              <a:rPr lang="es-ES" sz="1600" noProof="0" dirty="0">
                <a:solidFill>
                  <a:schemeClr val="dk1"/>
                </a:solidFill>
                <a:latin typeface="Times New Roman"/>
                <a:cs typeface="Times New Roman"/>
                <a:sym typeface="Times New Roman"/>
              </a:rPr>
              <a:t>Eficiencia central nuclear: 33%</a:t>
            </a:r>
          </a:p>
          <a:p>
            <a:pPr marL="285750" indent="-285750" algn="just">
              <a:buClr>
                <a:schemeClr val="dk1"/>
              </a:buClr>
              <a:buSzPts val="2000"/>
              <a:buFontTx/>
              <a:buChar char="-"/>
            </a:pPr>
            <a:r>
              <a:rPr lang="es-ES" sz="1600" noProof="0" dirty="0">
                <a:solidFill>
                  <a:schemeClr val="dk1"/>
                </a:solidFill>
                <a:latin typeface="Times New Roman"/>
                <a:cs typeface="Times New Roman"/>
                <a:sym typeface="Times New Roman"/>
              </a:rPr>
              <a:t>Eficiencia ciclo combinado de gas natural: 61%</a:t>
            </a:r>
          </a:p>
          <a:p>
            <a:pPr marL="285750" indent="-285750" algn="just">
              <a:buClr>
                <a:schemeClr val="dk1"/>
              </a:buClr>
              <a:buSzPts val="2000"/>
              <a:buFontTx/>
              <a:buChar char="-"/>
            </a:pPr>
            <a:endParaRPr lang="es-ES" sz="1600" noProof="0" dirty="0">
              <a:solidFill>
                <a:schemeClr val="dk1"/>
              </a:solidFill>
              <a:latin typeface="Times New Roman"/>
              <a:cs typeface="Times New Roman"/>
              <a:sym typeface="Times New Roman"/>
            </a:endParaRPr>
          </a:p>
          <a:p>
            <a:pPr algn="just">
              <a:buClr>
                <a:schemeClr val="dk1"/>
              </a:buClr>
              <a:buSzPts val="2000"/>
            </a:pPr>
            <a:endParaRPr lang="es-ES" sz="1600" noProof="0" dirty="0">
              <a:solidFill>
                <a:schemeClr val="dk1"/>
              </a:solidFill>
              <a:latin typeface="Times New Roman"/>
              <a:cs typeface="Times New Roman"/>
            </a:endParaRPr>
          </a:p>
          <a:p>
            <a:pPr marL="0" marR="0" lvl="0" indent="0" algn="just" rtl="0">
              <a:spcBef>
                <a:spcPts val="0"/>
              </a:spcBef>
              <a:spcAft>
                <a:spcPts val="0"/>
              </a:spcAft>
              <a:buClr>
                <a:schemeClr val="dk1"/>
              </a:buClr>
              <a:buSzPts val="2000"/>
              <a:buFont typeface="Times New Roman"/>
              <a:buNone/>
            </a:pPr>
            <a:endParaRPr lang="es-ES" sz="2000" u="sng" noProof="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000"/>
              <a:buFont typeface="Times New Roman"/>
              <a:buNone/>
            </a:pPr>
            <a:endParaRPr lang="es-ES" sz="2000" u="sng" noProof="0" dirty="0">
              <a:solidFill>
                <a:schemeClr val="dk1"/>
              </a:solidFill>
              <a:latin typeface="Times New Roman"/>
              <a:cs typeface="Times New Roman"/>
              <a:sym typeface="Times New Roman"/>
            </a:endParaRPr>
          </a:p>
          <a:p>
            <a:pPr marL="0" marR="0" lvl="0" indent="0" algn="just" rtl="0">
              <a:spcBef>
                <a:spcPts val="0"/>
              </a:spcBef>
              <a:spcAft>
                <a:spcPts val="0"/>
              </a:spcAft>
              <a:buClr>
                <a:schemeClr val="dk1"/>
              </a:buClr>
              <a:buSzPts val="2000"/>
              <a:buFont typeface="Times New Roman"/>
              <a:buNone/>
            </a:pPr>
            <a:endParaRPr lang="es-ES" noProof="0" dirty="0"/>
          </a:p>
        </p:txBody>
      </p:sp>
      <p:sp>
        <p:nvSpPr>
          <p:cNvPr id="11" name="Google Shape;261;p23">
            <a:extLst>
              <a:ext uri="{FF2B5EF4-FFF2-40B4-BE49-F238E27FC236}">
                <a16:creationId xmlns:a16="http://schemas.microsoft.com/office/drawing/2014/main" id="{A0CC8255-7963-2162-9F02-AE1DCD0FA2BB}"/>
              </a:ext>
            </a:extLst>
          </p:cNvPr>
          <p:cNvSpPr txBox="1">
            <a:spLocks/>
          </p:cNvSpPr>
          <p:nvPr/>
        </p:nvSpPr>
        <p:spPr>
          <a:xfrm>
            <a:off x="942975" y="480377"/>
            <a:ext cx="8229600" cy="64992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a:spcBef>
                <a:spcPts val="0"/>
              </a:spcBef>
              <a:buFont typeface="Times New Roman"/>
              <a:buNone/>
            </a:pPr>
            <a:r>
              <a:rPr lang="es-ES" sz="2400" noProof="0" dirty="0">
                <a:sym typeface="Arial"/>
              </a:rPr>
              <a:t>Métodos para calcular la energía primaria equivalente</a:t>
            </a:r>
          </a:p>
        </p:txBody>
      </p:sp>
      <p:graphicFrame>
        <p:nvGraphicFramePr>
          <p:cNvPr id="2" name="Tabla 1">
            <a:extLst>
              <a:ext uri="{FF2B5EF4-FFF2-40B4-BE49-F238E27FC236}">
                <a16:creationId xmlns:a16="http://schemas.microsoft.com/office/drawing/2014/main" id="{1FBC6064-C2A5-C10C-648B-734B2F84AC2A}"/>
              </a:ext>
            </a:extLst>
          </p:cNvPr>
          <p:cNvGraphicFramePr>
            <a:graphicFrameLocks noGrp="1"/>
          </p:cNvGraphicFramePr>
          <p:nvPr>
            <p:extLst>
              <p:ext uri="{D42A27DB-BD31-4B8C-83A1-F6EECF244321}">
                <p14:modId xmlns:p14="http://schemas.microsoft.com/office/powerpoint/2010/main" val="1446585629"/>
              </p:ext>
            </p:extLst>
          </p:nvPr>
        </p:nvGraphicFramePr>
        <p:xfrm>
          <a:off x="1168214" y="4345524"/>
          <a:ext cx="7310810" cy="1483360"/>
        </p:xfrm>
        <a:graphic>
          <a:graphicData uri="http://schemas.openxmlformats.org/drawingml/2006/table">
            <a:tbl>
              <a:tblPr firstRow="1" bandRow="1">
                <a:tableStyleId>{EB344D84-9AFB-497E-A393-DC336BA19D2E}</a:tableStyleId>
              </a:tblPr>
              <a:tblGrid>
                <a:gridCol w="3010179">
                  <a:extLst>
                    <a:ext uri="{9D8B030D-6E8A-4147-A177-3AD203B41FA5}">
                      <a16:colId xmlns:a16="http://schemas.microsoft.com/office/drawing/2014/main" val="1250290117"/>
                    </a:ext>
                  </a:extLst>
                </a:gridCol>
                <a:gridCol w="1241448">
                  <a:extLst>
                    <a:ext uri="{9D8B030D-6E8A-4147-A177-3AD203B41FA5}">
                      <a16:colId xmlns:a16="http://schemas.microsoft.com/office/drawing/2014/main" val="3857998408"/>
                    </a:ext>
                  </a:extLst>
                </a:gridCol>
                <a:gridCol w="1228099">
                  <a:extLst>
                    <a:ext uri="{9D8B030D-6E8A-4147-A177-3AD203B41FA5}">
                      <a16:colId xmlns:a16="http://schemas.microsoft.com/office/drawing/2014/main" val="159300810"/>
                    </a:ext>
                  </a:extLst>
                </a:gridCol>
                <a:gridCol w="1831084">
                  <a:extLst>
                    <a:ext uri="{9D8B030D-6E8A-4147-A177-3AD203B41FA5}">
                      <a16:colId xmlns:a16="http://schemas.microsoft.com/office/drawing/2014/main" val="1489601422"/>
                    </a:ext>
                  </a:extLst>
                </a:gridCol>
              </a:tblGrid>
              <a:tr h="370840">
                <a:tc>
                  <a:txBody>
                    <a:bodyPr/>
                    <a:lstStyle/>
                    <a:p>
                      <a:pPr algn="ctr"/>
                      <a:r>
                        <a:rPr lang="es-ES" b="0" i="1" noProof="0" dirty="0">
                          <a:solidFill>
                            <a:schemeClr val="tx1"/>
                          </a:solidFill>
                        </a:rPr>
                        <a:t>Método</a:t>
                      </a:r>
                    </a:p>
                  </a:txBody>
                  <a:tcPr/>
                </a:tc>
                <a:tc>
                  <a:txBody>
                    <a:bodyPr/>
                    <a:lstStyle/>
                    <a:p>
                      <a:pPr algn="ctr"/>
                      <a:r>
                        <a:rPr lang="es-ES" b="0" i="1" noProof="0" dirty="0">
                          <a:solidFill>
                            <a:schemeClr val="tx1"/>
                          </a:solidFill>
                        </a:rPr>
                        <a:t>GN [TJ]</a:t>
                      </a:r>
                    </a:p>
                  </a:txBody>
                  <a:tcPr/>
                </a:tc>
                <a:tc>
                  <a:txBody>
                    <a:bodyPr/>
                    <a:lstStyle/>
                    <a:p>
                      <a:pPr algn="ctr"/>
                      <a:r>
                        <a:rPr lang="es-ES" b="0" i="1" noProof="0" dirty="0">
                          <a:solidFill>
                            <a:schemeClr val="tx1"/>
                          </a:solidFill>
                        </a:rPr>
                        <a:t>Nuclear [TJ]</a:t>
                      </a:r>
                    </a:p>
                  </a:txBody>
                  <a:tcPr/>
                </a:tc>
                <a:tc>
                  <a:txBody>
                    <a:bodyPr/>
                    <a:lstStyle/>
                    <a:p>
                      <a:pPr algn="ctr"/>
                      <a:r>
                        <a:rPr lang="es-ES" b="0" i="1" noProof="0" dirty="0">
                          <a:solidFill>
                            <a:schemeClr val="tx1"/>
                          </a:solidFill>
                        </a:rPr>
                        <a:t>Hidroeléctrica [TJ]</a:t>
                      </a:r>
                    </a:p>
                  </a:txBody>
                  <a:tcPr/>
                </a:tc>
                <a:extLst>
                  <a:ext uri="{0D108BD9-81ED-4DB2-BD59-A6C34878D82A}">
                    <a16:rowId xmlns:a16="http://schemas.microsoft.com/office/drawing/2014/main" val="1059519303"/>
                  </a:ext>
                </a:extLst>
              </a:tr>
              <a:tr h="370840">
                <a:tc>
                  <a:txBody>
                    <a:bodyPr/>
                    <a:lstStyle/>
                    <a:p>
                      <a:pPr algn="ctr"/>
                      <a:r>
                        <a:rPr lang="es-ES" i="1" noProof="0" dirty="0"/>
                        <a:t>Energía Física Contenida</a:t>
                      </a:r>
                    </a:p>
                  </a:txBody>
                  <a:tcPr/>
                </a:tc>
                <a:tc>
                  <a:txBody>
                    <a:bodyPr/>
                    <a:lstStyle/>
                    <a:p>
                      <a:pPr algn="ctr"/>
                      <a:endParaRPr lang="es-ES" noProof="0" dirty="0"/>
                    </a:p>
                  </a:txBody>
                  <a:tcPr/>
                </a:tc>
                <a:tc>
                  <a:txBody>
                    <a:bodyPr/>
                    <a:lstStyle/>
                    <a:p>
                      <a:pPr algn="ctr"/>
                      <a:r>
                        <a:rPr lang="es-ES" b="1" noProof="0" dirty="0"/>
                        <a:t>16.63</a:t>
                      </a:r>
                    </a:p>
                  </a:txBody>
                  <a:tcPr/>
                </a:tc>
                <a:tc>
                  <a:txBody>
                    <a:bodyPr/>
                    <a:lstStyle/>
                    <a:p>
                      <a:pPr algn="ctr"/>
                      <a:endParaRPr lang="es-ES" noProof="0" dirty="0"/>
                    </a:p>
                  </a:txBody>
                  <a:tcPr/>
                </a:tc>
                <a:extLst>
                  <a:ext uri="{0D108BD9-81ED-4DB2-BD59-A6C34878D82A}">
                    <a16:rowId xmlns:a16="http://schemas.microsoft.com/office/drawing/2014/main" val="2985600693"/>
                  </a:ext>
                </a:extLst>
              </a:tr>
              <a:tr h="370840">
                <a:tc>
                  <a:txBody>
                    <a:bodyPr/>
                    <a:lstStyle/>
                    <a:p>
                      <a:pPr algn="ctr"/>
                      <a:r>
                        <a:rPr lang="es-ES" i="1" noProof="0" dirty="0"/>
                        <a:t>Sustitución Parcial</a:t>
                      </a:r>
                    </a:p>
                  </a:txBody>
                  <a:tcPr/>
                </a:tc>
                <a:tc>
                  <a:txBody>
                    <a:bodyPr/>
                    <a:lstStyle/>
                    <a:p>
                      <a:pPr algn="ctr"/>
                      <a:r>
                        <a:rPr lang="es-ES" b="1" noProof="0" dirty="0"/>
                        <a:t>0.83</a:t>
                      </a:r>
                    </a:p>
                  </a:txBody>
                  <a:tcPr/>
                </a:tc>
                <a:tc>
                  <a:txBody>
                    <a:bodyPr/>
                    <a:lstStyle/>
                    <a:p>
                      <a:pPr algn="ctr"/>
                      <a:endParaRPr lang="es-ES" noProof="0" dirty="0"/>
                    </a:p>
                  </a:txBody>
                  <a:tcPr/>
                </a:tc>
                <a:tc>
                  <a:txBody>
                    <a:bodyPr/>
                    <a:lstStyle/>
                    <a:p>
                      <a:pPr algn="ctr"/>
                      <a:endParaRPr lang="es-ES" noProof="0" dirty="0"/>
                    </a:p>
                  </a:txBody>
                  <a:tcPr/>
                </a:tc>
                <a:extLst>
                  <a:ext uri="{0D108BD9-81ED-4DB2-BD59-A6C34878D82A}">
                    <a16:rowId xmlns:a16="http://schemas.microsoft.com/office/drawing/2014/main" val="4243706457"/>
                  </a:ext>
                </a:extLst>
              </a:tr>
              <a:tr h="370840">
                <a:tc>
                  <a:txBody>
                    <a:bodyPr/>
                    <a:lstStyle/>
                    <a:p>
                      <a:pPr algn="ctr"/>
                      <a:r>
                        <a:rPr lang="es-ES" i="1" noProof="0" dirty="0"/>
                        <a:t>Equivalente Directo</a:t>
                      </a:r>
                    </a:p>
                  </a:txBody>
                  <a:tcPr/>
                </a:tc>
                <a:tc>
                  <a:txBody>
                    <a:bodyPr/>
                    <a:lstStyle/>
                    <a:p>
                      <a:pPr algn="ctr"/>
                      <a:endParaRPr lang="es-ES" noProof="0" dirty="0"/>
                    </a:p>
                  </a:txBody>
                  <a:tcPr/>
                </a:tc>
                <a:tc>
                  <a:txBody>
                    <a:bodyPr/>
                    <a:lstStyle/>
                    <a:p>
                      <a:pPr algn="ctr"/>
                      <a:endParaRPr lang="es-ES" noProof="0" dirty="0"/>
                    </a:p>
                  </a:txBody>
                  <a:tcPr/>
                </a:tc>
                <a:tc>
                  <a:txBody>
                    <a:bodyPr/>
                    <a:lstStyle/>
                    <a:p>
                      <a:pPr algn="ctr"/>
                      <a:r>
                        <a:rPr lang="es-ES" b="1" noProof="0" dirty="0"/>
                        <a:t>5.92</a:t>
                      </a:r>
                    </a:p>
                  </a:txBody>
                  <a:tcPr/>
                </a:tc>
                <a:extLst>
                  <a:ext uri="{0D108BD9-81ED-4DB2-BD59-A6C34878D82A}">
                    <a16:rowId xmlns:a16="http://schemas.microsoft.com/office/drawing/2014/main" val="1443750179"/>
                  </a:ext>
                </a:extLst>
              </a:tr>
            </a:tbl>
          </a:graphicData>
        </a:graphic>
      </p:graphicFrame>
      <p:sp>
        <p:nvSpPr>
          <p:cNvPr id="5" name="Google Shape;233;p20">
            <a:extLst>
              <a:ext uri="{FF2B5EF4-FFF2-40B4-BE49-F238E27FC236}">
                <a16:creationId xmlns:a16="http://schemas.microsoft.com/office/drawing/2014/main" id="{5579E9C2-A090-DD26-6B86-3572C30769AD}"/>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a:t>Balance energético</a:t>
            </a:r>
            <a:endParaRPr lang="es-ES" kern="0" dirty="0"/>
          </a:p>
        </p:txBody>
      </p:sp>
    </p:spTree>
    <p:extLst>
      <p:ext uri="{BB962C8B-B14F-4D97-AF65-F5344CB8AC3E}">
        <p14:creationId xmlns:p14="http://schemas.microsoft.com/office/powerpoint/2010/main" val="2065313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124AE1C5-DEF9-CE7F-95AC-D0FD558F4334}"/>
            </a:ext>
          </a:extLst>
        </p:cNvPr>
        <p:cNvGrpSpPr/>
        <p:nvPr/>
      </p:nvGrpSpPr>
      <p:grpSpPr>
        <a:xfrm>
          <a:off x="0" y="0"/>
          <a:ext cx="0" cy="0"/>
          <a:chOff x="0" y="0"/>
          <a:chExt cx="0" cy="0"/>
        </a:xfrm>
      </p:grpSpPr>
      <p:sp>
        <p:nvSpPr>
          <p:cNvPr id="262" name="Google Shape;262;p23">
            <a:extLst>
              <a:ext uri="{FF2B5EF4-FFF2-40B4-BE49-F238E27FC236}">
                <a16:creationId xmlns:a16="http://schemas.microsoft.com/office/drawing/2014/main" id="{CE510FB0-0572-F4FD-9E02-FF9C26E05BDD}"/>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19</a:t>
            </a:fld>
            <a:endParaRPr lang="es-ES" noProof="0" dirty="0"/>
          </a:p>
        </p:txBody>
      </p:sp>
      <p:sp>
        <p:nvSpPr>
          <p:cNvPr id="264" name="Google Shape;264;p23">
            <a:extLst>
              <a:ext uri="{FF2B5EF4-FFF2-40B4-BE49-F238E27FC236}">
                <a16:creationId xmlns:a16="http://schemas.microsoft.com/office/drawing/2014/main" id="{81A00A0E-A15E-550B-ECE2-A414ED852CCF}"/>
              </a:ext>
            </a:extLst>
          </p:cNvPr>
          <p:cNvSpPr txBox="1"/>
          <p:nvPr/>
        </p:nvSpPr>
        <p:spPr>
          <a:xfrm>
            <a:off x="1177131" y="977076"/>
            <a:ext cx="7761288" cy="4216499"/>
          </a:xfrm>
          <a:prstGeom prst="rect">
            <a:avLst/>
          </a:prstGeom>
          <a:noFill/>
          <a:ln>
            <a:noFill/>
          </a:ln>
        </p:spPr>
        <p:txBody>
          <a:bodyPr spcFirstLastPara="1" wrap="square" lIns="91425" tIns="45700" rIns="91425" bIns="45700" anchor="t" anchorCtr="0">
            <a:spAutoFit/>
          </a:bodyPr>
          <a:lstStyle/>
          <a:p>
            <a:pPr algn="just">
              <a:buClr>
                <a:schemeClr val="dk1"/>
              </a:buClr>
              <a:buSzPts val="2000"/>
            </a:pPr>
            <a:r>
              <a:rPr lang="es-ES" sz="2000" i="1" noProof="0" dirty="0">
                <a:solidFill>
                  <a:srgbClr val="0000FF"/>
                </a:solidFill>
                <a:latin typeface="Times New Roman"/>
                <a:ea typeface="Times New Roman"/>
                <a:cs typeface="Times New Roman"/>
                <a:sym typeface="Times New Roman"/>
              </a:rPr>
              <a:t>Ejemplo 2: cálculo de la energía primaria equivalente</a:t>
            </a:r>
          </a:p>
          <a:p>
            <a:pPr algn="just">
              <a:buClr>
                <a:schemeClr val="dk1"/>
              </a:buClr>
              <a:buSzPts val="2000"/>
            </a:pPr>
            <a:endParaRPr lang="es-ES" sz="1800" noProof="0" dirty="0">
              <a:solidFill>
                <a:schemeClr val="dk1"/>
              </a:solidFill>
              <a:latin typeface="Times New Roman"/>
              <a:cs typeface="Times New Roman"/>
              <a:sym typeface="Times New Roman"/>
            </a:endParaRPr>
          </a:p>
          <a:p>
            <a:pPr algn="just">
              <a:buClr>
                <a:schemeClr val="dk1"/>
              </a:buClr>
              <a:buSzPts val="2000"/>
            </a:pPr>
            <a:r>
              <a:rPr lang="es-ES" sz="1600" noProof="0" dirty="0">
                <a:solidFill>
                  <a:schemeClr val="dk1"/>
                </a:solidFill>
                <a:latin typeface="Times New Roman"/>
                <a:cs typeface="Times New Roman"/>
                <a:sym typeface="Times New Roman"/>
              </a:rPr>
              <a:t>En el balance energético anual de una región se tienen las siguientes cantidades de energía primaria equivalente para distintas fuentes de energía. Calcule utilizando los métodos estudiados el resto de los parámetros y compárelos entre ellos.</a:t>
            </a:r>
          </a:p>
          <a:p>
            <a:pPr algn="just">
              <a:buClr>
                <a:schemeClr val="dk1"/>
              </a:buClr>
              <a:buSzPts val="2000"/>
            </a:pPr>
            <a:endParaRPr lang="es-ES" sz="1600" noProof="0" dirty="0">
              <a:solidFill>
                <a:schemeClr val="dk1"/>
              </a:solidFill>
              <a:latin typeface="Times New Roman"/>
              <a:cs typeface="Times New Roman"/>
              <a:sym typeface="Times New Roman"/>
            </a:endParaRPr>
          </a:p>
          <a:p>
            <a:pPr algn="just">
              <a:buClr>
                <a:schemeClr val="dk1"/>
              </a:buClr>
              <a:buSzPts val="2000"/>
            </a:pPr>
            <a:r>
              <a:rPr lang="es-ES" sz="1600" noProof="0" dirty="0">
                <a:solidFill>
                  <a:schemeClr val="dk1"/>
                </a:solidFill>
                <a:latin typeface="Times New Roman"/>
                <a:cs typeface="Times New Roman"/>
                <a:sym typeface="Times New Roman"/>
              </a:rPr>
              <a:t>Considere los siguientes factores de conversión:</a:t>
            </a:r>
          </a:p>
          <a:p>
            <a:pPr algn="just">
              <a:buClr>
                <a:schemeClr val="dk1"/>
              </a:buClr>
              <a:buSzPts val="2000"/>
            </a:pPr>
            <a:endParaRPr lang="es-ES" sz="1600" noProof="0" dirty="0">
              <a:solidFill>
                <a:schemeClr val="dk1"/>
              </a:solidFill>
              <a:latin typeface="Times New Roman"/>
              <a:cs typeface="Times New Roman"/>
              <a:sym typeface="Times New Roman"/>
            </a:endParaRPr>
          </a:p>
          <a:p>
            <a:pPr marL="285750" indent="-285750" algn="just">
              <a:buClr>
                <a:schemeClr val="dk1"/>
              </a:buClr>
              <a:buSzPts val="2000"/>
              <a:buFontTx/>
              <a:buChar char="-"/>
            </a:pPr>
            <a:r>
              <a:rPr lang="es-ES" sz="1600" noProof="0" dirty="0">
                <a:solidFill>
                  <a:schemeClr val="dk1"/>
                </a:solidFill>
                <a:latin typeface="Times New Roman"/>
                <a:cs typeface="Times New Roman"/>
                <a:sym typeface="Times New Roman"/>
              </a:rPr>
              <a:t>Eficiencia central térmica de carbón: 38%</a:t>
            </a:r>
          </a:p>
          <a:p>
            <a:pPr marL="285750" indent="-285750" algn="just">
              <a:buClr>
                <a:schemeClr val="dk1"/>
              </a:buClr>
              <a:buSzPts val="2000"/>
              <a:buFontTx/>
              <a:buChar char="-"/>
            </a:pPr>
            <a:r>
              <a:rPr lang="es-ES" sz="1600" noProof="0" dirty="0">
                <a:solidFill>
                  <a:schemeClr val="dk1"/>
                </a:solidFill>
                <a:latin typeface="Times New Roman"/>
                <a:cs typeface="Times New Roman"/>
                <a:sym typeface="Times New Roman"/>
              </a:rPr>
              <a:t>Eficiencia central nuclear: 33%</a:t>
            </a:r>
          </a:p>
          <a:p>
            <a:pPr marL="285750" indent="-285750" algn="just">
              <a:buClr>
                <a:schemeClr val="dk1"/>
              </a:buClr>
              <a:buSzPts val="2000"/>
              <a:buFontTx/>
              <a:buChar char="-"/>
            </a:pPr>
            <a:r>
              <a:rPr lang="es-ES" sz="1600" noProof="0" dirty="0">
                <a:solidFill>
                  <a:schemeClr val="dk1"/>
                </a:solidFill>
                <a:latin typeface="Times New Roman"/>
                <a:cs typeface="Times New Roman"/>
                <a:sym typeface="Times New Roman"/>
              </a:rPr>
              <a:t>Eficiencia ciclo combinado de gas natural: 61%</a:t>
            </a:r>
          </a:p>
          <a:p>
            <a:pPr marL="285750" indent="-285750" algn="just">
              <a:buClr>
                <a:schemeClr val="dk1"/>
              </a:buClr>
              <a:buSzPts val="2000"/>
              <a:buFontTx/>
              <a:buChar char="-"/>
            </a:pPr>
            <a:endParaRPr lang="es-ES" sz="1600" noProof="0" dirty="0">
              <a:solidFill>
                <a:schemeClr val="dk1"/>
              </a:solidFill>
              <a:latin typeface="Times New Roman"/>
              <a:cs typeface="Times New Roman"/>
              <a:sym typeface="Times New Roman"/>
            </a:endParaRPr>
          </a:p>
          <a:p>
            <a:pPr algn="just">
              <a:buClr>
                <a:schemeClr val="dk1"/>
              </a:buClr>
              <a:buSzPts val="2000"/>
            </a:pPr>
            <a:endParaRPr lang="es-ES" sz="1600" noProof="0" dirty="0">
              <a:solidFill>
                <a:schemeClr val="dk1"/>
              </a:solidFill>
              <a:latin typeface="Times New Roman"/>
              <a:cs typeface="Times New Roman"/>
            </a:endParaRPr>
          </a:p>
          <a:p>
            <a:pPr marL="0" marR="0" lvl="0" indent="0" algn="just" rtl="0">
              <a:spcBef>
                <a:spcPts val="0"/>
              </a:spcBef>
              <a:spcAft>
                <a:spcPts val="0"/>
              </a:spcAft>
              <a:buClr>
                <a:schemeClr val="dk1"/>
              </a:buClr>
              <a:buSzPts val="2000"/>
              <a:buFont typeface="Times New Roman"/>
              <a:buNone/>
            </a:pPr>
            <a:endParaRPr lang="es-ES" sz="2000" u="sng" noProof="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000"/>
              <a:buFont typeface="Times New Roman"/>
              <a:buNone/>
            </a:pPr>
            <a:endParaRPr lang="es-ES" sz="2000" u="sng" noProof="0" dirty="0">
              <a:solidFill>
                <a:schemeClr val="dk1"/>
              </a:solidFill>
              <a:latin typeface="Times New Roman"/>
              <a:cs typeface="Times New Roman"/>
              <a:sym typeface="Times New Roman"/>
            </a:endParaRPr>
          </a:p>
          <a:p>
            <a:pPr marL="0" marR="0" lvl="0" indent="0" algn="just" rtl="0">
              <a:spcBef>
                <a:spcPts val="0"/>
              </a:spcBef>
              <a:spcAft>
                <a:spcPts val="0"/>
              </a:spcAft>
              <a:buClr>
                <a:schemeClr val="dk1"/>
              </a:buClr>
              <a:buSzPts val="2000"/>
              <a:buFont typeface="Times New Roman"/>
              <a:buNone/>
            </a:pPr>
            <a:endParaRPr lang="es-ES" noProof="0" dirty="0"/>
          </a:p>
        </p:txBody>
      </p:sp>
      <p:sp>
        <p:nvSpPr>
          <p:cNvPr id="11" name="Google Shape;261;p23">
            <a:extLst>
              <a:ext uri="{FF2B5EF4-FFF2-40B4-BE49-F238E27FC236}">
                <a16:creationId xmlns:a16="http://schemas.microsoft.com/office/drawing/2014/main" id="{1C85F10D-5639-4DF0-5687-4951EBEE63C1}"/>
              </a:ext>
            </a:extLst>
          </p:cNvPr>
          <p:cNvSpPr txBox="1">
            <a:spLocks/>
          </p:cNvSpPr>
          <p:nvPr/>
        </p:nvSpPr>
        <p:spPr>
          <a:xfrm>
            <a:off x="942975" y="480377"/>
            <a:ext cx="8229600" cy="64992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a:spcBef>
                <a:spcPts val="0"/>
              </a:spcBef>
              <a:buFont typeface="Times New Roman"/>
              <a:buNone/>
            </a:pPr>
            <a:r>
              <a:rPr lang="es-ES" sz="2400" noProof="0" dirty="0">
                <a:sym typeface="Arial"/>
              </a:rPr>
              <a:t>Métodos para calcular la energía primaria equivalente</a:t>
            </a:r>
          </a:p>
        </p:txBody>
      </p:sp>
      <p:graphicFrame>
        <p:nvGraphicFramePr>
          <p:cNvPr id="2" name="Tabla 1">
            <a:extLst>
              <a:ext uri="{FF2B5EF4-FFF2-40B4-BE49-F238E27FC236}">
                <a16:creationId xmlns:a16="http://schemas.microsoft.com/office/drawing/2014/main" id="{EC99134B-A197-32F7-C9AE-77CF1FB63292}"/>
              </a:ext>
            </a:extLst>
          </p:cNvPr>
          <p:cNvGraphicFramePr>
            <a:graphicFrameLocks noGrp="1"/>
          </p:cNvGraphicFramePr>
          <p:nvPr>
            <p:extLst>
              <p:ext uri="{D42A27DB-BD31-4B8C-83A1-F6EECF244321}">
                <p14:modId xmlns:p14="http://schemas.microsoft.com/office/powerpoint/2010/main" val="2490731326"/>
              </p:ext>
            </p:extLst>
          </p:nvPr>
        </p:nvGraphicFramePr>
        <p:xfrm>
          <a:off x="1168214" y="4345524"/>
          <a:ext cx="7310810" cy="1483360"/>
        </p:xfrm>
        <a:graphic>
          <a:graphicData uri="http://schemas.openxmlformats.org/drawingml/2006/table">
            <a:tbl>
              <a:tblPr firstRow="1" bandRow="1">
                <a:tableStyleId>{EB344D84-9AFB-497E-A393-DC336BA19D2E}</a:tableStyleId>
              </a:tblPr>
              <a:tblGrid>
                <a:gridCol w="2349222">
                  <a:extLst>
                    <a:ext uri="{9D8B030D-6E8A-4147-A177-3AD203B41FA5}">
                      <a16:colId xmlns:a16="http://schemas.microsoft.com/office/drawing/2014/main" val="1250290117"/>
                    </a:ext>
                  </a:extLst>
                </a:gridCol>
                <a:gridCol w="1421659">
                  <a:extLst>
                    <a:ext uri="{9D8B030D-6E8A-4147-A177-3AD203B41FA5}">
                      <a16:colId xmlns:a16="http://schemas.microsoft.com/office/drawing/2014/main" val="3857998408"/>
                    </a:ext>
                  </a:extLst>
                </a:gridCol>
                <a:gridCol w="1708845">
                  <a:extLst>
                    <a:ext uri="{9D8B030D-6E8A-4147-A177-3AD203B41FA5}">
                      <a16:colId xmlns:a16="http://schemas.microsoft.com/office/drawing/2014/main" val="159300810"/>
                    </a:ext>
                  </a:extLst>
                </a:gridCol>
                <a:gridCol w="1831084">
                  <a:extLst>
                    <a:ext uri="{9D8B030D-6E8A-4147-A177-3AD203B41FA5}">
                      <a16:colId xmlns:a16="http://schemas.microsoft.com/office/drawing/2014/main" val="1489601422"/>
                    </a:ext>
                  </a:extLst>
                </a:gridCol>
              </a:tblGrid>
              <a:tr h="370840">
                <a:tc>
                  <a:txBody>
                    <a:bodyPr/>
                    <a:lstStyle/>
                    <a:p>
                      <a:pPr algn="ctr"/>
                      <a:r>
                        <a:rPr lang="es-ES" b="0" i="1" noProof="0" dirty="0">
                          <a:solidFill>
                            <a:schemeClr val="tx1"/>
                          </a:solidFill>
                        </a:rPr>
                        <a:t>Método</a:t>
                      </a:r>
                    </a:p>
                  </a:txBody>
                  <a:tcPr/>
                </a:tc>
                <a:tc>
                  <a:txBody>
                    <a:bodyPr/>
                    <a:lstStyle/>
                    <a:p>
                      <a:pPr algn="ctr"/>
                      <a:r>
                        <a:rPr lang="es-ES" b="0" i="1" noProof="0" dirty="0">
                          <a:solidFill>
                            <a:schemeClr val="tx1"/>
                          </a:solidFill>
                        </a:rPr>
                        <a:t>Gas [TJ]</a:t>
                      </a:r>
                    </a:p>
                  </a:txBody>
                  <a:tcPr/>
                </a:tc>
                <a:tc>
                  <a:txBody>
                    <a:bodyPr/>
                    <a:lstStyle/>
                    <a:p>
                      <a:pPr algn="ctr"/>
                      <a:r>
                        <a:rPr lang="es-ES" b="0" i="1" noProof="0" dirty="0">
                          <a:solidFill>
                            <a:schemeClr val="tx1"/>
                          </a:solidFill>
                        </a:rPr>
                        <a:t>Nuclear [TJ]</a:t>
                      </a:r>
                    </a:p>
                  </a:txBody>
                  <a:tcPr/>
                </a:tc>
                <a:tc>
                  <a:txBody>
                    <a:bodyPr/>
                    <a:lstStyle/>
                    <a:p>
                      <a:pPr algn="ctr"/>
                      <a:r>
                        <a:rPr lang="es-ES" b="0" i="1" noProof="0" dirty="0">
                          <a:solidFill>
                            <a:schemeClr val="tx1"/>
                          </a:solidFill>
                        </a:rPr>
                        <a:t>Hidroeléctrica [TJ]</a:t>
                      </a:r>
                    </a:p>
                  </a:txBody>
                  <a:tcPr/>
                </a:tc>
                <a:extLst>
                  <a:ext uri="{0D108BD9-81ED-4DB2-BD59-A6C34878D82A}">
                    <a16:rowId xmlns:a16="http://schemas.microsoft.com/office/drawing/2014/main" val="1059519303"/>
                  </a:ext>
                </a:extLst>
              </a:tr>
              <a:tr h="370840">
                <a:tc>
                  <a:txBody>
                    <a:bodyPr/>
                    <a:lstStyle/>
                    <a:p>
                      <a:pPr algn="ctr"/>
                      <a:r>
                        <a:rPr lang="es-ES" i="1" noProof="0" dirty="0"/>
                        <a:t>Energía Física Contenida</a:t>
                      </a:r>
                    </a:p>
                  </a:txBody>
                  <a:tcPr/>
                </a:tc>
                <a:tc>
                  <a:txBody>
                    <a:bodyPr/>
                    <a:lstStyle/>
                    <a:p>
                      <a:pPr algn="ctr"/>
                      <a:r>
                        <a:rPr lang="es-ES" noProof="0" dirty="0"/>
                        <a:t>0.83</a:t>
                      </a:r>
                    </a:p>
                  </a:txBody>
                  <a:tcPr/>
                </a:tc>
                <a:tc>
                  <a:txBody>
                    <a:bodyPr/>
                    <a:lstStyle/>
                    <a:p>
                      <a:pPr algn="ctr"/>
                      <a:r>
                        <a:rPr lang="es-ES" b="1" noProof="0" dirty="0"/>
                        <a:t>16.63</a:t>
                      </a:r>
                    </a:p>
                  </a:txBody>
                  <a:tcPr/>
                </a:tc>
                <a:tc>
                  <a:txBody>
                    <a:bodyPr/>
                    <a:lstStyle/>
                    <a:p>
                      <a:pPr algn="ctr"/>
                      <a:r>
                        <a:rPr lang="es-ES" noProof="0" dirty="0"/>
                        <a:t>5.92</a:t>
                      </a:r>
                    </a:p>
                  </a:txBody>
                  <a:tcPr/>
                </a:tc>
                <a:extLst>
                  <a:ext uri="{0D108BD9-81ED-4DB2-BD59-A6C34878D82A}">
                    <a16:rowId xmlns:a16="http://schemas.microsoft.com/office/drawing/2014/main" val="2985600693"/>
                  </a:ext>
                </a:extLst>
              </a:tr>
              <a:tr h="370840">
                <a:tc>
                  <a:txBody>
                    <a:bodyPr/>
                    <a:lstStyle/>
                    <a:p>
                      <a:pPr algn="ctr"/>
                      <a:r>
                        <a:rPr lang="es-ES" i="1" noProof="0" dirty="0"/>
                        <a:t>Sustitución Parcial</a:t>
                      </a:r>
                    </a:p>
                  </a:txBody>
                  <a:tcPr/>
                </a:tc>
                <a:tc>
                  <a:txBody>
                    <a:bodyPr/>
                    <a:lstStyle/>
                    <a:p>
                      <a:pPr algn="ctr"/>
                      <a:r>
                        <a:rPr lang="es-ES" b="1" noProof="0" dirty="0"/>
                        <a:t>0.83</a:t>
                      </a:r>
                    </a:p>
                  </a:txBody>
                  <a:tcPr/>
                </a:tc>
                <a:tc>
                  <a:txBody>
                    <a:bodyPr/>
                    <a:lstStyle/>
                    <a:p>
                      <a:pPr algn="ctr"/>
                      <a:r>
                        <a:rPr lang="es-ES" noProof="0" dirty="0"/>
                        <a:t>5.48/0.38=14.42</a:t>
                      </a:r>
                    </a:p>
                  </a:txBody>
                  <a:tcPr/>
                </a:tc>
                <a:tc>
                  <a:txBody>
                    <a:bodyPr/>
                    <a:lstStyle/>
                    <a:p>
                      <a:pPr algn="ctr"/>
                      <a:r>
                        <a:rPr lang="es-ES" noProof="0" dirty="0"/>
                        <a:t>5.92/0.38=15.57</a:t>
                      </a:r>
                    </a:p>
                  </a:txBody>
                  <a:tcPr/>
                </a:tc>
                <a:extLst>
                  <a:ext uri="{0D108BD9-81ED-4DB2-BD59-A6C34878D82A}">
                    <a16:rowId xmlns:a16="http://schemas.microsoft.com/office/drawing/2014/main" val="4243706457"/>
                  </a:ext>
                </a:extLst>
              </a:tr>
              <a:tr h="370840">
                <a:tc>
                  <a:txBody>
                    <a:bodyPr/>
                    <a:lstStyle/>
                    <a:p>
                      <a:pPr algn="ctr"/>
                      <a:r>
                        <a:rPr lang="es-ES" i="1" noProof="0" dirty="0"/>
                        <a:t>Equivalente Directo</a:t>
                      </a:r>
                    </a:p>
                  </a:txBody>
                  <a:tcPr/>
                </a:tc>
                <a:tc>
                  <a:txBody>
                    <a:bodyPr/>
                    <a:lstStyle/>
                    <a:p>
                      <a:pPr algn="ctr"/>
                      <a:r>
                        <a:rPr lang="es-ES" noProof="0" dirty="0"/>
                        <a:t>0.83*0.61=0.5</a:t>
                      </a:r>
                    </a:p>
                  </a:txBody>
                  <a:tcPr/>
                </a:tc>
                <a:tc>
                  <a:txBody>
                    <a:bodyPr/>
                    <a:lstStyle/>
                    <a:p>
                      <a:pPr algn="ctr"/>
                      <a:r>
                        <a:rPr lang="es-ES" noProof="0" dirty="0"/>
                        <a:t>16.63*0.33=5.48</a:t>
                      </a:r>
                    </a:p>
                  </a:txBody>
                  <a:tcPr/>
                </a:tc>
                <a:tc>
                  <a:txBody>
                    <a:bodyPr/>
                    <a:lstStyle/>
                    <a:p>
                      <a:pPr algn="ctr"/>
                      <a:r>
                        <a:rPr lang="es-ES" b="1" noProof="0" dirty="0"/>
                        <a:t>5.92</a:t>
                      </a:r>
                    </a:p>
                  </a:txBody>
                  <a:tcPr/>
                </a:tc>
                <a:extLst>
                  <a:ext uri="{0D108BD9-81ED-4DB2-BD59-A6C34878D82A}">
                    <a16:rowId xmlns:a16="http://schemas.microsoft.com/office/drawing/2014/main" val="1443750179"/>
                  </a:ext>
                </a:extLst>
              </a:tr>
            </a:tbl>
          </a:graphicData>
        </a:graphic>
      </p:graphicFrame>
      <p:sp>
        <p:nvSpPr>
          <p:cNvPr id="3" name="Google Shape;233;p20">
            <a:extLst>
              <a:ext uri="{FF2B5EF4-FFF2-40B4-BE49-F238E27FC236}">
                <a16:creationId xmlns:a16="http://schemas.microsoft.com/office/drawing/2014/main" id="{50345C26-ED38-85A9-8E43-9AC8078C3B14}"/>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dirty="0"/>
              <a:t>Balance energético</a:t>
            </a:r>
            <a:endParaRPr dirty="0"/>
          </a:p>
        </p:txBody>
      </p:sp>
    </p:spTree>
    <p:extLst>
      <p:ext uri="{BB962C8B-B14F-4D97-AF65-F5344CB8AC3E}">
        <p14:creationId xmlns:p14="http://schemas.microsoft.com/office/powerpoint/2010/main" val="2494931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3"/>
          <p:cNvSpPr txBox="1">
            <a:spLocks noGrp="1"/>
          </p:cNvSpPr>
          <p:nvPr>
            <p:ph type="body" idx="1"/>
          </p:nvPr>
        </p:nvSpPr>
        <p:spPr>
          <a:xfrm>
            <a:off x="914400" y="431323"/>
            <a:ext cx="8229600" cy="64633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Times New Roman"/>
              <a:buNone/>
            </a:pPr>
            <a:r>
              <a:rPr lang="es-ES" noProof="0" dirty="0"/>
              <a:t>Flujo de energía</a:t>
            </a:r>
          </a:p>
        </p:txBody>
      </p:sp>
      <p:sp>
        <p:nvSpPr>
          <p:cNvPr id="132" name="Google Shape;132;p13"/>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20</a:t>
            </a:fld>
            <a:endParaRPr lang="es-ES" noProof="0" dirty="0"/>
          </a:p>
        </p:txBody>
      </p:sp>
      <p:sp>
        <p:nvSpPr>
          <p:cNvPr id="133" name="Google Shape;133;p13"/>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
        <p:nvSpPr>
          <p:cNvPr id="26" name="Google Shape;164;p15">
            <a:extLst>
              <a:ext uri="{FF2B5EF4-FFF2-40B4-BE49-F238E27FC236}">
                <a16:creationId xmlns:a16="http://schemas.microsoft.com/office/drawing/2014/main" id="{359121C9-F2B0-4E12-8671-F0870D5F0731}"/>
              </a:ext>
            </a:extLst>
          </p:cNvPr>
          <p:cNvSpPr txBox="1"/>
          <p:nvPr/>
        </p:nvSpPr>
        <p:spPr>
          <a:xfrm>
            <a:off x="691787" y="3307322"/>
            <a:ext cx="8229600" cy="3447057"/>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mj-lt"/>
              <a:buAutoNum type="arabicPeriod"/>
            </a:pPr>
            <a:r>
              <a:rPr lang="es-ES" sz="2000"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Bloque de producción.</a:t>
            </a:r>
            <a:endParaRPr lang="es-ES" sz="2000" noProof="0" dirty="0">
              <a:latin typeface="Times New Roman" panose="02020603050405020304" pitchFamily="18" charset="0"/>
              <a:ea typeface="Times New Roman"/>
              <a:cs typeface="Times New Roman" panose="02020603050405020304" pitchFamily="18" charset="0"/>
            </a:endParaRPr>
          </a:p>
          <a:p>
            <a:pPr marR="0" lvl="0" algn="just" rtl="0">
              <a:spcBef>
                <a:spcPts val="600"/>
              </a:spcBef>
              <a:spcAft>
                <a:spcPts val="600"/>
              </a:spcAft>
              <a:buClr>
                <a:schemeClr val="dk1"/>
              </a:buClr>
              <a:buSzPts val="2400"/>
            </a:pPr>
            <a:r>
              <a:rPr lang="es-ES" sz="1600" i="1"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Representa los flujos de energía que se generan, entran y salen en el territorio, así como cambios de almacenamiento que proporcionan información sobre el suministro de energía en el territorio durante el período de referencia.</a:t>
            </a:r>
            <a:endParaRPr lang="es-ES" sz="2400" noProof="0" dirty="0">
              <a:solidFill>
                <a:schemeClr val="dk1"/>
              </a:solidFill>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2400"/>
              <a:buFont typeface="+mj-lt"/>
              <a:buAutoNum type="arabicPeriod" startAt="2"/>
            </a:pPr>
            <a:r>
              <a:rPr lang="es-ES" sz="2000"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Bloque de transformación.</a:t>
            </a:r>
            <a:endParaRPr lang="es-ES" sz="2000" noProof="0" dirty="0">
              <a:latin typeface="Times New Roman" panose="02020603050405020304" pitchFamily="18" charset="0"/>
              <a:ea typeface="Times New Roman"/>
              <a:cs typeface="Times New Roman" panose="02020603050405020304" pitchFamily="18" charset="0"/>
            </a:endParaRPr>
          </a:p>
          <a:p>
            <a:pPr marR="0" lvl="0" algn="just" rtl="0">
              <a:spcBef>
                <a:spcPts val="600"/>
              </a:spcBef>
              <a:spcAft>
                <a:spcPts val="600"/>
              </a:spcAft>
              <a:buClr>
                <a:schemeClr val="dk1"/>
              </a:buClr>
              <a:buSzPts val="2400"/>
            </a:pPr>
            <a:r>
              <a:rPr lang="es-ES" sz="1600" i="1" noProof="0" dirty="0">
                <a:solidFill>
                  <a:schemeClr val="dk1"/>
                </a:solidFill>
                <a:latin typeface="Times New Roman" panose="02020603050405020304" pitchFamily="18" charset="0"/>
                <a:cs typeface="Times New Roman" panose="02020603050405020304" pitchFamily="18" charset="0"/>
                <a:sym typeface="Times New Roman"/>
              </a:rPr>
              <a:t>Caracterizado por los flujos de energía que muestra cómo la energía es transformada, transferida y utilizada por la industria energética para el uso propio, junto con las pérdidas en distribución y transmisión.</a:t>
            </a:r>
            <a:endParaRPr lang="es-ES" sz="1600" i="1" noProof="0" dirty="0">
              <a:solidFill>
                <a:schemeClr val="dk1"/>
              </a:solidFill>
              <a:latin typeface="Times New Roman" panose="02020603050405020304" pitchFamily="18" charset="0"/>
              <a:cs typeface="Times New Roman" panose="02020603050405020304" pitchFamily="18" charset="0"/>
            </a:endParaRPr>
          </a:p>
          <a:p>
            <a:pPr marL="457200" marR="0" lvl="0" indent="-457200" algn="just" rtl="0">
              <a:spcBef>
                <a:spcPts val="0"/>
              </a:spcBef>
              <a:spcAft>
                <a:spcPts val="0"/>
              </a:spcAft>
              <a:buClr>
                <a:schemeClr val="dk1"/>
              </a:buClr>
              <a:buSzPts val="2400"/>
              <a:buFont typeface="+mj-lt"/>
              <a:buAutoNum type="arabicPeriod" startAt="3"/>
            </a:pPr>
            <a:r>
              <a:rPr lang="es-ES" sz="2000" noProof="0" dirty="0">
                <a:solidFill>
                  <a:schemeClr val="dk1"/>
                </a:solidFill>
                <a:latin typeface="Times New Roman" panose="02020603050405020304" pitchFamily="18" charset="0"/>
                <a:cs typeface="Times New Roman" panose="02020603050405020304" pitchFamily="18" charset="0"/>
                <a:sym typeface="Times New Roman"/>
              </a:rPr>
              <a:t>Bloque de consumo.</a:t>
            </a:r>
          </a:p>
          <a:p>
            <a:pPr marR="0" lvl="0" algn="just" rtl="0">
              <a:spcBef>
                <a:spcPts val="600"/>
              </a:spcBef>
              <a:spcAft>
                <a:spcPts val="600"/>
              </a:spcAft>
              <a:buClr>
                <a:schemeClr val="dk1"/>
              </a:buClr>
              <a:buSzPts val="2400"/>
            </a:pPr>
            <a:r>
              <a:rPr lang="es-ES" sz="1600" i="1" noProof="0" dirty="0">
                <a:solidFill>
                  <a:schemeClr val="dk1"/>
                </a:solidFill>
                <a:latin typeface="Times New Roman" panose="02020603050405020304" pitchFamily="18" charset="0"/>
                <a:cs typeface="Times New Roman" panose="02020603050405020304" pitchFamily="18" charset="0"/>
                <a:sym typeface="Times New Roman"/>
              </a:rPr>
              <a:t>Refleja los flujos del consumo final de la energía junto con el uso no energético de los productos energéticos.</a:t>
            </a:r>
            <a:endParaRPr lang="es-ES" sz="1600" i="1" noProof="0" dirty="0">
              <a:solidFill>
                <a:schemeClr val="dk1"/>
              </a:solidFill>
              <a:latin typeface="Times New Roman" panose="02020603050405020304" pitchFamily="18" charset="0"/>
              <a:cs typeface="Times New Roman" panose="02020603050405020304" pitchFamily="18" charset="0"/>
            </a:endParaRPr>
          </a:p>
        </p:txBody>
      </p:sp>
      <p:grpSp>
        <p:nvGrpSpPr>
          <p:cNvPr id="6" name="Grupo 5">
            <a:extLst>
              <a:ext uri="{FF2B5EF4-FFF2-40B4-BE49-F238E27FC236}">
                <a16:creationId xmlns:a16="http://schemas.microsoft.com/office/drawing/2014/main" id="{D32F352B-BF1D-44CF-9F43-C3DD5AF87BA6}"/>
              </a:ext>
            </a:extLst>
          </p:cNvPr>
          <p:cNvGrpSpPr/>
          <p:nvPr/>
        </p:nvGrpSpPr>
        <p:grpSpPr>
          <a:xfrm>
            <a:off x="613749" y="1074162"/>
            <a:ext cx="8213010" cy="2053896"/>
            <a:chOff x="613749" y="1074162"/>
            <a:chExt cx="8213010" cy="2053896"/>
          </a:xfrm>
        </p:grpSpPr>
        <p:sp>
          <p:nvSpPr>
            <p:cNvPr id="25" name="Google Shape;135;p13">
              <a:extLst>
                <a:ext uri="{FF2B5EF4-FFF2-40B4-BE49-F238E27FC236}">
                  <a16:creationId xmlns:a16="http://schemas.microsoft.com/office/drawing/2014/main" id="{EA52C22F-F208-4E13-B73B-E88D445E30CB}"/>
                </a:ext>
              </a:extLst>
            </p:cNvPr>
            <p:cNvSpPr txBox="1"/>
            <p:nvPr/>
          </p:nvSpPr>
          <p:spPr>
            <a:xfrm>
              <a:off x="613749" y="1571725"/>
              <a:ext cx="1719262" cy="64629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Bunkers internacionales</a:t>
              </a:r>
              <a:endParaRPr lang="es-ES" noProof="0" dirty="0"/>
            </a:p>
          </p:txBody>
        </p:sp>
        <p:grpSp>
          <p:nvGrpSpPr>
            <p:cNvPr id="4" name="Grupo 3">
              <a:extLst>
                <a:ext uri="{FF2B5EF4-FFF2-40B4-BE49-F238E27FC236}">
                  <a16:creationId xmlns:a16="http://schemas.microsoft.com/office/drawing/2014/main" id="{63038250-E504-495D-8D67-E2BCDE433BFC}"/>
                </a:ext>
              </a:extLst>
            </p:cNvPr>
            <p:cNvGrpSpPr/>
            <p:nvPr/>
          </p:nvGrpSpPr>
          <p:grpSpPr>
            <a:xfrm>
              <a:off x="675758" y="1074162"/>
              <a:ext cx="8151001" cy="2053896"/>
              <a:chOff x="675758" y="1074162"/>
              <a:chExt cx="8151001" cy="2053896"/>
            </a:xfrm>
          </p:grpSpPr>
          <p:grpSp>
            <p:nvGrpSpPr>
              <p:cNvPr id="3" name="Grupo 2">
                <a:extLst>
                  <a:ext uri="{FF2B5EF4-FFF2-40B4-BE49-F238E27FC236}">
                    <a16:creationId xmlns:a16="http://schemas.microsoft.com/office/drawing/2014/main" id="{21673EA4-7952-4617-80D5-32131CC81D72}"/>
                  </a:ext>
                </a:extLst>
              </p:cNvPr>
              <p:cNvGrpSpPr/>
              <p:nvPr/>
            </p:nvGrpSpPr>
            <p:grpSpPr>
              <a:xfrm>
                <a:off x="675758" y="1074162"/>
                <a:ext cx="8151001" cy="2053896"/>
                <a:chOff x="712336" y="2377877"/>
                <a:chExt cx="8279947" cy="2323011"/>
              </a:xfrm>
            </p:grpSpPr>
            <p:sp>
              <p:nvSpPr>
                <p:cNvPr id="135" name="Google Shape;135;p13"/>
                <p:cNvSpPr txBox="1"/>
                <p:nvPr/>
              </p:nvSpPr>
              <p:spPr>
                <a:xfrm>
                  <a:off x="728619" y="3664969"/>
                  <a:ext cx="1562010"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Importaciones</a:t>
                  </a:r>
                  <a:endParaRPr lang="es-ES" noProof="0" dirty="0"/>
                </a:p>
              </p:txBody>
            </p:sp>
            <p:grpSp>
              <p:nvGrpSpPr>
                <p:cNvPr id="2" name="Grupo 1">
                  <a:extLst>
                    <a:ext uri="{FF2B5EF4-FFF2-40B4-BE49-F238E27FC236}">
                      <a16:creationId xmlns:a16="http://schemas.microsoft.com/office/drawing/2014/main" id="{7802FEF9-6F1C-4CB9-84CF-24B3F85F5B3E}"/>
                    </a:ext>
                  </a:extLst>
                </p:cNvPr>
                <p:cNvGrpSpPr/>
                <p:nvPr/>
              </p:nvGrpSpPr>
              <p:grpSpPr>
                <a:xfrm>
                  <a:off x="712336" y="2377877"/>
                  <a:ext cx="8279947" cy="2323011"/>
                  <a:chOff x="712336" y="2377877"/>
                  <a:chExt cx="8279947" cy="2323011"/>
                </a:xfrm>
              </p:grpSpPr>
              <p:sp>
                <p:nvSpPr>
                  <p:cNvPr id="144" name="Google Shape;144;p13"/>
                  <p:cNvSpPr txBox="1"/>
                  <p:nvPr/>
                </p:nvSpPr>
                <p:spPr>
                  <a:xfrm>
                    <a:off x="4855537" y="3019729"/>
                    <a:ext cx="1042261"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Pérdidas</a:t>
                    </a:r>
                    <a:endParaRPr lang="es-ES" noProof="0" dirty="0"/>
                  </a:p>
                </p:txBody>
              </p:sp>
              <p:sp>
                <p:nvSpPr>
                  <p:cNvPr id="146" name="Google Shape;146;p13"/>
                  <p:cNvSpPr txBox="1"/>
                  <p:nvPr/>
                </p:nvSpPr>
                <p:spPr>
                  <a:xfrm>
                    <a:off x="4372877" y="4393152"/>
                    <a:ext cx="1355135" cy="30773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noProof="0" dirty="0">
                        <a:solidFill>
                          <a:schemeClr val="dk1"/>
                        </a:solidFill>
                        <a:latin typeface="Times New Roman"/>
                        <a:ea typeface="Times New Roman"/>
                        <a:cs typeface="Times New Roman"/>
                        <a:sym typeface="Times New Roman"/>
                      </a:rPr>
                      <a:t>Transformación</a:t>
                    </a:r>
                  </a:p>
                </p:txBody>
              </p:sp>
              <p:sp>
                <p:nvSpPr>
                  <p:cNvPr id="134" name="Google Shape;134;p13"/>
                  <p:cNvSpPr txBox="1"/>
                  <p:nvPr/>
                </p:nvSpPr>
                <p:spPr>
                  <a:xfrm>
                    <a:off x="2501562" y="2377877"/>
                    <a:ext cx="1855694" cy="646331"/>
                  </a:xfrm>
                  <a:prstGeom prst="rect">
                    <a:avLst/>
                  </a:prstGeom>
                  <a:solidFill>
                    <a:schemeClr val="lt1"/>
                  </a:solidFill>
                  <a:ln w="25400"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Producción primaria</a:t>
                    </a:r>
                    <a:endParaRPr lang="es-ES" noProof="0" dirty="0"/>
                  </a:p>
                </p:txBody>
              </p:sp>
              <p:sp>
                <p:nvSpPr>
                  <p:cNvPr id="136" name="Google Shape;136;p13"/>
                  <p:cNvSpPr txBox="1"/>
                  <p:nvPr/>
                </p:nvSpPr>
                <p:spPr>
                  <a:xfrm>
                    <a:off x="2738939" y="3571150"/>
                    <a:ext cx="1448258" cy="1044264"/>
                  </a:xfrm>
                  <a:prstGeom prst="rect">
                    <a:avLst/>
                  </a:prstGeom>
                  <a:solidFill>
                    <a:schemeClr val="lt1"/>
                  </a:solidFill>
                  <a:ln w="25400"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Energía total suministrada (TES)</a:t>
                    </a:r>
                    <a:endParaRPr lang="es-ES" noProof="0" dirty="0"/>
                  </a:p>
                </p:txBody>
              </p:sp>
              <p:sp>
                <p:nvSpPr>
                  <p:cNvPr id="137" name="Google Shape;137;p13"/>
                  <p:cNvSpPr txBox="1"/>
                  <p:nvPr/>
                </p:nvSpPr>
                <p:spPr>
                  <a:xfrm>
                    <a:off x="5548725" y="3816014"/>
                    <a:ext cx="1111438" cy="646331"/>
                  </a:xfrm>
                  <a:prstGeom prst="rect">
                    <a:avLst/>
                  </a:prstGeom>
                  <a:solidFill>
                    <a:schemeClr val="lt1"/>
                  </a:solidFill>
                  <a:ln w="25400"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Energía uso final</a:t>
                    </a:r>
                    <a:endParaRPr lang="es-ES" noProof="0" dirty="0"/>
                  </a:p>
                </p:txBody>
              </p:sp>
              <p:sp>
                <p:nvSpPr>
                  <p:cNvPr id="138" name="Google Shape;138;p13"/>
                  <p:cNvSpPr txBox="1"/>
                  <p:nvPr/>
                </p:nvSpPr>
                <p:spPr>
                  <a:xfrm>
                    <a:off x="7421313" y="3954514"/>
                    <a:ext cx="1570970" cy="369332"/>
                  </a:xfrm>
                  <a:prstGeom prst="rect">
                    <a:avLst/>
                  </a:prstGeom>
                  <a:solidFill>
                    <a:schemeClr val="lt1"/>
                  </a:solidFill>
                  <a:ln w="25400"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Consumo final </a:t>
                    </a:r>
                    <a:endParaRPr lang="es-ES" noProof="0" dirty="0"/>
                  </a:p>
                </p:txBody>
              </p:sp>
              <p:sp>
                <p:nvSpPr>
                  <p:cNvPr id="139" name="Google Shape;139;p13"/>
                  <p:cNvSpPr/>
                  <p:nvPr/>
                </p:nvSpPr>
                <p:spPr>
                  <a:xfrm rot="5400000">
                    <a:off x="3223687" y="3088499"/>
                    <a:ext cx="374844" cy="445643"/>
                  </a:xfrm>
                  <a:prstGeom prst="rightArrow">
                    <a:avLst>
                      <a:gd name="adj1" fmla="val 50000"/>
                      <a:gd name="adj2" fmla="val 50000"/>
                    </a:avLst>
                  </a:prstGeom>
                  <a:noFill/>
                  <a:ln w="2540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s-ES" sz="2400" noProof="0" dirty="0">
                      <a:solidFill>
                        <a:schemeClr val="lt1"/>
                      </a:solidFill>
                      <a:latin typeface="Times New Roman"/>
                      <a:ea typeface="Times New Roman"/>
                      <a:cs typeface="Times New Roman"/>
                      <a:sym typeface="Times New Roman"/>
                    </a:endParaRPr>
                  </a:p>
                </p:txBody>
              </p:sp>
              <p:sp>
                <p:nvSpPr>
                  <p:cNvPr id="140" name="Google Shape;140;p13"/>
                  <p:cNvSpPr txBox="1"/>
                  <p:nvPr/>
                </p:nvSpPr>
                <p:spPr>
                  <a:xfrm>
                    <a:off x="712336" y="4050849"/>
                    <a:ext cx="1594574"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Exportaciones</a:t>
                    </a:r>
                    <a:endParaRPr lang="es-ES" noProof="0" dirty="0"/>
                  </a:p>
                </p:txBody>
              </p:sp>
              <p:sp>
                <p:nvSpPr>
                  <p:cNvPr id="141" name="Google Shape;141;p13"/>
                  <p:cNvSpPr/>
                  <p:nvPr/>
                </p:nvSpPr>
                <p:spPr>
                  <a:xfrm>
                    <a:off x="4466473" y="3924457"/>
                    <a:ext cx="996188" cy="435233"/>
                  </a:xfrm>
                  <a:prstGeom prst="rightArrow">
                    <a:avLst>
                      <a:gd name="adj1" fmla="val 50000"/>
                      <a:gd name="adj2" fmla="val 50000"/>
                    </a:avLst>
                  </a:prstGeom>
                  <a:noFill/>
                  <a:ln w="2540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s-ES" sz="2400" noProof="0" dirty="0">
                      <a:solidFill>
                        <a:schemeClr val="lt1"/>
                      </a:solidFill>
                      <a:latin typeface="Times New Roman"/>
                      <a:ea typeface="Times New Roman"/>
                      <a:cs typeface="Times New Roman"/>
                      <a:sym typeface="Times New Roman"/>
                    </a:endParaRPr>
                  </a:p>
                </p:txBody>
              </p:sp>
              <p:sp>
                <p:nvSpPr>
                  <p:cNvPr id="142" name="Google Shape;142;p13"/>
                  <p:cNvSpPr/>
                  <p:nvPr/>
                </p:nvSpPr>
                <p:spPr>
                  <a:xfrm>
                    <a:off x="6746226" y="4019104"/>
                    <a:ext cx="610206" cy="220030"/>
                  </a:xfrm>
                  <a:prstGeom prst="rightArrow">
                    <a:avLst>
                      <a:gd name="adj1" fmla="val 50000"/>
                      <a:gd name="adj2" fmla="val 50000"/>
                    </a:avLst>
                  </a:prstGeom>
                  <a:noFill/>
                  <a:ln w="2540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s-ES" sz="2400" noProof="0" dirty="0">
                      <a:solidFill>
                        <a:schemeClr val="lt1"/>
                      </a:solidFill>
                      <a:latin typeface="Times New Roman"/>
                      <a:ea typeface="Times New Roman"/>
                      <a:cs typeface="Times New Roman"/>
                      <a:sym typeface="Times New Roman"/>
                    </a:endParaRPr>
                  </a:p>
                </p:txBody>
              </p:sp>
              <p:sp>
                <p:nvSpPr>
                  <p:cNvPr id="143" name="Google Shape;143;p13"/>
                  <p:cNvSpPr/>
                  <p:nvPr/>
                </p:nvSpPr>
                <p:spPr>
                  <a:xfrm rot="16200000">
                    <a:off x="4440420" y="3543686"/>
                    <a:ext cx="610206" cy="220030"/>
                  </a:xfrm>
                  <a:prstGeom prst="rightArrow">
                    <a:avLst>
                      <a:gd name="adj1" fmla="val 50000"/>
                      <a:gd name="adj2" fmla="val 50000"/>
                    </a:avLst>
                  </a:prstGeom>
                  <a:noFill/>
                  <a:ln w="2540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s-ES" sz="2400" noProof="0" dirty="0">
                      <a:solidFill>
                        <a:schemeClr val="lt1"/>
                      </a:solidFill>
                      <a:latin typeface="Times New Roman"/>
                      <a:ea typeface="Times New Roman"/>
                      <a:cs typeface="Times New Roman"/>
                      <a:sym typeface="Times New Roman"/>
                    </a:endParaRPr>
                  </a:p>
                </p:txBody>
              </p:sp>
              <p:sp>
                <p:nvSpPr>
                  <p:cNvPr id="145" name="Google Shape;145;p13"/>
                  <p:cNvSpPr/>
                  <p:nvPr/>
                </p:nvSpPr>
                <p:spPr>
                  <a:xfrm>
                    <a:off x="2224874" y="3810116"/>
                    <a:ext cx="404848" cy="195255"/>
                  </a:xfrm>
                  <a:prstGeom prst="rightArrow">
                    <a:avLst>
                      <a:gd name="adj1" fmla="val 50000"/>
                      <a:gd name="adj2" fmla="val 50000"/>
                    </a:avLst>
                  </a:prstGeom>
                  <a:noFill/>
                  <a:ln w="2540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s-ES" sz="2400" noProof="0" dirty="0">
                      <a:solidFill>
                        <a:schemeClr val="lt1"/>
                      </a:solidFill>
                      <a:latin typeface="Times New Roman"/>
                      <a:ea typeface="Times New Roman"/>
                      <a:cs typeface="Times New Roman"/>
                      <a:sym typeface="Times New Roman"/>
                    </a:endParaRPr>
                  </a:p>
                </p:txBody>
              </p:sp>
            </p:grpSp>
          </p:grpSp>
          <p:sp>
            <p:nvSpPr>
              <p:cNvPr id="22" name="Google Shape;145;p13">
                <a:extLst>
                  <a:ext uri="{FF2B5EF4-FFF2-40B4-BE49-F238E27FC236}">
                    <a16:creationId xmlns:a16="http://schemas.microsoft.com/office/drawing/2014/main" id="{31690C23-DB5F-45D7-B0E4-2C421987B486}"/>
                  </a:ext>
                </a:extLst>
              </p:cNvPr>
              <p:cNvSpPr/>
              <p:nvPr/>
            </p:nvSpPr>
            <p:spPr>
              <a:xfrm rot="10800000">
                <a:off x="2164740" y="2683337"/>
                <a:ext cx="398543" cy="172635"/>
              </a:xfrm>
              <a:prstGeom prst="rightArrow">
                <a:avLst>
                  <a:gd name="adj1" fmla="val 50000"/>
                  <a:gd name="adj2" fmla="val 50000"/>
                </a:avLst>
              </a:prstGeom>
              <a:noFill/>
              <a:ln w="2540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s-ES" sz="2400" noProof="0" dirty="0">
                  <a:solidFill>
                    <a:schemeClr val="lt1"/>
                  </a:solidFill>
                  <a:latin typeface="Times New Roman"/>
                  <a:ea typeface="Times New Roman"/>
                  <a:cs typeface="Times New Roman"/>
                  <a:sym typeface="Times New Roman"/>
                </a:endParaRPr>
              </a:p>
            </p:txBody>
          </p:sp>
        </p:grpSp>
      </p:grpSp>
      <p:sp>
        <p:nvSpPr>
          <p:cNvPr id="5" name="Flecha: doblada hacia arriba 4">
            <a:extLst>
              <a:ext uri="{FF2B5EF4-FFF2-40B4-BE49-F238E27FC236}">
                <a16:creationId xmlns:a16="http://schemas.microsoft.com/office/drawing/2014/main" id="{B4144FA6-CD1A-4A02-93C3-7BAB7D9370BA}"/>
              </a:ext>
            </a:extLst>
          </p:cNvPr>
          <p:cNvSpPr/>
          <p:nvPr/>
        </p:nvSpPr>
        <p:spPr>
          <a:xfrm rot="16200000">
            <a:off x="2333774" y="1657736"/>
            <a:ext cx="328429" cy="504975"/>
          </a:xfrm>
          <a:prstGeom prst="bentUpArrow">
            <a:avLst>
              <a:gd name="adj1" fmla="val 25000"/>
              <a:gd name="adj2" fmla="val 30859"/>
              <a:gd name="adj3" fmla="val 25000"/>
            </a:avLst>
          </a:prstGeom>
          <a:noFill/>
          <a:ln w="2540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algn="ctr"/>
            <a:endParaRPr lang="es-ES" sz="2400" noProof="0" dirty="0">
              <a:latin typeface="Times New Roman"/>
              <a:cs typeface="Times New Roman"/>
            </a:endParaRPr>
          </a:p>
        </p:txBody>
      </p:sp>
      <p:sp>
        <p:nvSpPr>
          <p:cNvPr id="7" name="Rectángulo 6">
            <a:extLst>
              <a:ext uri="{FF2B5EF4-FFF2-40B4-BE49-F238E27FC236}">
                <a16:creationId xmlns:a16="http://schemas.microsoft.com/office/drawing/2014/main" id="{F87B3504-ACF1-2AC6-3937-8BAE2442551A}"/>
              </a:ext>
            </a:extLst>
          </p:cNvPr>
          <p:cNvSpPr/>
          <p:nvPr/>
        </p:nvSpPr>
        <p:spPr>
          <a:xfrm>
            <a:off x="613749" y="981074"/>
            <a:ext cx="3708000" cy="2326247"/>
          </a:xfrm>
          <a:prstGeom prst="rect">
            <a:avLst/>
          </a:prstGeom>
          <a:noFill/>
          <a:ln w="4445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8" name="Rectángulo 7">
            <a:extLst>
              <a:ext uri="{FF2B5EF4-FFF2-40B4-BE49-F238E27FC236}">
                <a16:creationId xmlns:a16="http://schemas.microsoft.com/office/drawing/2014/main" id="{239B4B20-B2B7-4AC9-46A9-3E3872F42836}"/>
              </a:ext>
            </a:extLst>
          </p:cNvPr>
          <p:cNvSpPr/>
          <p:nvPr/>
        </p:nvSpPr>
        <p:spPr>
          <a:xfrm>
            <a:off x="4328499" y="971549"/>
            <a:ext cx="2287181" cy="2326247"/>
          </a:xfrm>
          <a:prstGeom prst="rect">
            <a:avLst/>
          </a:prstGeom>
          <a:noFill/>
          <a:ln w="44450">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9" name="Rectángulo 8">
            <a:extLst>
              <a:ext uri="{FF2B5EF4-FFF2-40B4-BE49-F238E27FC236}">
                <a16:creationId xmlns:a16="http://schemas.microsoft.com/office/drawing/2014/main" id="{C4E074AD-D3E6-DC95-B0A9-5D463ADAC5D6}"/>
              </a:ext>
            </a:extLst>
          </p:cNvPr>
          <p:cNvSpPr/>
          <p:nvPr/>
        </p:nvSpPr>
        <p:spPr>
          <a:xfrm>
            <a:off x="6624024" y="971549"/>
            <a:ext cx="2287181" cy="2326247"/>
          </a:xfrm>
          <a:prstGeom prst="rect">
            <a:avLst/>
          </a:prstGeom>
          <a:noFill/>
          <a:ln w="444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Tree>
    <p:extLst>
      <p:ext uri="{BB962C8B-B14F-4D97-AF65-F5344CB8AC3E}">
        <p14:creationId xmlns:p14="http://schemas.microsoft.com/office/powerpoint/2010/main" val="3467700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7" name="Google Shape;217;p19"/>
          <p:cNvSpPr txBox="1">
            <a:spLocks noGrp="1"/>
          </p:cNvSpPr>
          <p:nvPr>
            <p:ph type="body" idx="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
        <p:nvSpPr>
          <p:cNvPr id="216" name="Google Shape;216;p19"/>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21</a:t>
            </a:fld>
            <a:endParaRPr lang="es-ES" noProof="0" dirty="0"/>
          </a:p>
        </p:txBody>
      </p:sp>
      <p:sp>
        <p:nvSpPr>
          <p:cNvPr id="218" name="Google Shape;218;p19"/>
          <p:cNvSpPr txBox="1"/>
          <p:nvPr/>
        </p:nvSpPr>
        <p:spPr>
          <a:xfrm>
            <a:off x="1862039" y="6481482"/>
            <a:ext cx="638322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“International </a:t>
            </a:r>
            <a:r>
              <a:rPr lang="es-ES" sz="1400" i="1" noProof="0" dirty="0" err="1">
                <a:solidFill>
                  <a:schemeClr val="dk1"/>
                </a:solidFill>
                <a:latin typeface="Times New Roman"/>
                <a:ea typeface="Times New Roman"/>
                <a:cs typeface="Times New Roman"/>
                <a:sym typeface="Times New Roman"/>
              </a:rPr>
              <a:t>Recomendations</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for</a:t>
            </a:r>
            <a:r>
              <a:rPr lang="es-ES" sz="1400" i="1" noProof="0" dirty="0">
                <a:solidFill>
                  <a:schemeClr val="dk1"/>
                </a:solidFill>
                <a:latin typeface="Times New Roman"/>
                <a:ea typeface="Times New Roman"/>
                <a:cs typeface="Times New Roman"/>
                <a:sym typeface="Times New Roman"/>
              </a:rPr>
              <a:t> Energy </a:t>
            </a:r>
            <a:r>
              <a:rPr lang="es-ES" sz="1400" i="1" noProof="0" dirty="0" err="1">
                <a:solidFill>
                  <a:schemeClr val="dk1"/>
                </a:solidFill>
                <a:latin typeface="Times New Roman"/>
                <a:ea typeface="Times New Roman"/>
                <a:cs typeface="Times New Roman"/>
                <a:sym typeface="Times New Roman"/>
              </a:rPr>
              <a:t>Statistics</a:t>
            </a:r>
            <a:r>
              <a:rPr lang="es-ES" sz="1400" i="1" noProof="0" dirty="0">
                <a:solidFill>
                  <a:schemeClr val="dk1"/>
                </a:solidFill>
                <a:latin typeface="Times New Roman"/>
                <a:ea typeface="Times New Roman"/>
                <a:cs typeface="Times New Roman"/>
                <a:sym typeface="Times New Roman"/>
              </a:rPr>
              <a:t> (IRES). UN. 2018”</a:t>
            </a:r>
            <a:endParaRPr lang="es-ES" noProof="0" dirty="0"/>
          </a:p>
        </p:txBody>
      </p:sp>
      <p:grpSp>
        <p:nvGrpSpPr>
          <p:cNvPr id="219" name="Google Shape;219;p19"/>
          <p:cNvGrpSpPr/>
          <p:nvPr/>
        </p:nvGrpSpPr>
        <p:grpSpPr>
          <a:xfrm>
            <a:off x="2292466" y="480377"/>
            <a:ext cx="6383222" cy="5897246"/>
            <a:chOff x="1855795" y="1087681"/>
            <a:chExt cx="5636043" cy="5246518"/>
          </a:xfrm>
        </p:grpSpPr>
        <p:pic>
          <p:nvPicPr>
            <p:cNvPr id="220" name="Google Shape;220;p19"/>
            <p:cNvPicPr preferRelativeResize="0"/>
            <p:nvPr/>
          </p:nvPicPr>
          <p:blipFill rotWithShape="1">
            <a:blip r:embed="rId3">
              <a:alphaModFix/>
            </a:blip>
            <a:srcRect/>
            <a:stretch/>
          </p:blipFill>
          <p:spPr>
            <a:xfrm>
              <a:off x="2173078" y="1087681"/>
              <a:ext cx="5318760" cy="5246518"/>
            </a:xfrm>
            <a:prstGeom prst="rect">
              <a:avLst/>
            </a:prstGeom>
            <a:noFill/>
            <a:ln>
              <a:noFill/>
            </a:ln>
          </p:spPr>
        </p:pic>
        <p:sp>
          <p:nvSpPr>
            <p:cNvPr id="221" name="Google Shape;221;p19"/>
            <p:cNvSpPr/>
            <p:nvPr/>
          </p:nvSpPr>
          <p:spPr>
            <a:xfrm>
              <a:off x="1855795" y="1752678"/>
              <a:ext cx="317281" cy="967740"/>
            </a:xfrm>
            <a:prstGeom prst="leftBrace">
              <a:avLst>
                <a:gd name="adj1" fmla="val 8333"/>
                <a:gd name="adj2" fmla="val 50000"/>
              </a:avLst>
            </a:prstGeom>
            <a:noFill/>
            <a:ln w="28575"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s-ES" sz="2400" noProof="0" dirty="0">
                <a:solidFill>
                  <a:schemeClr val="dk1"/>
                </a:solidFill>
                <a:latin typeface="Times New Roman"/>
                <a:ea typeface="Times New Roman"/>
                <a:cs typeface="Times New Roman"/>
                <a:sym typeface="Times New Roman"/>
              </a:endParaRPr>
            </a:p>
          </p:txBody>
        </p:sp>
        <p:sp>
          <p:nvSpPr>
            <p:cNvPr id="222" name="Google Shape;222;p19"/>
            <p:cNvSpPr/>
            <p:nvPr/>
          </p:nvSpPr>
          <p:spPr>
            <a:xfrm>
              <a:off x="1855797" y="2911309"/>
              <a:ext cx="317281" cy="652350"/>
            </a:xfrm>
            <a:prstGeom prst="leftBrace">
              <a:avLst>
                <a:gd name="adj1" fmla="val 8333"/>
                <a:gd name="adj2" fmla="val 50000"/>
              </a:avLst>
            </a:prstGeom>
            <a:noFill/>
            <a:ln w="28575"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s-ES" sz="2400" noProof="0" dirty="0">
                <a:solidFill>
                  <a:schemeClr val="dk1"/>
                </a:solidFill>
                <a:latin typeface="Times New Roman"/>
                <a:ea typeface="Times New Roman"/>
                <a:cs typeface="Times New Roman"/>
                <a:sym typeface="Times New Roman"/>
              </a:endParaRPr>
            </a:p>
          </p:txBody>
        </p:sp>
        <p:sp>
          <p:nvSpPr>
            <p:cNvPr id="223" name="Google Shape;223;p19"/>
            <p:cNvSpPr/>
            <p:nvPr/>
          </p:nvSpPr>
          <p:spPr>
            <a:xfrm>
              <a:off x="1855796" y="3564407"/>
              <a:ext cx="317281" cy="2666682"/>
            </a:xfrm>
            <a:prstGeom prst="leftBrace">
              <a:avLst>
                <a:gd name="adj1" fmla="val 8333"/>
                <a:gd name="adj2" fmla="val 50000"/>
              </a:avLst>
            </a:prstGeom>
            <a:noFill/>
            <a:ln w="28575"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s-ES" sz="2400" noProof="0" dirty="0">
                <a:solidFill>
                  <a:schemeClr val="dk1"/>
                </a:solidFill>
                <a:latin typeface="Times New Roman"/>
                <a:ea typeface="Times New Roman"/>
                <a:cs typeface="Times New Roman"/>
                <a:sym typeface="Times New Roman"/>
              </a:endParaRPr>
            </a:p>
          </p:txBody>
        </p:sp>
      </p:grpSp>
      <p:sp>
        <p:nvSpPr>
          <p:cNvPr id="224" name="Google Shape;224;p19"/>
          <p:cNvSpPr txBox="1"/>
          <p:nvPr/>
        </p:nvSpPr>
        <p:spPr>
          <a:xfrm>
            <a:off x="531377" y="1444910"/>
            <a:ext cx="1344706"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Bloque 1</a:t>
            </a:r>
          </a:p>
          <a:p>
            <a:pPr marL="0" marR="0" lvl="0" indent="0" algn="l" rtl="0">
              <a:spcBef>
                <a:spcPts val="0"/>
              </a:spcBef>
              <a:spcAft>
                <a:spcPts val="0"/>
              </a:spcAft>
              <a:buNone/>
            </a:pPr>
            <a:r>
              <a:rPr lang="es-ES" sz="2000" noProof="0" dirty="0">
                <a:solidFill>
                  <a:schemeClr val="dk1"/>
                </a:solidFill>
                <a:latin typeface="Times New Roman"/>
                <a:cs typeface="Times New Roman"/>
                <a:sym typeface="Times New Roman"/>
              </a:rPr>
              <a:t>Producción</a:t>
            </a:r>
            <a:endParaRPr lang="es-ES" sz="2000" noProof="0" dirty="0"/>
          </a:p>
        </p:txBody>
      </p:sp>
      <p:sp>
        <p:nvSpPr>
          <p:cNvPr id="225" name="Google Shape;225;p19"/>
          <p:cNvSpPr txBox="1"/>
          <p:nvPr/>
        </p:nvSpPr>
        <p:spPr>
          <a:xfrm>
            <a:off x="531377" y="2569237"/>
            <a:ext cx="1838599"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Bloque 2</a:t>
            </a:r>
          </a:p>
          <a:p>
            <a:pPr marL="0" marR="0" lvl="0" indent="0" algn="l" rtl="0">
              <a:spcBef>
                <a:spcPts val="0"/>
              </a:spcBef>
              <a:spcAft>
                <a:spcPts val="0"/>
              </a:spcAft>
              <a:buNone/>
            </a:pPr>
            <a:r>
              <a:rPr lang="es-ES" sz="2000" noProof="0" dirty="0">
                <a:solidFill>
                  <a:schemeClr val="dk1"/>
                </a:solidFill>
                <a:latin typeface="Times New Roman"/>
                <a:cs typeface="Times New Roman"/>
                <a:sym typeface="Times New Roman"/>
              </a:rPr>
              <a:t>Transformación</a:t>
            </a:r>
            <a:endParaRPr lang="es-ES" sz="2000" noProof="0" dirty="0"/>
          </a:p>
        </p:txBody>
      </p:sp>
      <p:sp>
        <p:nvSpPr>
          <p:cNvPr id="226" name="Google Shape;226;p19"/>
          <p:cNvSpPr txBox="1"/>
          <p:nvPr/>
        </p:nvSpPr>
        <p:spPr>
          <a:xfrm>
            <a:off x="531377" y="4409085"/>
            <a:ext cx="1533799"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Bloque 3</a:t>
            </a:r>
          </a:p>
          <a:p>
            <a:pPr marL="0" marR="0" lvl="0" indent="0" algn="l" rtl="0">
              <a:spcBef>
                <a:spcPts val="0"/>
              </a:spcBef>
              <a:spcAft>
                <a:spcPts val="0"/>
              </a:spcAft>
              <a:buNone/>
            </a:pPr>
            <a:r>
              <a:rPr lang="es-ES" sz="2000" noProof="0" dirty="0">
                <a:solidFill>
                  <a:schemeClr val="dk1"/>
                </a:solidFill>
                <a:latin typeface="Times New Roman"/>
                <a:cs typeface="Times New Roman"/>
                <a:sym typeface="Times New Roman"/>
              </a:rPr>
              <a:t>Consumo</a:t>
            </a:r>
            <a:endParaRPr lang="es-ES" sz="2000" noProof="0" dirty="0"/>
          </a:p>
        </p:txBody>
      </p:sp>
      <p:sp>
        <p:nvSpPr>
          <p:cNvPr id="2" name="Google Shape;233;p20">
            <a:extLst>
              <a:ext uri="{FF2B5EF4-FFF2-40B4-BE49-F238E27FC236}">
                <a16:creationId xmlns:a16="http://schemas.microsoft.com/office/drawing/2014/main" id="{3D5BE999-FE7F-A23A-B800-C535173E50EA}"/>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dirty="0"/>
              <a:t>Balance energético</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6"/>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22</a:t>
            </a:fld>
            <a:endParaRPr lang="es-ES" noProof="0" dirty="0"/>
          </a:p>
        </p:txBody>
      </p:sp>
      <p:sp>
        <p:nvSpPr>
          <p:cNvPr id="174" name="Google Shape;174;p16"/>
          <p:cNvSpPr txBox="1"/>
          <p:nvPr/>
        </p:nvSpPr>
        <p:spPr>
          <a:xfrm>
            <a:off x="914400" y="401210"/>
            <a:ext cx="7761288" cy="461665"/>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Times New Roman"/>
              <a:buAutoNum type="arabicPeriod"/>
            </a:pPr>
            <a:r>
              <a:rPr lang="es-ES" sz="2400" noProof="0" dirty="0">
                <a:solidFill>
                  <a:schemeClr val="dk1"/>
                </a:solidFill>
                <a:latin typeface="Times New Roman"/>
                <a:ea typeface="Times New Roman"/>
                <a:cs typeface="Times New Roman"/>
                <a:sym typeface="Times New Roman"/>
              </a:rPr>
              <a:t>Bloque de producción: energía total suministrada (TES)</a:t>
            </a:r>
          </a:p>
        </p:txBody>
      </p:sp>
      <p:sp>
        <p:nvSpPr>
          <p:cNvPr id="175" name="Google Shape;175;p16"/>
          <p:cNvSpPr txBox="1"/>
          <p:nvPr/>
        </p:nvSpPr>
        <p:spPr>
          <a:xfrm>
            <a:off x="1310799" y="1271912"/>
            <a:ext cx="7025640" cy="132343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i="1" noProof="0" dirty="0">
                <a:solidFill>
                  <a:schemeClr val="dk1"/>
                </a:solidFill>
                <a:latin typeface="Times New Roman"/>
                <a:ea typeface="Times New Roman"/>
                <a:cs typeface="Times New Roman"/>
                <a:sym typeface="Times New Roman"/>
              </a:rPr>
              <a:t>Incluye la producción procedente de energía primaria. No se incluye la materia inerte obtenida de los combustibles extraídos ni las cantidades reinyectadas. La producción de productos primarios suele ser una actividad de las industrias energéticas. Sin embargo, en ocasiones la energía primaria puede ser generada mediante autoproducción de industrias y hogares.</a:t>
            </a:r>
            <a:endParaRPr lang="es-ES" noProof="0" dirty="0"/>
          </a:p>
        </p:txBody>
      </p:sp>
      <p:sp>
        <p:nvSpPr>
          <p:cNvPr id="176" name="Google Shape;176;p16"/>
          <p:cNvSpPr txBox="1"/>
          <p:nvPr/>
        </p:nvSpPr>
        <p:spPr>
          <a:xfrm>
            <a:off x="504825" y="859021"/>
            <a:ext cx="4572000" cy="40011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Producción de energía primaria:</a:t>
            </a:r>
            <a:endParaRPr lang="es-ES" noProof="0" dirty="0"/>
          </a:p>
        </p:txBody>
      </p:sp>
      <p:sp>
        <p:nvSpPr>
          <p:cNvPr id="177" name="Google Shape;177;p16"/>
          <p:cNvSpPr txBox="1"/>
          <p:nvPr/>
        </p:nvSpPr>
        <p:spPr>
          <a:xfrm>
            <a:off x="457199" y="2578918"/>
            <a:ext cx="4572000" cy="40011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Importación y exportación de energía:</a:t>
            </a:r>
            <a:endParaRPr lang="es-ES" noProof="0" dirty="0"/>
          </a:p>
        </p:txBody>
      </p:sp>
      <p:sp>
        <p:nvSpPr>
          <p:cNvPr id="178" name="Google Shape;178;p16"/>
          <p:cNvSpPr txBox="1"/>
          <p:nvPr/>
        </p:nvSpPr>
        <p:spPr>
          <a:xfrm>
            <a:off x="1282224" y="2971277"/>
            <a:ext cx="4861401" cy="33855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i="1" noProof="0" dirty="0">
                <a:solidFill>
                  <a:schemeClr val="dk1"/>
                </a:solidFill>
                <a:latin typeface="Times New Roman"/>
                <a:ea typeface="Times New Roman"/>
                <a:cs typeface="Times New Roman"/>
                <a:sym typeface="Times New Roman"/>
              </a:rPr>
              <a:t>Incluye tanto la energía primaria como la secundaria. </a:t>
            </a:r>
            <a:endParaRPr lang="es-ES" noProof="0" dirty="0"/>
          </a:p>
        </p:txBody>
      </p:sp>
      <p:sp>
        <p:nvSpPr>
          <p:cNvPr id="179" name="Google Shape;179;p16"/>
          <p:cNvSpPr txBox="1"/>
          <p:nvPr/>
        </p:nvSpPr>
        <p:spPr>
          <a:xfrm>
            <a:off x="457199" y="3280306"/>
            <a:ext cx="5076825" cy="40011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Bunkers internacionales marinos y aéreos:</a:t>
            </a:r>
            <a:endParaRPr lang="es-ES" noProof="0" dirty="0"/>
          </a:p>
        </p:txBody>
      </p:sp>
      <p:sp>
        <p:nvSpPr>
          <p:cNvPr id="180" name="Google Shape;180;p16"/>
          <p:cNvSpPr txBox="1"/>
          <p:nvPr/>
        </p:nvSpPr>
        <p:spPr>
          <a:xfrm>
            <a:off x="1310799" y="3718280"/>
            <a:ext cx="7027200" cy="10772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i="1" noProof="0" dirty="0">
                <a:solidFill>
                  <a:schemeClr val="dk1"/>
                </a:solidFill>
                <a:latin typeface="Times New Roman"/>
                <a:ea typeface="Times New Roman"/>
                <a:cs typeface="Times New Roman"/>
                <a:sym typeface="Times New Roman"/>
              </a:rPr>
              <a:t>Son combustibles consumidos durante viajes internacionales de transporte de mercancías o pasajeros. Los viajes internacionales tienen lugar cuando las salidas y llegada son en diferentes territorios nacionales. No se incluyen el transporte doméstico, la pesca o los usos militares (se consideran parte del consumo final).</a:t>
            </a:r>
            <a:endParaRPr lang="es-ES" noProof="0" dirty="0"/>
          </a:p>
        </p:txBody>
      </p:sp>
      <p:sp>
        <p:nvSpPr>
          <p:cNvPr id="181" name="Google Shape;181;p16"/>
          <p:cNvSpPr txBox="1"/>
          <p:nvPr/>
        </p:nvSpPr>
        <p:spPr>
          <a:xfrm>
            <a:off x="1282224" y="5203947"/>
            <a:ext cx="7027200" cy="58473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i="1" noProof="0" dirty="0">
                <a:solidFill>
                  <a:schemeClr val="dk1"/>
                </a:solidFill>
                <a:latin typeface="Times New Roman"/>
                <a:ea typeface="Times New Roman"/>
                <a:cs typeface="Times New Roman"/>
                <a:sym typeface="Times New Roman"/>
              </a:rPr>
              <a:t>Un cambio de stock puede ser el resultado de una acumulación o una pérdida de stock de productos energéticos</a:t>
            </a:r>
            <a:r>
              <a:rPr lang="es-ES" sz="1200" noProof="0" dirty="0">
                <a:solidFill>
                  <a:schemeClr val="dk1"/>
                </a:solidFill>
                <a:latin typeface="Times New Roman"/>
                <a:ea typeface="Times New Roman"/>
                <a:cs typeface="Times New Roman"/>
                <a:sym typeface="Times New Roman"/>
              </a:rPr>
              <a:t>. </a:t>
            </a:r>
            <a:endParaRPr lang="es-ES" noProof="0" dirty="0"/>
          </a:p>
        </p:txBody>
      </p:sp>
      <p:sp>
        <p:nvSpPr>
          <p:cNvPr id="182" name="Google Shape;182;p16"/>
          <p:cNvSpPr txBox="1"/>
          <p:nvPr/>
        </p:nvSpPr>
        <p:spPr>
          <a:xfrm>
            <a:off x="504798" y="4795498"/>
            <a:ext cx="5076825" cy="40011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Cambios en el almacenamiento</a:t>
            </a:r>
            <a:endParaRPr lang="es-ES" noProof="0" dirty="0"/>
          </a:p>
        </p:txBody>
      </p:sp>
      <p:sp>
        <p:nvSpPr>
          <p:cNvPr id="183" name="Google Shape;183;p16"/>
          <p:cNvSpPr txBox="1"/>
          <p:nvPr/>
        </p:nvSpPr>
        <p:spPr>
          <a:xfrm>
            <a:off x="816384" y="5849025"/>
            <a:ext cx="7957319" cy="923330"/>
          </a:xfrm>
          <a:prstGeom prst="rect">
            <a:avLst/>
          </a:prstGeom>
          <a:noFill/>
          <a:ln w="2857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u="sng" noProof="0" dirty="0">
                <a:solidFill>
                  <a:schemeClr val="dk1"/>
                </a:solidFill>
                <a:latin typeface="Times New Roman"/>
                <a:ea typeface="Times New Roman"/>
                <a:cs typeface="Times New Roman"/>
                <a:sym typeface="Times New Roman"/>
              </a:rPr>
              <a:t>Energía total suministrada</a:t>
            </a:r>
            <a:r>
              <a:rPr lang="es-ES" sz="1800" noProof="0" dirty="0">
                <a:solidFill>
                  <a:schemeClr val="dk1"/>
                </a:solidFill>
                <a:latin typeface="Times New Roman"/>
                <a:ea typeface="Times New Roman"/>
                <a:cs typeface="Times New Roman"/>
                <a:sym typeface="Times New Roman"/>
              </a:rPr>
              <a:t> (TES) = Producción de energía primaria </a:t>
            </a:r>
            <a:endParaRPr lang="es-ES" noProof="0" dirty="0"/>
          </a:p>
          <a:p>
            <a:pPr marL="0" marR="0" lvl="0" indent="0" algn="ctr"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 Importación de energía primaria y secundaria - Exportación de energía primaria y secundaria - Bunkers marinos y aéreos ± Cambios en el almacenamiento</a:t>
            </a:r>
            <a:endParaRPr lang="es-ES" noProof="0" dirty="0"/>
          </a:p>
        </p:txBody>
      </p:sp>
      <p:sp>
        <p:nvSpPr>
          <p:cNvPr id="2" name="Google Shape;233;p20">
            <a:extLst>
              <a:ext uri="{FF2B5EF4-FFF2-40B4-BE49-F238E27FC236}">
                <a16:creationId xmlns:a16="http://schemas.microsoft.com/office/drawing/2014/main" id="{F952BFFF-B03C-DC92-3FD1-7E1771C350F3}"/>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dirty="0"/>
              <a:t>Balance energético</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23</a:t>
            </a:fld>
            <a:endParaRPr lang="es-ES" noProof="0" dirty="0"/>
          </a:p>
        </p:txBody>
      </p:sp>
      <p:sp>
        <p:nvSpPr>
          <p:cNvPr id="190" name="Google Shape;190;p17"/>
          <p:cNvSpPr txBox="1"/>
          <p:nvPr/>
        </p:nvSpPr>
        <p:spPr>
          <a:xfrm>
            <a:off x="914400" y="401210"/>
            <a:ext cx="7761288" cy="461665"/>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Arial"/>
              <a:buAutoNum type="arabicPeriod" startAt="2"/>
            </a:pPr>
            <a:r>
              <a:rPr lang="es-ES" sz="2400" noProof="0" dirty="0">
                <a:solidFill>
                  <a:schemeClr val="dk1"/>
                </a:solidFill>
                <a:latin typeface="Times New Roman"/>
                <a:ea typeface="Times New Roman"/>
                <a:cs typeface="Times New Roman"/>
                <a:sym typeface="Times New Roman"/>
              </a:rPr>
              <a:t>Bloque de transformación:</a:t>
            </a:r>
          </a:p>
        </p:txBody>
      </p:sp>
      <p:sp>
        <p:nvSpPr>
          <p:cNvPr id="191" name="Google Shape;191;p17"/>
          <p:cNvSpPr txBox="1"/>
          <p:nvPr/>
        </p:nvSpPr>
        <p:spPr>
          <a:xfrm>
            <a:off x="1310798" y="1271912"/>
            <a:ext cx="7364889"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i="1" noProof="0" dirty="0">
                <a:solidFill>
                  <a:schemeClr val="dk1"/>
                </a:solidFill>
                <a:latin typeface="Times New Roman"/>
                <a:ea typeface="Times New Roman"/>
                <a:cs typeface="Times New Roman"/>
                <a:sym typeface="Times New Roman"/>
              </a:rPr>
              <a:t>Comprende reclasificaciones de productos ya empleados y/o que no se utilizan para lo que originalmente estaban previsto. </a:t>
            </a:r>
            <a:endParaRPr lang="es-ES" noProof="0" dirty="0"/>
          </a:p>
        </p:txBody>
      </p:sp>
      <p:sp>
        <p:nvSpPr>
          <p:cNvPr id="192" name="Google Shape;192;p17"/>
          <p:cNvSpPr txBox="1"/>
          <p:nvPr/>
        </p:nvSpPr>
        <p:spPr>
          <a:xfrm>
            <a:off x="504825" y="859021"/>
            <a:ext cx="4572000" cy="40011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Transferencias:</a:t>
            </a:r>
          </a:p>
        </p:txBody>
      </p:sp>
      <p:sp>
        <p:nvSpPr>
          <p:cNvPr id="193" name="Google Shape;193;p17"/>
          <p:cNvSpPr txBox="1"/>
          <p:nvPr/>
        </p:nvSpPr>
        <p:spPr>
          <a:xfrm>
            <a:off x="504825" y="1869608"/>
            <a:ext cx="4572000" cy="40011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Transformaciones:</a:t>
            </a:r>
            <a:endParaRPr lang="es-ES" noProof="0" dirty="0"/>
          </a:p>
        </p:txBody>
      </p:sp>
      <p:sp>
        <p:nvSpPr>
          <p:cNvPr id="194" name="Google Shape;194;p17"/>
          <p:cNvSpPr txBox="1"/>
          <p:nvPr/>
        </p:nvSpPr>
        <p:spPr>
          <a:xfrm>
            <a:off x="1256969" y="2285959"/>
            <a:ext cx="7364889" cy="20620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i="1" noProof="0" dirty="0">
                <a:solidFill>
                  <a:schemeClr val="dk1"/>
                </a:solidFill>
                <a:latin typeface="Times New Roman"/>
                <a:ea typeface="Times New Roman"/>
                <a:cs typeface="Times New Roman"/>
                <a:sym typeface="Times New Roman"/>
              </a:rPr>
              <a:t>Proceso por el cual un producto de forma parcial o total se convierte en otro producto diferente (ej. petróleo en gasolina, combustible fósil en electricidad, etc.). Dos tipos:</a:t>
            </a:r>
          </a:p>
          <a:p>
            <a:pPr marL="342900" marR="0" lvl="0" indent="-342900" algn="just" rtl="0">
              <a:spcBef>
                <a:spcPts val="0"/>
              </a:spcBef>
              <a:spcAft>
                <a:spcPts val="0"/>
              </a:spcAft>
              <a:buAutoNum type="alphaLcParenR"/>
            </a:pPr>
            <a:r>
              <a:rPr lang="es-ES" sz="1600" i="1" noProof="0" dirty="0">
                <a:solidFill>
                  <a:schemeClr val="dk1"/>
                </a:solidFill>
                <a:latin typeface="Times New Roman"/>
                <a:ea typeface="Times New Roman"/>
                <a:cs typeface="Times New Roman"/>
                <a:sym typeface="Times New Roman"/>
              </a:rPr>
              <a:t>conversión físico-química de un producto a otro cuyas propiedades varían de las del producto original. </a:t>
            </a:r>
          </a:p>
          <a:p>
            <a:pPr marL="342900" marR="0" lvl="0" indent="-342900" algn="just" rtl="0">
              <a:spcBef>
                <a:spcPts val="0"/>
              </a:spcBef>
              <a:spcAft>
                <a:spcPts val="0"/>
              </a:spcAft>
              <a:buAutoNum type="alphaLcParenR"/>
            </a:pPr>
            <a:r>
              <a:rPr lang="es-ES" sz="1600" i="1" noProof="0" dirty="0">
                <a:solidFill>
                  <a:schemeClr val="dk1"/>
                </a:solidFill>
                <a:latin typeface="Times New Roman"/>
                <a:ea typeface="Times New Roman"/>
                <a:cs typeface="Times New Roman"/>
                <a:sym typeface="Times New Roman"/>
              </a:rPr>
              <a:t>cuando se agrega/quita un producto cambiando la forma original (ej. licuefacción de gas, </a:t>
            </a:r>
            <a:r>
              <a:rPr lang="es-ES" sz="1600" i="1" noProof="0" dirty="0" err="1">
                <a:solidFill>
                  <a:schemeClr val="dk1"/>
                </a:solidFill>
                <a:latin typeface="Times New Roman"/>
                <a:ea typeface="Times New Roman"/>
                <a:cs typeface="Times New Roman"/>
                <a:sym typeface="Times New Roman"/>
              </a:rPr>
              <a:t>peletización</a:t>
            </a:r>
            <a:r>
              <a:rPr lang="es-ES" sz="1600" i="1" noProof="0" dirty="0">
                <a:solidFill>
                  <a:schemeClr val="dk1"/>
                </a:solidFill>
                <a:latin typeface="Times New Roman"/>
                <a:ea typeface="Times New Roman"/>
                <a:cs typeface="Times New Roman"/>
                <a:sym typeface="Times New Roman"/>
              </a:rPr>
              <a:t>, etc.). </a:t>
            </a:r>
          </a:p>
          <a:p>
            <a:pPr marR="0" lvl="0" algn="just" rtl="0">
              <a:spcBef>
                <a:spcPts val="0"/>
              </a:spcBef>
              <a:spcAft>
                <a:spcPts val="0"/>
              </a:spcAft>
            </a:pPr>
            <a:r>
              <a:rPr lang="es-ES" sz="1600" i="1" noProof="0" dirty="0">
                <a:solidFill>
                  <a:schemeClr val="dk1"/>
                </a:solidFill>
                <a:latin typeface="Times New Roman"/>
                <a:ea typeface="Times New Roman"/>
                <a:cs typeface="Times New Roman"/>
                <a:sym typeface="Times New Roman"/>
              </a:rPr>
              <a:t>Las transformaciones ocurren en diferentes plantas energéticas (ciclos combinados, refinerías, plantas petroquímicas, etc.). </a:t>
            </a:r>
            <a:endParaRPr lang="es-ES" noProof="0" dirty="0"/>
          </a:p>
        </p:txBody>
      </p:sp>
      <p:sp>
        <p:nvSpPr>
          <p:cNvPr id="195" name="Google Shape;195;p17"/>
          <p:cNvSpPr txBox="1"/>
          <p:nvPr/>
        </p:nvSpPr>
        <p:spPr>
          <a:xfrm>
            <a:off x="1282224" y="4704249"/>
            <a:ext cx="7314380"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i="1" noProof="0" dirty="0">
                <a:solidFill>
                  <a:schemeClr val="dk1"/>
                </a:solidFill>
                <a:latin typeface="Times New Roman"/>
                <a:ea typeface="Times New Roman"/>
                <a:cs typeface="Times New Roman"/>
                <a:sym typeface="Times New Roman"/>
              </a:rPr>
              <a:t>Definido como el combustible, electricidad y/o calor consumido para la propia producción de energía transformada (ej. compresores, luces, etc.) </a:t>
            </a:r>
            <a:endParaRPr lang="es-ES" noProof="0" dirty="0"/>
          </a:p>
        </p:txBody>
      </p:sp>
      <p:sp>
        <p:nvSpPr>
          <p:cNvPr id="196" name="Google Shape;196;p17"/>
          <p:cNvSpPr txBox="1"/>
          <p:nvPr/>
        </p:nvSpPr>
        <p:spPr>
          <a:xfrm>
            <a:off x="504825" y="4276779"/>
            <a:ext cx="6134100" cy="40011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Uso propio de la energía en la planta transformadora:</a:t>
            </a:r>
            <a:endParaRPr lang="es-ES" noProof="0" dirty="0"/>
          </a:p>
        </p:txBody>
      </p:sp>
      <p:sp>
        <p:nvSpPr>
          <p:cNvPr id="197" name="Google Shape;197;p17"/>
          <p:cNvSpPr txBox="1"/>
          <p:nvPr/>
        </p:nvSpPr>
        <p:spPr>
          <a:xfrm>
            <a:off x="504825" y="5389343"/>
            <a:ext cx="6134100" cy="40011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Pérdidas en los procesos:</a:t>
            </a:r>
            <a:endParaRPr lang="es-ES" noProof="0" dirty="0"/>
          </a:p>
        </p:txBody>
      </p:sp>
      <p:sp>
        <p:nvSpPr>
          <p:cNvPr id="198" name="Google Shape;198;p17"/>
          <p:cNvSpPr txBox="1"/>
          <p:nvPr/>
        </p:nvSpPr>
        <p:spPr>
          <a:xfrm>
            <a:off x="1280663" y="5828442"/>
            <a:ext cx="7364889"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i="1" noProof="0" dirty="0">
                <a:solidFill>
                  <a:schemeClr val="dk1"/>
                </a:solidFill>
                <a:latin typeface="Times New Roman"/>
                <a:ea typeface="Times New Roman"/>
                <a:cs typeface="Times New Roman"/>
                <a:sym typeface="Times New Roman"/>
              </a:rPr>
              <a:t>Son las pérdidas debidas a la conversión de la energía primaria en otra secundaria. Incluyen también pérdidas debidas a la distribución y transporte del combustible, la electricidad y/o el calor.</a:t>
            </a:r>
            <a:endParaRPr lang="es-ES" noProof="0" dirty="0"/>
          </a:p>
        </p:txBody>
      </p:sp>
      <p:sp>
        <p:nvSpPr>
          <p:cNvPr id="2" name="Google Shape;233;p20">
            <a:extLst>
              <a:ext uri="{FF2B5EF4-FFF2-40B4-BE49-F238E27FC236}">
                <a16:creationId xmlns:a16="http://schemas.microsoft.com/office/drawing/2014/main" id="{F088FE4E-54FE-2EF7-7FEF-E48F28444B0A}"/>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dirty="0"/>
              <a:t>Balance energético</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8"/>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24</a:t>
            </a:fld>
            <a:endParaRPr lang="es-ES" noProof="0" dirty="0"/>
          </a:p>
        </p:txBody>
      </p:sp>
      <p:sp>
        <p:nvSpPr>
          <p:cNvPr id="205" name="Google Shape;205;p18"/>
          <p:cNvSpPr txBox="1"/>
          <p:nvPr/>
        </p:nvSpPr>
        <p:spPr>
          <a:xfrm>
            <a:off x="914400" y="401210"/>
            <a:ext cx="7761288" cy="461665"/>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Arial"/>
              <a:buAutoNum type="arabicPeriod" startAt="3"/>
            </a:pPr>
            <a:r>
              <a:rPr lang="es-ES" sz="2400" noProof="0" dirty="0">
                <a:solidFill>
                  <a:schemeClr val="dk1"/>
                </a:solidFill>
                <a:latin typeface="Times New Roman"/>
                <a:ea typeface="Times New Roman"/>
                <a:cs typeface="Times New Roman"/>
                <a:sym typeface="Times New Roman"/>
              </a:rPr>
              <a:t>Bloque de consumo: </a:t>
            </a:r>
          </a:p>
        </p:txBody>
      </p:sp>
      <p:sp>
        <p:nvSpPr>
          <p:cNvPr id="206" name="Google Shape;206;p18"/>
          <p:cNvSpPr txBox="1"/>
          <p:nvPr/>
        </p:nvSpPr>
        <p:spPr>
          <a:xfrm>
            <a:off x="1282224" y="1368333"/>
            <a:ext cx="7364889" cy="2308284"/>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1600"/>
              <a:buFont typeface="Arial"/>
              <a:buAutoNum type="alphaLcParenR"/>
            </a:pPr>
            <a:r>
              <a:rPr lang="es-ES" sz="1600" i="1" noProof="0" dirty="0">
                <a:solidFill>
                  <a:schemeClr val="dk1"/>
                </a:solidFill>
                <a:latin typeface="Times New Roman"/>
                <a:ea typeface="Times New Roman"/>
                <a:cs typeface="Times New Roman"/>
                <a:sym typeface="Times New Roman"/>
              </a:rPr>
              <a:t>Industrias manufactureras, de la construcción y de minería no relacionadas con los combustibles (ej. químicas y petroquímica, transporte de maquinaria, comida y tabaco, papeleras, etc.)</a:t>
            </a:r>
            <a:endParaRPr lang="es-ES" noProof="0" dirty="0"/>
          </a:p>
          <a:p>
            <a:pPr marL="342900" marR="0" lvl="0" indent="-342900" algn="just" rtl="0">
              <a:spcBef>
                <a:spcPts val="0"/>
              </a:spcBef>
              <a:spcAft>
                <a:spcPts val="0"/>
              </a:spcAft>
              <a:buClr>
                <a:schemeClr val="dk1"/>
              </a:buClr>
              <a:buSzPts val="1600"/>
              <a:buFont typeface="Arial"/>
              <a:buAutoNum type="alphaLcParenR"/>
            </a:pPr>
            <a:r>
              <a:rPr lang="es-ES" sz="1600" i="1" noProof="0" dirty="0">
                <a:solidFill>
                  <a:schemeClr val="dk1"/>
                </a:solidFill>
                <a:latin typeface="Times New Roman"/>
                <a:ea typeface="Times New Roman"/>
                <a:cs typeface="Times New Roman"/>
                <a:sym typeface="Times New Roman"/>
              </a:rPr>
              <a:t>Transporte. Incluye transporte terrestre, aéreo, naval, dentro del territorio nacional. También se considera el transporte por tubería y otro tipo de transporte no especificado.</a:t>
            </a:r>
            <a:endParaRPr lang="es-ES" noProof="0" dirty="0"/>
          </a:p>
          <a:p>
            <a:pPr marL="342900" marR="0" lvl="0" indent="-342900" algn="just" rtl="0">
              <a:spcBef>
                <a:spcPts val="0"/>
              </a:spcBef>
              <a:spcAft>
                <a:spcPts val="0"/>
              </a:spcAft>
              <a:buClr>
                <a:schemeClr val="dk1"/>
              </a:buClr>
              <a:buSzPts val="1600"/>
              <a:buFont typeface="Arial"/>
              <a:buAutoNum type="alphaLcParenR"/>
            </a:pPr>
            <a:r>
              <a:rPr lang="es-ES" sz="1600" i="1" noProof="0" dirty="0">
                <a:solidFill>
                  <a:schemeClr val="dk1"/>
                </a:solidFill>
                <a:latin typeface="Times New Roman"/>
                <a:ea typeface="Times New Roman"/>
                <a:cs typeface="Times New Roman"/>
                <a:sym typeface="Times New Roman"/>
              </a:rPr>
              <a:t>Otros consumos. Incluye los hogares, comercios y servicios públicos, agricultura, pesca, etc.</a:t>
            </a:r>
            <a:endParaRPr lang="es-ES" noProof="0" dirty="0"/>
          </a:p>
          <a:p>
            <a:pPr marL="342900" marR="0" lvl="0" indent="-241300" algn="just" rtl="0">
              <a:spcBef>
                <a:spcPts val="0"/>
              </a:spcBef>
              <a:spcAft>
                <a:spcPts val="0"/>
              </a:spcAft>
              <a:buClr>
                <a:schemeClr val="dk1"/>
              </a:buClr>
              <a:buSzPts val="1600"/>
              <a:buFont typeface="Arial"/>
              <a:buNone/>
            </a:pPr>
            <a:endParaRPr lang="es-ES" sz="1600" i="1" noProof="0" dirty="0">
              <a:solidFill>
                <a:schemeClr val="dk1"/>
              </a:solidFill>
              <a:latin typeface="Times New Roman"/>
              <a:ea typeface="Times New Roman"/>
              <a:cs typeface="Times New Roman"/>
              <a:sym typeface="Times New Roman"/>
            </a:endParaRPr>
          </a:p>
        </p:txBody>
      </p:sp>
      <p:sp>
        <p:nvSpPr>
          <p:cNvPr id="207" name="Google Shape;207;p18"/>
          <p:cNvSpPr txBox="1"/>
          <p:nvPr/>
        </p:nvSpPr>
        <p:spPr>
          <a:xfrm>
            <a:off x="504825" y="859021"/>
            <a:ext cx="4572000" cy="40011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Consumo final de energía</a:t>
            </a:r>
            <a:endParaRPr lang="es-ES" noProof="0" dirty="0"/>
          </a:p>
        </p:txBody>
      </p:sp>
      <p:sp>
        <p:nvSpPr>
          <p:cNvPr id="208" name="Google Shape;208;p18"/>
          <p:cNvSpPr txBox="1"/>
          <p:nvPr/>
        </p:nvSpPr>
        <p:spPr>
          <a:xfrm>
            <a:off x="504825" y="3585764"/>
            <a:ext cx="5534025" cy="40011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2000" b="0" i="0" u="none" strike="noStrike" cap="none" noProof="0" dirty="0">
                <a:solidFill>
                  <a:schemeClr val="dk1"/>
                </a:solidFill>
                <a:latin typeface="Times New Roman"/>
                <a:ea typeface="Times New Roman"/>
                <a:cs typeface="Times New Roman"/>
                <a:sym typeface="Times New Roman"/>
              </a:rPr>
              <a:t>Consumo de energía para un uso no energético</a:t>
            </a:r>
            <a:endParaRPr lang="es-ES" noProof="0" dirty="0"/>
          </a:p>
        </p:txBody>
      </p:sp>
      <p:sp>
        <p:nvSpPr>
          <p:cNvPr id="209" name="Google Shape;209;p18"/>
          <p:cNvSpPr txBox="1"/>
          <p:nvPr/>
        </p:nvSpPr>
        <p:spPr>
          <a:xfrm>
            <a:off x="1280663" y="4060410"/>
            <a:ext cx="7395025" cy="107717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i="1" noProof="0" dirty="0">
                <a:solidFill>
                  <a:schemeClr val="dk1"/>
                </a:solidFill>
                <a:latin typeface="Times New Roman"/>
                <a:ea typeface="Times New Roman"/>
                <a:cs typeface="Times New Roman"/>
                <a:sym typeface="Times New Roman"/>
              </a:rPr>
              <a:t>Consiste en el uso de la energía como materias primas para la fabricación de productos fuera de la aplicación SIEC (Standard International Energy </a:t>
            </a:r>
            <a:r>
              <a:rPr lang="es-ES" sz="1600" i="1" noProof="0" dirty="0" err="1">
                <a:solidFill>
                  <a:schemeClr val="dk1"/>
                </a:solidFill>
                <a:latin typeface="Times New Roman"/>
                <a:ea typeface="Times New Roman"/>
                <a:cs typeface="Times New Roman"/>
                <a:sym typeface="Times New Roman"/>
              </a:rPr>
              <a:t>Product</a:t>
            </a:r>
            <a:r>
              <a:rPr lang="es-ES" sz="1600" i="1" noProof="0" dirty="0">
                <a:solidFill>
                  <a:schemeClr val="dk1"/>
                </a:solidFill>
                <a:latin typeface="Times New Roman"/>
                <a:ea typeface="Times New Roman"/>
                <a:cs typeface="Times New Roman"/>
                <a:sym typeface="Times New Roman"/>
              </a:rPr>
              <a:t> </a:t>
            </a:r>
            <a:r>
              <a:rPr lang="es-ES" sz="1600" i="1" noProof="0" dirty="0" err="1">
                <a:solidFill>
                  <a:schemeClr val="dk1"/>
                </a:solidFill>
                <a:latin typeface="Times New Roman"/>
                <a:ea typeface="Times New Roman"/>
                <a:cs typeface="Times New Roman"/>
                <a:sym typeface="Times New Roman"/>
              </a:rPr>
              <a:t>Classification</a:t>
            </a:r>
            <a:r>
              <a:rPr lang="es-ES" sz="1600" i="1" noProof="0" dirty="0">
                <a:solidFill>
                  <a:schemeClr val="dk1"/>
                </a:solidFill>
                <a:latin typeface="Times New Roman"/>
                <a:ea typeface="Times New Roman"/>
                <a:cs typeface="Times New Roman"/>
                <a:sym typeface="Times New Roman"/>
              </a:rPr>
              <a:t>), así como el uso directo en productos que no impliquen una fuente de energía (ej. lubricación, conservación y pavimentación de carreteras, ceras, etc.)</a:t>
            </a:r>
            <a:endParaRPr lang="es-ES" noProof="0" dirty="0"/>
          </a:p>
        </p:txBody>
      </p:sp>
      <p:sp>
        <p:nvSpPr>
          <p:cNvPr id="210" name="Google Shape;210;p18"/>
          <p:cNvSpPr txBox="1"/>
          <p:nvPr/>
        </p:nvSpPr>
        <p:spPr>
          <a:xfrm>
            <a:off x="885825" y="5207166"/>
            <a:ext cx="77612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400" noProof="0" dirty="0">
                <a:solidFill>
                  <a:schemeClr val="dk1"/>
                </a:solidFill>
                <a:latin typeface="Times New Roman"/>
                <a:ea typeface="Times New Roman"/>
                <a:cs typeface="Times New Roman"/>
                <a:sym typeface="Times New Roman"/>
              </a:rPr>
              <a:t>Diferencias estadísticas en los balances energéticos</a:t>
            </a:r>
            <a:endParaRPr lang="es-ES" noProof="0" dirty="0"/>
          </a:p>
        </p:txBody>
      </p:sp>
      <p:sp>
        <p:nvSpPr>
          <p:cNvPr id="211" name="Google Shape;211;p18"/>
          <p:cNvSpPr txBox="1"/>
          <p:nvPr/>
        </p:nvSpPr>
        <p:spPr>
          <a:xfrm>
            <a:off x="1281443" y="5668831"/>
            <a:ext cx="7394245" cy="10772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i="1" noProof="0" dirty="0">
                <a:solidFill>
                  <a:schemeClr val="dk1"/>
                </a:solidFill>
                <a:latin typeface="Times New Roman"/>
                <a:ea typeface="Times New Roman"/>
                <a:cs typeface="Times New Roman"/>
                <a:sym typeface="Times New Roman"/>
              </a:rPr>
              <a:t>Es la diferencia numérica entre el suministro total de un producto energético y el uso total del mismo. Se determina restando la energía total consumida de la energía total suministrada. Puede deberse a varios factores entre los que se encuentran los factores de conversión.</a:t>
            </a:r>
            <a:endParaRPr lang="es-ES" noProof="0" dirty="0"/>
          </a:p>
        </p:txBody>
      </p:sp>
      <p:sp>
        <p:nvSpPr>
          <p:cNvPr id="4" name="Google Shape;233;p20">
            <a:extLst>
              <a:ext uri="{FF2B5EF4-FFF2-40B4-BE49-F238E27FC236}">
                <a16:creationId xmlns:a16="http://schemas.microsoft.com/office/drawing/2014/main" id="{F8BD321E-2ADB-4785-FFC2-C73A544700ED}"/>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a:t>Balance energético</a:t>
            </a:r>
            <a:endParaRPr lang="es-ES" kern="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7"/>
          <p:cNvSpPr txBox="1">
            <a:spLocks noGrp="1"/>
          </p:cNvSpPr>
          <p:nvPr>
            <p:ph type="body" idx="1"/>
          </p:nvPr>
        </p:nvSpPr>
        <p:spPr>
          <a:xfrm>
            <a:off x="650939" y="221407"/>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Times New Roman"/>
              <a:buNone/>
            </a:pPr>
            <a:r>
              <a:rPr lang="es-ES" sz="2400" noProof="0" dirty="0">
                <a:solidFill>
                  <a:schemeClr val="tx1"/>
                </a:solidFill>
              </a:rPr>
              <a:t>España</a:t>
            </a:r>
            <a:r>
              <a:rPr lang="es-ES" noProof="0" dirty="0">
                <a:solidFill>
                  <a:schemeClr val="tx1"/>
                </a:solidFill>
              </a:rPr>
              <a:t> </a:t>
            </a:r>
          </a:p>
        </p:txBody>
      </p:sp>
      <p:sp>
        <p:nvSpPr>
          <p:cNvPr id="331" name="Google Shape;331;p2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25</a:t>
            </a:fld>
            <a:endParaRPr lang="es-ES" noProof="0" dirty="0"/>
          </a:p>
        </p:txBody>
      </p:sp>
      <p:sp>
        <p:nvSpPr>
          <p:cNvPr id="332" name="Google Shape;332;p27"/>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
        <p:nvSpPr>
          <p:cNvPr id="333" name="Google Shape;333;p27"/>
          <p:cNvSpPr txBox="1"/>
          <p:nvPr/>
        </p:nvSpPr>
        <p:spPr>
          <a:xfrm>
            <a:off x="5548708" y="6524625"/>
            <a:ext cx="327660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“Energy Balances. UN. 2020”</a:t>
            </a:r>
            <a:endParaRPr lang="es-ES" noProof="0" dirty="0"/>
          </a:p>
        </p:txBody>
      </p:sp>
      <p:pic>
        <p:nvPicPr>
          <p:cNvPr id="334" name="Google Shape;334;p27"/>
          <p:cNvPicPr preferRelativeResize="0"/>
          <p:nvPr/>
        </p:nvPicPr>
        <p:blipFill rotWithShape="1">
          <a:blip r:embed="rId3">
            <a:alphaModFix/>
          </a:blip>
          <a:srcRect t="2806"/>
          <a:stretch/>
        </p:blipFill>
        <p:spPr>
          <a:xfrm>
            <a:off x="742284" y="666750"/>
            <a:ext cx="4693316" cy="6191250"/>
          </a:xfrm>
          <a:prstGeom prst="rect">
            <a:avLst/>
          </a:prstGeom>
          <a:noFill/>
          <a:ln>
            <a:noFill/>
          </a:ln>
        </p:spPr>
      </p:pic>
      <p:sp>
        <p:nvSpPr>
          <p:cNvPr id="8" name="Google Shape;467;p41">
            <a:extLst>
              <a:ext uri="{FF2B5EF4-FFF2-40B4-BE49-F238E27FC236}">
                <a16:creationId xmlns:a16="http://schemas.microsoft.com/office/drawing/2014/main" id="{7D00035B-A671-490A-BC11-51F667406C08}"/>
              </a:ext>
            </a:extLst>
          </p:cNvPr>
          <p:cNvSpPr/>
          <p:nvPr/>
        </p:nvSpPr>
        <p:spPr>
          <a:xfrm>
            <a:off x="5812589" y="1600752"/>
            <a:ext cx="8969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4.53 EJ</a:t>
            </a:r>
            <a:endParaRPr lang="es-ES" noProof="0" dirty="0"/>
          </a:p>
        </p:txBody>
      </p:sp>
      <p:sp>
        <p:nvSpPr>
          <p:cNvPr id="2" name="Elipse 1">
            <a:extLst>
              <a:ext uri="{FF2B5EF4-FFF2-40B4-BE49-F238E27FC236}">
                <a16:creationId xmlns:a16="http://schemas.microsoft.com/office/drawing/2014/main" id="{FD7BABF1-443E-45B8-BC99-BCE89850EBCA}"/>
              </a:ext>
            </a:extLst>
          </p:cNvPr>
          <p:cNvSpPr/>
          <p:nvPr/>
        </p:nvSpPr>
        <p:spPr>
          <a:xfrm>
            <a:off x="5812589" y="1542661"/>
            <a:ext cx="896987" cy="522515"/>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cxnSp>
        <p:nvCxnSpPr>
          <p:cNvPr id="4" name="Conector recto 3">
            <a:extLst>
              <a:ext uri="{FF2B5EF4-FFF2-40B4-BE49-F238E27FC236}">
                <a16:creationId xmlns:a16="http://schemas.microsoft.com/office/drawing/2014/main" id="{88F85AFA-6042-4501-8FCE-665FCF91B897}"/>
              </a:ext>
            </a:extLst>
          </p:cNvPr>
          <p:cNvCxnSpPr>
            <a:cxnSpLocks/>
          </p:cNvCxnSpPr>
          <p:nvPr/>
        </p:nvCxnSpPr>
        <p:spPr>
          <a:xfrm>
            <a:off x="4963886" y="1803918"/>
            <a:ext cx="848702" cy="4754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Elipse 13">
            <a:extLst>
              <a:ext uri="{FF2B5EF4-FFF2-40B4-BE49-F238E27FC236}">
                <a16:creationId xmlns:a16="http://schemas.microsoft.com/office/drawing/2014/main" id="{0584203D-E5E1-43D4-9D99-199528AA039D}"/>
              </a:ext>
            </a:extLst>
          </p:cNvPr>
          <p:cNvSpPr/>
          <p:nvPr/>
        </p:nvSpPr>
        <p:spPr>
          <a:xfrm>
            <a:off x="4667917" y="1707216"/>
            <a:ext cx="311403" cy="156403"/>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15" name="Google Shape;467;p41">
            <a:extLst>
              <a:ext uri="{FF2B5EF4-FFF2-40B4-BE49-F238E27FC236}">
                <a16:creationId xmlns:a16="http://schemas.microsoft.com/office/drawing/2014/main" id="{D700B10E-242F-41D1-A16C-4707560D4757}"/>
              </a:ext>
            </a:extLst>
          </p:cNvPr>
          <p:cNvSpPr/>
          <p:nvPr/>
        </p:nvSpPr>
        <p:spPr>
          <a:xfrm>
            <a:off x="5812589" y="3487091"/>
            <a:ext cx="8969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3.25 EJ</a:t>
            </a:r>
            <a:endParaRPr lang="es-ES" noProof="0" dirty="0"/>
          </a:p>
        </p:txBody>
      </p:sp>
      <p:sp>
        <p:nvSpPr>
          <p:cNvPr id="16" name="Elipse 15">
            <a:extLst>
              <a:ext uri="{FF2B5EF4-FFF2-40B4-BE49-F238E27FC236}">
                <a16:creationId xmlns:a16="http://schemas.microsoft.com/office/drawing/2014/main" id="{7D19AC95-574F-44C8-AB9D-093167BBD9B0}"/>
              </a:ext>
            </a:extLst>
          </p:cNvPr>
          <p:cNvSpPr/>
          <p:nvPr/>
        </p:nvSpPr>
        <p:spPr>
          <a:xfrm>
            <a:off x="5812589" y="3429000"/>
            <a:ext cx="896987" cy="522515"/>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17" name="Elipse 16">
            <a:extLst>
              <a:ext uri="{FF2B5EF4-FFF2-40B4-BE49-F238E27FC236}">
                <a16:creationId xmlns:a16="http://schemas.microsoft.com/office/drawing/2014/main" id="{C7D30A8B-743C-46AA-A88D-66CC949BE0B6}"/>
              </a:ext>
            </a:extLst>
          </p:cNvPr>
          <p:cNvSpPr/>
          <p:nvPr/>
        </p:nvSpPr>
        <p:spPr>
          <a:xfrm>
            <a:off x="4667917" y="3593555"/>
            <a:ext cx="311403" cy="156403"/>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cxnSp>
        <p:nvCxnSpPr>
          <p:cNvPr id="18" name="Conector recto 17">
            <a:extLst>
              <a:ext uri="{FF2B5EF4-FFF2-40B4-BE49-F238E27FC236}">
                <a16:creationId xmlns:a16="http://schemas.microsoft.com/office/drawing/2014/main" id="{239EF0D8-1049-484E-803C-A06A1085D688}"/>
              </a:ext>
            </a:extLst>
          </p:cNvPr>
          <p:cNvCxnSpPr>
            <a:cxnSpLocks/>
          </p:cNvCxnSpPr>
          <p:nvPr/>
        </p:nvCxnSpPr>
        <p:spPr>
          <a:xfrm>
            <a:off x="4979320" y="3682251"/>
            <a:ext cx="848702" cy="4754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Rectángulo 2">
            <a:extLst>
              <a:ext uri="{FF2B5EF4-FFF2-40B4-BE49-F238E27FC236}">
                <a16:creationId xmlns:a16="http://schemas.microsoft.com/office/drawing/2014/main" id="{CE2F22CF-F0C3-4849-8FFE-5312303FBAC1}"/>
              </a:ext>
            </a:extLst>
          </p:cNvPr>
          <p:cNvSpPr/>
          <p:nvPr/>
        </p:nvSpPr>
        <p:spPr>
          <a:xfrm>
            <a:off x="650939" y="3593555"/>
            <a:ext cx="1078334" cy="3238847"/>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5" name="Rectángulo 4">
            <a:extLst>
              <a:ext uri="{FF2B5EF4-FFF2-40B4-BE49-F238E27FC236}">
                <a16:creationId xmlns:a16="http://schemas.microsoft.com/office/drawing/2014/main" id="{58995367-E380-4DDE-A15D-F2F48D1FF4B4}"/>
              </a:ext>
            </a:extLst>
          </p:cNvPr>
          <p:cNvSpPr/>
          <p:nvPr/>
        </p:nvSpPr>
        <p:spPr>
          <a:xfrm>
            <a:off x="650939" y="2065176"/>
            <a:ext cx="1078334" cy="1528379"/>
          </a:xfrm>
          <a:prstGeom prst="rect">
            <a:avLst/>
          </a:prstGeom>
          <a:solidFill>
            <a:srgbClr val="FFC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6" name="Rectángulo 5">
            <a:extLst>
              <a:ext uri="{FF2B5EF4-FFF2-40B4-BE49-F238E27FC236}">
                <a16:creationId xmlns:a16="http://schemas.microsoft.com/office/drawing/2014/main" id="{2AE51BD8-8840-447A-828A-3BD33C9D7936}"/>
              </a:ext>
            </a:extLst>
          </p:cNvPr>
          <p:cNvSpPr/>
          <p:nvPr/>
        </p:nvSpPr>
        <p:spPr>
          <a:xfrm>
            <a:off x="650940" y="1065013"/>
            <a:ext cx="1078333" cy="777492"/>
          </a:xfrm>
          <a:prstGeom prst="rect">
            <a:avLst/>
          </a:prstGeom>
          <a:solidFill>
            <a:srgbClr val="C0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20" name="Google Shape;467;p41">
            <a:extLst>
              <a:ext uri="{FF2B5EF4-FFF2-40B4-BE49-F238E27FC236}">
                <a16:creationId xmlns:a16="http://schemas.microsoft.com/office/drawing/2014/main" id="{A9CE2B60-6321-4287-8668-B6756B33973E}"/>
              </a:ext>
            </a:extLst>
          </p:cNvPr>
          <p:cNvSpPr/>
          <p:nvPr/>
        </p:nvSpPr>
        <p:spPr>
          <a:xfrm>
            <a:off x="6918370" y="1504546"/>
            <a:ext cx="1574690"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Energía Total Suministrada</a:t>
            </a:r>
            <a:endParaRPr lang="es-ES" noProof="0" dirty="0"/>
          </a:p>
        </p:txBody>
      </p:sp>
      <p:sp>
        <p:nvSpPr>
          <p:cNvPr id="21" name="Google Shape;467;p41">
            <a:extLst>
              <a:ext uri="{FF2B5EF4-FFF2-40B4-BE49-F238E27FC236}">
                <a16:creationId xmlns:a16="http://schemas.microsoft.com/office/drawing/2014/main" id="{F8B81EE2-40D9-423D-9A17-955ED59DD4CD}"/>
              </a:ext>
            </a:extLst>
          </p:cNvPr>
          <p:cNvSpPr/>
          <p:nvPr/>
        </p:nvSpPr>
        <p:spPr>
          <a:xfrm>
            <a:off x="7007712" y="3468739"/>
            <a:ext cx="157469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Consumo total</a:t>
            </a:r>
            <a:endParaRPr lang="es-ES" noProof="0" dirty="0"/>
          </a:p>
        </p:txBody>
      </p:sp>
      <p:sp>
        <p:nvSpPr>
          <p:cNvPr id="7" name="CuadroTexto 6">
            <a:extLst>
              <a:ext uri="{FF2B5EF4-FFF2-40B4-BE49-F238E27FC236}">
                <a16:creationId xmlns:a16="http://schemas.microsoft.com/office/drawing/2014/main" id="{7FED9FF9-2361-5BBA-4FB1-F478E3D6614C}"/>
              </a:ext>
            </a:extLst>
          </p:cNvPr>
          <p:cNvSpPr txBox="1"/>
          <p:nvPr/>
        </p:nvSpPr>
        <p:spPr>
          <a:xfrm>
            <a:off x="6405129" y="5130673"/>
            <a:ext cx="1937936" cy="369332"/>
          </a:xfrm>
          <a:prstGeom prst="rect">
            <a:avLst/>
          </a:prstGeom>
          <a:noFill/>
        </p:spPr>
        <p:txBody>
          <a:bodyPr wrap="square" rtlCol="0">
            <a:spAutoFit/>
          </a:bodyPr>
          <a:lstStyle/>
          <a:p>
            <a:r>
              <a:rPr lang="es-ES" sz="1800" noProof="0" dirty="0">
                <a:latin typeface="Times New Roman" panose="02020603050405020304" pitchFamily="18" charset="0"/>
                <a:cs typeface="Times New Roman" panose="02020603050405020304" pitchFamily="18" charset="0"/>
              </a:rPr>
              <a:t>Eficiencia 0.717</a:t>
            </a:r>
          </a:p>
        </p:txBody>
      </p:sp>
    </p:spTree>
    <p:extLst>
      <p:ext uri="{BB962C8B-B14F-4D97-AF65-F5344CB8AC3E}">
        <p14:creationId xmlns:p14="http://schemas.microsoft.com/office/powerpoint/2010/main" val="2055634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7"/>
          <p:cNvSpPr txBox="1">
            <a:spLocks noGrp="1"/>
          </p:cNvSpPr>
          <p:nvPr>
            <p:ph type="body" idx="1"/>
          </p:nvPr>
        </p:nvSpPr>
        <p:spPr>
          <a:xfrm>
            <a:off x="650939" y="221407"/>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Times New Roman"/>
              <a:buNone/>
            </a:pPr>
            <a:r>
              <a:rPr lang="es-ES" sz="2400" noProof="0" dirty="0"/>
              <a:t>España</a:t>
            </a:r>
            <a:r>
              <a:rPr lang="es-ES" noProof="0" dirty="0"/>
              <a:t> </a:t>
            </a:r>
          </a:p>
        </p:txBody>
      </p:sp>
      <p:sp>
        <p:nvSpPr>
          <p:cNvPr id="331" name="Google Shape;331;p2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26</a:t>
            </a:fld>
            <a:endParaRPr lang="es-ES" noProof="0" dirty="0"/>
          </a:p>
        </p:txBody>
      </p:sp>
      <p:sp>
        <p:nvSpPr>
          <p:cNvPr id="332" name="Google Shape;332;p27"/>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
        <p:nvSpPr>
          <p:cNvPr id="333" name="Google Shape;333;p27"/>
          <p:cNvSpPr txBox="1"/>
          <p:nvPr/>
        </p:nvSpPr>
        <p:spPr>
          <a:xfrm>
            <a:off x="5548708" y="6524625"/>
            <a:ext cx="327660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“Energy Balances. UN. 2020”</a:t>
            </a:r>
            <a:endParaRPr lang="es-ES" noProof="0" dirty="0"/>
          </a:p>
        </p:txBody>
      </p:sp>
      <p:pic>
        <p:nvPicPr>
          <p:cNvPr id="334" name="Google Shape;334;p27"/>
          <p:cNvPicPr preferRelativeResize="0"/>
          <p:nvPr/>
        </p:nvPicPr>
        <p:blipFill rotWithShape="1">
          <a:blip r:embed="rId3">
            <a:alphaModFix/>
          </a:blip>
          <a:srcRect t="2806"/>
          <a:stretch/>
        </p:blipFill>
        <p:spPr>
          <a:xfrm>
            <a:off x="742284" y="666750"/>
            <a:ext cx="4693316" cy="6191250"/>
          </a:xfrm>
          <a:prstGeom prst="rect">
            <a:avLst/>
          </a:prstGeom>
          <a:noFill/>
          <a:ln>
            <a:noFill/>
          </a:ln>
        </p:spPr>
      </p:pic>
      <p:graphicFrame>
        <p:nvGraphicFramePr>
          <p:cNvPr id="335" name="Google Shape;335;p27"/>
          <p:cNvGraphicFramePr/>
          <p:nvPr>
            <p:extLst>
              <p:ext uri="{D42A27DB-BD31-4B8C-83A1-F6EECF244321}">
                <p14:modId xmlns:p14="http://schemas.microsoft.com/office/powerpoint/2010/main" val="4278709912"/>
              </p:ext>
            </p:extLst>
          </p:nvPr>
        </p:nvGraphicFramePr>
        <p:xfrm>
          <a:off x="5438252" y="684233"/>
          <a:ext cx="3387059" cy="2415988"/>
        </p:xfrm>
        <a:graphic>
          <a:graphicData uri="http://schemas.openxmlformats.org/drawingml/2006/chart">
            <c:chart xmlns:c="http://schemas.openxmlformats.org/drawingml/2006/chart" xmlns:r="http://schemas.openxmlformats.org/officeDocument/2006/relationships" r:id="rId4"/>
          </a:graphicData>
        </a:graphic>
      </p:graphicFrame>
      <p:sp>
        <p:nvSpPr>
          <p:cNvPr id="9" name="Google Shape;467;p41">
            <a:extLst>
              <a:ext uri="{FF2B5EF4-FFF2-40B4-BE49-F238E27FC236}">
                <a16:creationId xmlns:a16="http://schemas.microsoft.com/office/drawing/2014/main" id="{FA58DE63-5C34-45FC-9858-34EB2E92CD65}"/>
              </a:ext>
            </a:extLst>
          </p:cNvPr>
          <p:cNvSpPr/>
          <p:nvPr/>
        </p:nvSpPr>
        <p:spPr>
          <a:xfrm>
            <a:off x="4887369" y="336978"/>
            <a:ext cx="4330994"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noProof="0" dirty="0" err="1">
                <a:solidFill>
                  <a:schemeClr val="dk1"/>
                </a:solidFill>
                <a:latin typeface="Times New Roman"/>
                <a:ea typeface="Times New Roman"/>
                <a:cs typeface="Times New Roman"/>
                <a:sym typeface="Times New Roman"/>
              </a:rPr>
              <a:t>Prod</a:t>
            </a:r>
            <a:r>
              <a:rPr lang="es-ES" sz="1600" noProof="0" dirty="0">
                <a:solidFill>
                  <a:schemeClr val="dk1"/>
                </a:solidFill>
                <a:latin typeface="Times New Roman"/>
                <a:ea typeface="Times New Roman"/>
                <a:cs typeface="Times New Roman"/>
                <a:sym typeface="Times New Roman"/>
              </a:rPr>
              <a:t>. + </a:t>
            </a:r>
            <a:r>
              <a:rPr lang="es-ES" sz="1600" noProof="0" dirty="0" err="1">
                <a:solidFill>
                  <a:schemeClr val="dk1"/>
                </a:solidFill>
                <a:latin typeface="Times New Roman"/>
                <a:ea typeface="Times New Roman"/>
                <a:cs typeface="Times New Roman"/>
                <a:sym typeface="Times New Roman"/>
              </a:rPr>
              <a:t>Impo</a:t>
            </a:r>
            <a:r>
              <a:rPr lang="es-ES" sz="1600" noProof="0" dirty="0">
                <a:solidFill>
                  <a:schemeClr val="dk1"/>
                </a:solidFill>
                <a:latin typeface="Times New Roman"/>
                <a:ea typeface="Times New Roman"/>
                <a:cs typeface="Times New Roman"/>
                <a:sym typeface="Times New Roman"/>
              </a:rPr>
              <a:t>.+ </a:t>
            </a:r>
            <a:r>
              <a:rPr lang="es-ES" sz="1600" noProof="0" dirty="0" err="1">
                <a:solidFill>
                  <a:schemeClr val="dk1"/>
                </a:solidFill>
                <a:latin typeface="Times New Roman"/>
                <a:ea typeface="Times New Roman"/>
                <a:cs typeface="Times New Roman"/>
                <a:sym typeface="Times New Roman"/>
              </a:rPr>
              <a:t>Exp</a:t>
            </a:r>
            <a:r>
              <a:rPr lang="es-ES" sz="1600" noProof="0" dirty="0">
                <a:solidFill>
                  <a:schemeClr val="dk1"/>
                </a:solidFill>
                <a:latin typeface="Times New Roman"/>
                <a:ea typeface="Times New Roman"/>
                <a:cs typeface="Times New Roman"/>
                <a:sym typeface="Times New Roman"/>
              </a:rPr>
              <a:t>. + </a:t>
            </a:r>
            <a:r>
              <a:rPr lang="es-ES" sz="1600" noProof="0" dirty="0" err="1">
                <a:solidFill>
                  <a:schemeClr val="dk1"/>
                </a:solidFill>
                <a:latin typeface="Times New Roman"/>
                <a:ea typeface="Times New Roman"/>
                <a:cs typeface="Times New Roman"/>
                <a:sym typeface="Times New Roman"/>
              </a:rPr>
              <a:t>Búnkers</a:t>
            </a:r>
            <a:r>
              <a:rPr lang="es-ES" sz="1600" noProof="0" dirty="0">
                <a:solidFill>
                  <a:schemeClr val="dk1"/>
                </a:solidFill>
                <a:latin typeface="Times New Roman"/>
                <a:ea typeface="Times New Roman"/>
                <a:cs typeface="Times New Roman"/>
                <a:sym typeface="Times New Roman"/>
              </a:rPr>
              <a:t> + Stock = 7.57 EJ</a:t>
            </a:r>
            <a:endParaRPr lang="es-ES" sz="1600" noProof="0" dirty="0"/>
          </a:p>
        </p:txBody>
      </p:sp>
      <p:sp>
        <p:nvSpPr>
          <p:cNvPr id="12" name="Rectángulo 11">
            <a:extLst>
              <a:ext uri="{FF2B5EF4-FFF2-40B4-BE49-F238E27FC236}">
                <a16:creationId xmlns:a16="http://schemas.microsoft.com/office/drawing/2014/main" id="{ADEA98FE-4CF8-485C-B083-CB429236BD27}"/>
              </a:ext>
            </a:extLst>
          </p:cNvPr>
          <p:cNvSpPr/>
          <p:nvPr/>
        </p:nvSpPr>
        <p:spPr>
          <a:xfrm>
            <a:off x="650940" y="1065013"/>
            <a:ext cx="1078333" cy="777492"/>
          </a:xfrm>
          <a:prstGeom prst="rect">
            <a:avLst/>
          </a:prstGeom>
          <a:solidFill>
            <a:srgbClr val="C0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graphicFrame>
        <p:nvGraphicFramePr>
          <p:cNvPr id="15" name="Google Shape;335;p27">
            <a:extLst>
              <a:ext uri="{FF2B5EF4-FFF2-40B4-BE49-F238E27FC236}">
                <a16:creationId xmlns:a16="http://schemas.microsoft.com/office/drawing/2014/main" id="{282FF74E-8F83-4EBD-BD18-8F5D5AB57361}"/>
              </a:ext>
            </a:extLst>
          </p:cNvPr>
          <p:cNvGraphicFramePr/>
          <p:nvPr>
            <p:extLst>
              <p:ext uri="{D42A27DB-BD31-4B8C-83A1-F6EECF244321}">
                <p14:modId xmlns:p14="http://schemas.microsoft.com/office/powerpoint/2010/main" val="4266762603"/>
              </p:ext>
            </p:extLst>
          </p:nvPr>
        </p:nvGraphicFramePr>
        <p:xfrm>
          <a:off x="5439600" y="3541845"/>
          <a:ext cx="3387059" cy="2415988"/>
        </p:xfrm>
        <a:graphic>
          <a:graphicData uri="http://schemas.openxmlformats.org/drawingml/2006/chart">
            <c:chart xmlns:c="http://schemas.openxmlformats.org/drawingml/2006/chart" xmlns:r="http://schemas.openxmlformats.org/officeDocument/2006/relationships" r:id="rId5"/>
          </a:graphicData>
        </a:graphic>
      </p:graphicFrame>
      <p:sp>
        <p:nvSpPr>
          <p:cNvPr id="16" name="Google Shape;467;p41">
            <a:extLst>
              <a:ext uri="{FF2B5EF4-FFF2-40B4-BE49-F238E27FC236}">
                <a16:creationId xmlns:a16="http://schemas.microsoft.com/office/drawing/2014/main" id="{06153A2B-20BC-46F6-830F-7E57BFED7D04}"/>
              </a:ext>
            </a:extLst>
          </p:cNvPr>
          <p:cNvSpPr/>
          <p:nvPr/>
        </p:nvSpPr>
        <p:spPr>
          <a:xfrm>
            <a:off x="5853630" y="3146898"/>
            <a:ext cx="2770059" cy="338514"/>
          </a:xfrm>
          <a:prstGeom prst="rect">
            <a:avLst/>
          </a:prstGeom>
          <a:noFill/>
          <a:ln>
            <a:noFill/>
          </a:ln>
        </p:spPr>
        <p:txBody>
          <a:bodyPr spcFirstLastPara="1" wrap="square" lIns="91425" tIns="45700" rIns="91425" bIns="45700" anchor="t" anchorCtr="0">
            <a:spAutoFit/>
          </a:bodyPr>
          <a:lstStyle/>
          <a:p>
            <a:pPr lvl="0"/>
            <a:r>
              <a:rPr lang="es-ES" sz="1600" noProof="0" dirty="0" err="1">
                <a:solidFill>
                  <a:schemeClr val="dk1"/>
                </a:solidFill>
                <a:latin typeface="Times New Roman"/>
                <a:ea typeface="Times New Roman"/>
                <a:cs typeface="Times New Roman"/>
                <a:sym typeface="Times New Roman"/>
              </a:rPr>
              <a:t>Prod</a:t>
            </a:r>
            <a:r>
              <a:rPr lang="es-ES" sz="1600" noProof="0" dirty="0">
                <a:solidFill>
                  <a:schemeClr val="dk1"/>
                </a:solidFill>
                <a:latin typeface="Times New Roman"/>
                <a:ea typeface="Times New Roman"/>
                <a:cs typeface="Times New Roman"/>
                <a:sym typeface="Times New Roman"/>
              </a:rPr>
              <a:t>.+</a:t>
            </a:r>
            <a:r>
              <a:rPr lang="es-ES" sz="1600" noProof="0" dirty="0" err="1">
                <a:solidFill>
                  <a:schemeClr val="dk1"/>
                </a:solidFill>
                <a:latin typeface="Times New Roman"/>
                <a:ea typeface="Times New Roman"/>
                <a:cs typeface="Times New Roman"/>
                <a:sym typeface="Times New Roman"/>
              </a:rPr>
              <a:t>Impor</a:t>
            </a:r>
            <a:r>
              <a:rPr lang="es-ES" sz="1600" noProof="0" dirty="0">
                <a:solidFill>
                  <a:schemeClr val="dk1"/>
                </a:solidFill>
                <a:latin typeface="Times New Roman"/>
                <a:ea typeface="Times New Roman"/>
                <a:cs typeface="Times New Roman"/>
                <a:sym typeface="Times New Roman"/>
              </a:rPr>
              <a:t>.+Stock = 6.05 EJ</a:t>
            </a:r>
            <a:endParaRPr lang="es-ES" sz="1600"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7"/>
          <p:cNvSpPr txBox="1">
            <a:spLocks noGrp="1"/>
          </p:cNvSpPr>
          <p:nvPr>
            <p:ph type="body" idx="1"/>
          </p:nvPr>
        </p:nvSpPr>
        <p:spPr>
          <a:xfrm>
            <a:off x="650939" y="221407"/>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Times New Roman"/>
              <a:buNone/>
            </a:pPr>
            <a:r>
              <a:rPr lang="es-ES" sz="2400" noProof="0" dirty="0"/>
              <a:t>España</a:t>
            </a:r>
            <a:r>
              <a:rPr lang="es-ES" noProof="0" dirty="0"/>
              <a:t> </a:t>
            </a:r>
          </a:p>
        </p:txBody>
      </p:sp>
      <p:sp>
        <p:nvSpPr>
          <p:cNvPr id="331" name="Google Shape;331;p2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27</a:t>
            </a:fld>
            <a:endParaRPr lang="es-ES" noProof="0" dirty="0"/>
          </a:p>
        </p:txBody>
      </p:sp>
      <p:sp>
        <p:nvSpPr>
          <p:cNvPr id="332" name="Google Shape;332;p27"/>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Balance energético</a:t>
            </a:r>
          </a:p>
        </p:txBody>
      </p:sp>
      <p:sp>
        <p:nvSpPr>
          <p:cNvPr id="333" name="Google Shape;333;p27"/>
          <p:cNvSpPr txBox="1"/>
          <p:nvPr/>
        </p:nvSpPr>
        <p:spPr>
          <a:xfrm>
            <a:off x="5548708" y="6524625"/>
            <a:ext cx="327660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“Energy Balances. UN. 2020”</a:t>
            </a:r>
            <a:endParaRPr lang="es-ES" noProof="0" dirty="0"/>
          </a:p>
        </p:txBody>
      </p:sp>
      <p:pic>
        <p:nvPicPr>
          <p:cNvPr id="334" name="Google Shape;334;p27"/>
          <p:cNvPicPr preferRelativeResize="0"/>
          <p:nvPr/>
        </p:nvPicPr>
        <p:blipFill rotWithShape="1">
          <a:blip r:embed="rId3">
            <a:alphaModFix/>
          </a:blip>
          <a:srcRect t="2806"/>
          <a:stretch/>
        </p:blipFill>
        <p:spPr>
          <a:xfrm>
            <a:off x="742284" y="666750"/>
            <a:ext cx="4693316" cy="6191250"/>
          </a:xfrm>
          <a:prstGeom prst="rect">
            <a:avLst/>
          </a:prstGeom>
          <a:noFill/>
          <a:ln>
            <a:noFill/>
          </a:ln>
        </p:spPr>
      </p:pic>
      <p:graphicFrame>
        <p:nvGraphicFramePr>
          <p:cNvPr id="8" name="Google Shape;346;p28">
            <a:extLst>
              <a:ext uri="{FF2B5EF4-FFF2-40B4-BE49-F238E27FC236}">
                <a16:creationId xmlns:a16="http://schemas.microsoft.com/office/drawing/2014/main" id="{28B6DDF5-9542-4D63-8BE3-7984440E7045}"/>
              </a:ext>
            </a:extLst>
          </p:cNvPr>
          <p:cNvGraphicFramePr/>
          <p:nvPr>
            <p:extLst>
              <p:ext uri="{D42A27DB-BD31-4B8C-83A1-F6EECF244321}">
                <p14:modId xmlns:p14="http://schemas.microsoft.com/office/powerpoint/2010/main" val="3222005861"/>
              </p:ext>
            </p:extLst>
          </p:nvPr>
        </p:nvGraphicFramePr>
        <p:xfrm>
          <a:off x="5439600" y="3448050"/>
          <a:ext cx="33876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9" name="Google Shape;467;p41">
            <a:extLst>
              <a:ext uri="{FF2B5EF4-FFF2-40B4-BE49-F238E27FC236}">
                <a16:creationId xmlns:a16="http://schemas.microsoft.com/office/drawing/2014/main" id="{5142977F-BA10-4A4B-B8BC-0E1A4B22E844}"/>
              </a:ext>
            </a:extLst>
          </p:cNvPr>
          <p:cNvSpPr/>
          <p:nvPr/>
        </p:nvSpPr>
        <p:spPr>
          <a:xfrm>
            <a:off x="6131684" y="3064780"/>
            <a:ext cx="2695681"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Consumo total = 3.25 EJ</a:t>
            </a:r>
            <a:endParaRPr lang="es-ES" noProof="0" dirty="0"/>
          </a:p>
        </p:txBody>
      </p:sp>
      <p:sp>
        <p:nvSpPr>
          <p:cNvPr id="11" name="Rectángulo 10">
            <a:extLst>
              <a:ext uri="{FF2B5EF4-FFF2-40B4-BE49-F238E27FC236}">
                <a16:creationId xmlns:a16="http://schemas.microsoft.com/office/drawing/2014/main" id="{4D807C33-EDB7-4FAA-8CEB-94B3F56A2183}"/>
              </a:ext>
            </a:extLst>
          </p:cNvPr>
          <p:cNvSpPr/>
          <p:nvPr/>
        </p:nvSpPr>
        <p:spPr>
          <a:xfrm>
            <a:off x="650939" y="3593555"/>
            <a:ext cx="1078334" cy="3238847"/>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13" name="Rectángulo 12">
            <a:extLst>
              <a:ext uri="{FF2B5EF4-FFF2-40B4-BE49-F238E27FC236}">
                <a16:creationId xmlns:a16="http://schemas.microsoft.com/office/drawing/2014/main" id="{9F8804AC-BFC6-44A4-BABD-C77949F0E0A3}"/>
              </a:ext>
            </a:extLst>
          </p:cNvPr>
          <p:cNvSpPr/>
          <p:nvPr/>
        </p:nvSpPr>
        <p:spPr>
          <a:xfrm>
            <a:off x="650940" y="1065013"/>
            <a:ext cx="1078333" cy="777492"/>
          </a:xfrm>
          <a:prstGeom prst="rect">
            <a:avLst/>
          </a:prstGeom>
          <a:solidFill>
            <a:srgbClr val="C0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graphicFrame>
        <p:nvGraphicFramePr>
          <p:cNvPr id="14" name="Google Shape;335;p27">
            <a:extLst>
              <a:ext uri="{FF2B5EF4-FFF2-40B4-BE49-F238E27FC236}">
                <a16:creationId xmlns:a16="http://schemas.microsoft.com/office/drawing/2014/main" id="{18B146AF-0A21-4000-848D-29A7165AB02B}"/>
              </a:ext>
            </a:extLst>
          </p:cNvPr>
          <p:cNvGraphicFramePr/>
          <p:nvPr>
            <p:extLst>
              <p:ext uri="{D42A27DB-BD31-4B8C-83A1-F6EECF244321}">
                <p14:modId xmlns:p14="http://schemas.microsoft.com/office/powerpoint/2010/main" val="229554643"/>
              </p:ext>
            </p:extLst>
          </p:nvPr>
        </p:nvGraphicFramePr>
        <p:xfrm>
          <a:off x="5439600" y="666750"/>
          <a:ext cx="3387059" cy="2415988"/>
        </p:xfrm>
        <a:graphic>
          <a:graphicData uri="http://schemas.openxmlformats.org/drawingml/2006/chart">
            <c:chart xmlns:c="http://schemas.openxmlformats.org/drawingml/2006/chart" xmlns:r="http://schemas.openxmlformats.org/officeDocument/2006/relationships" r:id="rId5"/>
          </a:graphicData>
        </a:graphic>
      </p:graphicFrame>
      <p:sp>
        <p:nvSpPr>
          <p:cNvPr id="15" name="Google Shape;467;p41">
            <a:extLst>
              <a:ext uri="{FF2B5EF4-FFF2-40B4-BE49-F238E27FC236}">
                <a16:creationId xmlns:a16="http://schemas.microsoft.com/office/drawing/2014/main" id="{77F5FD0B-63B0-4FA2-AA7B-DDE55EAE1C23}"/>
              </a:ext>
            </a:extLst>
          </p:cNvPr>
          <p:cNvSpPr/>
          <p:nvPr/>
        </p:nvSpPr>
        <p:spPr>
          <a:xfrm>
            <a:off x="6414678" y="315417"/>
            <a:ext cx="1663201"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TES = 4.53 EJ</a:t>
            </a:r>
            <a:endParaRPr lang="es-ES" noProof="0" dirty="0"/>
          </a:p>
        </p:txBody>
      </p:sp>
    </p:spTree>
    <p:extLst>
      <p:ext uri="{BB962C8B-B14F-4D97-AF65-F5344CB8AC3E}">
        <p14:creationId xmlns:p14="http://schemas.microsoft.com/office/powerpoint/2010/main" val="10531557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10" name="Google Shape;131;p13">
            <a:extLst>
              <a:ext uri="{FF2B5EF4-FFF2-40B4-BE49-F238E27FC236}">
                <a16:creationId xmlns:a16="http://schemas.microsoft.com/office/drawing/2014/main" id="{856DB6E7-E278-4C0D-9422-9BA384E246B9}"/>
              </a:ext>
            </a:extLst>
          </p:cNvPr>
          <p:cNvSpPr txBox="1">
            <a:spLocks noGrp="1"/>
          </p:cNvSpPr>
          <p:nvPr>
            <p:ph type="body" idx="1"/>
          </p:nvPr>
        </p:nvSpPr>
        <p:spPr>
          <a:xfrm>
            <a:off x="914400" y="383297"/>
            <a:ext cx="8229600" cy="64633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Times New Roman"/>
              <a:buNone/>
            </a:pPr>
            <a:r>
              <a:rPr lang="es-ES" sz="2000" u="sng" noProof="0" dirty="0"/>
              <a:t>Diagrama de Sankey</a:t>
            </a:r>
          </a:p>
        </p:txBody>
      </p:sp>
      <p:sp>
        <p:nvSpPr>
          <p:cNvPr id="358" name="Google Shape;358;p30"/>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28</a:t>
            </a:fld>
            <a:endParaRPr lang="es-ES" noProof="0" dirty="0"/>
          </a:p>
        </p:txBody>
      </p:sp>
      <p:sp>
        <p:nvSpPr>
          <p:cNvPr id="3" name="Marcador de texto 2">
            <a:extLst>
              <a:ext uri="{FF2B5EF4-FFF2-40B4-BE49-F238E27FC236}">
                <a16:creationId xmlns:a16="http://schemas.microsoft.com/office/drawing/2014/main" id="{B0BEAD40-2BEE-4FD3-903E-E7662116BF30}"/>
              </a:ext>
            </a:extLst>
          </p:cNvPr>
          <p:cNvSpPr>
            <a:spLocks noGrp="1"/>
          </p:cNvSpPr>
          <p:nvPr>
            <p:ph type="body" idx="2"/>
          </p:nvPr>
        </p:nvSpPr>
        <p:spPr>
          <a:xfrm>
            <a:off x="971550" y="-29736"/>
            <a:ext cx="7704138" cy="333375"/>
          </a:xfrm>
        </p:spPr>
        <p:txBody>
          <a:bodyPr/>
          <a:lstStyle/>
          <a:p>
            <a:r>
              <a:rPr lang="es-ES" noProof="0" dirty="0"/>
              <a:t>Balance energético</a:t>
            </a:r>
          </a:p>
        </p:txBody>
      </p:sp>
      <p:sp>
        <p:nvSpPr>
          <p:cNvPr id="360" name="Google Shape;360;p30"/>
          <p:cNvSpPr txBox="1"/>
          <p:nvPr/>
        </p:nvSpPr>
        <p:spPr>
          <a:xfrm>
            <a:off x="908050" y="745780"/>
            <a:ext cx="7767638"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Un diagrama de Sankey es una ilustración gráfica de flujos, donde se pueden combinar, dividir y rastrear a través de una serie de eventos o etapas. El ancho de cada corriente representa la cantidad en el flujo. </a:t>
            </a:r>
            <a:endParaRPr lang="es-ES" noProof="0" dirty="0"/>
          </a:p>
        </p:txBody>
      </p:sp>
      <p:pic>
        <p:nvPicPr>
          <p:cNvPr id="361" name="Google Shape;361;p30"/>
          <p:cNvPicPr preferRelativeResize="0"/>
          <p:nvPr/>
        </p:nvPicPr>
        <p:blipFill rotWithShape="1">
          <a:blip r:embed="rId3">
            <a:alphaModFix/>
          </a:blip>
          <a:srcRect/>
          <a:stretch/>
        </p:blipFill>
        <p:spPr>
          <a:xfrm>
            <a:off x="2360175" y="1709738"/>
            <a:ext cx="5328405" cy="3540442"/>
          </a:xfrm>
          <a:prstGeom prst="rect">
            <a:avLst/>
          </a:prstGeom>
          <a:noFill/>
          <a:ln>
            <a:noFill/>
          </a:ln>
        </p:spPr>
      </p:pic>
      <p:sp>
        <p:nvSpPr>
          <p:cNvPr id="362" name="Google Shape;362;p30"/>
          <p:cNvSpPr txBox="1"/>
          <p:nvPr/>
        </p:nvSpPr>
        <p:spPr>
          <a:xfrm>
            <a:off x="939219" y="5453651"/>
            <a:ext cx="7768800"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Se utilizan habitualmente para visualizar los flujos de energía entre procesos. Llevan el nombre del irlandés Matthew H. P. R. Sankey, quien utilizó este tipo de diagrama en una publicación sobre la eficiencia energética de una máquina de vapor en 1898.</a:t>
            </a:r>
            <a:endParaRPr lang="es-ES"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3"/>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29</a:t>
            </a:fld>
            <a:endParaRPr lang="es-ES" noProof="0" dirty="0"/>
          </a:p>
        </p:txBody>
      </p:sp>
      <p:sp>
        <p:nvSpPr>
          <p:cNvPr id="387" name="Google Shape;387;p33"/>
          <p:cNvSpPr txBox="1"/>
          <p:nvPr/>
        </p:nvSpPr>
        <p:spPr>
          <a:xfrm>
            <a:off x="886962" y="463460"/>
            <a:ext cx="7768800"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Diagrama de Sankey aplicado al balance de energía en España</a:t>
            </a:r>
            <a:endParaRPr lang="es-ES" noProof="0" dirty="0"/>
          </a:p>
        </p:txBody>
      </p:sp>
      <p:sp>
        <p:nvSpPr>
          <p:cNvPr id="388" name="Google Shape;388;p33"/>
          <p:cNvSpPr txBox="1"/>
          <p:nvPr/>
        </p:nvSpPr>
        <p:spPr>
          <a:xfrm>
            <a:off x="1021687" y="6042843"/>
            <a:ext cx="749935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u="sng" noProof="0" dirty="0">
                <a:solidFill>
                  <a:schemeClr val="dk1"/>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https://ec.europa.eu/eurostat/cache/sankey/energy/sankey.html?geos=ES&amp;year=2021&amp;unit=KTOE&amp;fuels=TOTAL&amp;highlight=_&amp;nodeDisagg=0101000000000&amp;flowDisagg=false&amp;translateX=0&amp;translateY=0&amp;scale=1&amp;language=EN</a:t>
            </a:r>
            <a:endParaRPr lang="es-ES" sz="1200" noProof="0" dirty="0">
              <a:solidFill>
                <a:schemeClr val="dk1"/>
              </a:solidFill>
              <a:latin typeface="Times New Roman"/>
              <a:ea typeface="Times New Roman"/>
              <a:cs typeface="Times New Roman"/>
              <a:sym typeface="Times New Roman"/>
            </a:endParaRPr>
          </a:p>
        </p:txBody>
      </p:sp>
      <p:pic>
        <p:nvPicPr>
          <p:cNvPr id="389" name="Google Shape;389;p33" descr="Imagen que contiene Diagrama"/>
          <p:cNvPicPr preferRelativeResize="0"/>
          <p:nvPr/>
        </p:nvPicPr>
        <p:blipFill rotWithShape="1">
          <a:blip r:embed="rId4">
            <a:alphaModFix/>
          </a:blip>
          <a:srcRect/>
          <a:stretch/>
        </p:blipFill>
        <p:spPr>
          <a:xfrm>
            <a:off x="687325" y="1198638"/>
            <a:ext cx="8456675" cy="4686697"/>
          </a:xfrm>
          <a:prstGeom prst="rect">
            <a:avLst/>
          </a:prstGeom>
          <a:noFill/>
          <a:ln>
            <a:noFill/>
          </a:ln>
        </p:spPr>
      </p:pic>
      <p:sp>
        <p:nvSpPr>
          <p:cNvPr id="5" name="CuadroTexto 4">
            <a:extLst>
              <a:ext uri="{FF2B5EF4-FFF2-40B4-BE49-F238E27FC236}">
                <a16:creationId xmlns:a16="http://schemas.microsoft.com/office/drawing/2014/main" id="{60286550-BFEE-B812-218A-F439B8EEDCCE}"/>
              </a:ext>
            </a:extLst>
          </p:cNvPr>
          <p:cNvSpPr txBox="1"/>
          <p:nvPr/>
        </p:nvSpPr>
        <p:spPr>
          <a:xfrm>
            <a:off x="2472353" y="-74788"/>
            <a:ext cx="4598018" cy="461665"/>
          </a:xfrm>
          <a:prstGeom prst="rect">
            <a:avLst/>
          </a:prstGeom>
          <a:noFill/>
        </p:spPr>
        <p:txBody>
          <a:bodyPr wrap="square">
            <a:spAutoFit/>
          </a:bodyPr>
          <a:lstStyle/>
          <a:p>
            <a:pPr marL="0" lvl="0" indent="0" algn="ctr" rtl="0">
              <a:spcBef>
                <a:spcPts val="0"/>
              </a:spcBef>
              <a:spcAft>
                <a:spcPts val="0"/>
              </a:spcAft>
              <a:buClr>
                <a:srgbClr val="000074"/>
              </a:buClr>
              <a:buSzPts val="2400"/>
              <a:buFont typeface="Arial"/>
              <a:buNone/>
            </a:pPr>
            <a:r>
              <a:rPr lang="es-ES" sz="2400" dirty="0">
                <a:solidFill>
                  <a:srgbClr val="000074"/>
                </a:solidFill>
                <a:latin typeface="Arial"/>
                <a:cs typeface="Arial"/>
                <a:sym typeface="Arial"/>
              </a:rPr>
              <a:t>Diagrama</a:t>
            </a:r>
            <a:r>
              <a:rPr lang="es-ES" sz="2400" dirty="0">
                <a:solidFill>
                  <a:srgbClr val="000074"/>
                </a:solidFill>
                <a:latin typeface="Arial"/>
                <a:cs typeface="Arial"/>
              </a:rPr>
              <a:t> de Sankey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4"/>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30</a:t>
            </a:fld>
            <a:endParaRPr lang="es-ES" noProof="0" dirty="0"/>
          </a:p>
        </p:txBody>
      </p:sp>
      <p:sp>
        <p:nvSpPr>
          <p:cNvPr id="396" name="Google Shape;396;p34"/>
          <p:cNvSpPr txBox="1"/>
          <p:nvPr/>
        </p:nvSpPr>
        <p:spPr>
          <a:xfrm>
            <a:off x="824400" y="752976"/>
            <a:ext cx="7768800"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Diagrama de Sankey aplicado al balance de energía en España</a:t>
            </a:r>
            <a:endParaRPr lang="es-ES" noProof="0" dirty="0"/>
          </a:p>
        </p:txBody>
      </p:sp>
      <p:graphicFrame>
        <p:nvGraphicFramePr>
          <p:cNvPr id="397" name="Google Shape;397;p34"/>
          <p:cNvGraphicFramePr/>
          <p:nvPr>
            <p:extLst>
              <p:ext uri="{D42A27DB-BD31-4B8C-83A1-F6EECF244321}">
                <p14:modId xmlns:p14="http://schemas.microsoft.com/office/powerpoint/2010/main" val="2297237250"/>
              </p:ext>
            </p:extLst>
          </p:nvPr>
        </p:nvGraphicFramePr>
        <p:xfrm>
          <a:off x="4928088" y="2164976"/>
          <a:ext cx="37476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99" name="Google Shape;399;p34"/>
          <p:cNvSpPr txBox="1"/>
          <p:nvPr/>
        </p:nvSpPr>
        <p:spPr>
          <a:xfrm>
            <a:off x="1789102" y="5274275"/>
            <a:ext cx="60690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Datos obtenidos a partir del diagrama Sankey de </a:t>
            </a:r>
            <a:r>
              <a:rPr lang="es-ES" sz="1400" i="1" noProof="0" dirty="0" err="1">
                <a:solidFill>
                  <a:schemeClr val="dk1"/>
                </a:solidFill>
                <a:latin typeface="Times New Roman"/>
                <a:ea typeface="Times New Roman"/>
                <a:cs typeface="Times New Roman"/>
                <a:sym typeface="Times New Roman"/>
              </a:rPr>
              <a:t>EuroStats</a:t>
            </a:r>
            <a:r>
              <a:rPr lang="es-ES" sz="1400" i="1" noProof="0" dirty="0">
                <a:solidFill>
                  <a:schemeClr val="dk1"/>
                </a:solidFill>
                <a:latin typeface="Times New Roman"/>
                <a:ea typeface="Times New Roman"/>
                <a:cs typeface="Times New Roman"/>
                <a:sym typeface="Times New Roman"/>
              </a:rPr>
              <a:t> para España en 2021</a:t>
            </a:r>
            <a:endParaRPr lang="es-ES" noProof="0" dirty="0"/>
          </a:p>
        </p:txBody>
      </p:sp>
      <p:graphicFrame>
        <p:nvGraphicFramePr>
          <p:cNvPr id="8" name="Google Shape;398;p34">
            <a:extLst>
              <a:ext uri="{FF2B5EF4-FFF2-40B4-BE49-F238E27FC236}">
                <a16:creationId xmlns:a16="http://schemas.microsoft.com/office/drawing/2014/main" id="{2CCAFD18-B920-4D3D-9882-1E618F71CA40}"/>
              </a:ext>
            </a:extLst>
          </p:cNvPr>
          <p:cNvGraphicFramePr/>
          <p:nvPr>
            <p:extLst>
              <p:ext uri="{D42A27DB-BD31-4B8C-83A1-F6EECF244321}">
                <p14:modId xmlns:p14="http://schemas.microsoft.com/office/powerpoint/2010/main" val="740108484"/>
              </p:ext>
            </p:extLst>
          </p:nvPr>
        </p:nvGraphicFramePr>
        <p:xfrm>
          <a:off x="824400" y="2164976"/>
          <a:ext cx="37476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5" name="CuadroTexto 4">
            <a:extLst>
              <a:ext uri="{FF2B5EF4-FFF2-40B4-BE49-F238E27FC236}">
                <a16:creationId xmlns:a16="http://schemas.microsoft.com/office/drawing/2014/main" id="{C50DCB78-9EB9-4EC2-90FB-B3463D6F401B}"/>
              </a:ext>
            </a:extLst>
          </p:cNvPr>
          <p:cNvSpPr txBox="1"/>
          <p:nvPr/>
        </p:nvSpPr>
        <p:spPr>
          <a:xfrm>
            <a:off x="2472353" y="-74788"/>
            <a:ext cx="4598018" cy="461665"/>
          </a:xfrm>
          <a:prstGeom prst="rect">
            <a:avLst/>
          </a:prstGeom>
          <a:noFill/>
        </p:spPr>
        <p:txBody>
          <a:bodyPr wrap="square">
            <a:spAutoFit/>
          </a:bodyPr>
          <a:lstStyle/>
          <a:p>
            <a:pPr marL="0" lvl="0" indent="0" algn="ctr" rtl="0">
              <a:spcBef>
                <a:spcPts val="0"/>
              </a:spcBef>
              <a:spcAft>
                <a:spcPts val="0"/>
              </a:spcAft>
              <a:buClr>
                <a:srgbClr val="000074"/>
              </a:buClr>
              <a:buSzPts val="2400"/>
              <a:buFont typeface="Arial"/>
              <a:buNone/>
            </a:pPr>
            <a:r>
              <a:rPr lang="es-ES" sz="2400" dirty="0">
                <a:solidFill>
                  <a:srgbClr val="000074"/>
                </a:solidFill>
                <a:latin typeface="Arial"/>
                <a:cs typeface="Arial"/>
                <a:sym typeface="Arial"/>
              </a:rPr>
              <a:t>Diagrama</a:t>
            </a:r>
            <a:r>
              <a:rPr lang="es-ES" sz="2400" dirty="0">
                <a:solidFill>
                  <a:srgbClr val="000074"/>
                </a:solidFill>
                <a:latin typeface="Arial"/>
                <a:cs typeface="Arial"/>
              </a:rPr>
              <a:t> de Sankey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5"/>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3200"/>
              <a:buFont typeface="Times New Roman"/>
              <a:buNone/>
            </a:pPr>
            <a:r>
              <a:rPr lang="es-ES" noProof="0" dirty="0"/>
              <a:t>Conceptos y definiciones</a:t>
            </a:r>
          </a:p>
          <a:p>
            <a:pPr marL="0" lvl="0" indent="0" algn="just" rtl="0">
              <a:lnSpc>
                <a:spcPct val="150000"/>
              </a:lnSpc>
              <a:spcBef>
                <a:spcPts val="600"/>
              </a:spcBef>
              <a:spcAft>
                <a:spcPts val="0"/>
              </a:spcAft>
              <a:buClr>
                <a:schemeClr val="dk1"/>
              </a:buClr>
              <a:buSzPts val="3200"/>
              <a:buFont typeface="Times New Roman"/>
              <a:buNone/>
            </a:pPr>
            <a:r>
              <a:rPr lang="es-ES" noProof="0" dirty="0"/>
              <a:t>Balance energético</a:t>
            </a:r>
          </a:p>
          <a:p>
            <a:pPr marL="0" lvl="0" indent="0" algn="just" rtl="0">
              <a:lnSpc>
                <a:spcPct val="150000"/>
              </a:lnSpc>
              <a:spcBef>
                <a:spcPts val="600"/>
              </a:spcBef>
              <a:spcAft>
                <a:spcPts val="0"/>
              </a:spcAft>
              <a:buClr>
                <a:schemeClr val="dk1"/>
              </a:buClr>
              <a:buSzPts val="3200"/>
              <a:buFont typeface="Times New Roman"/>
              <a:buNone/>
            </a:pPr>
            <a:r>
              <a:rPr lang="es-ES" b="1" noProof="0" dirty="0"/>
              <a:t>Uso de la energía</a:t>
            </a:r>
            <a:endParaRPr lang="es-ES" noProof="0" dirty="0"/>
          </a:p>
          <a:p>
            <a:pPr marL="0" lvl="0" indent="0" algn="just" rtl="0">
              <a:lnSpc>
                <a:spcPct val="150000"/>
              </a:lnSpc>
              <a:spcBef>
                <a:spcPts val="600"/>
              </a:spcBef>
              <a:spcAft>
                <a:spcPts val="0"/>
              </a:spcAft>
              <a:buClr>
                <a:schemeClr val="dk1"/>
              </a:buClr>
              <a:buSzPts val="3200"/>
              <a:buFont typeface="Times New Roman"/>
              <a:buNone/>
            </a:pPr>
            <a:r>
              <a:rPr lang="es-ES" noProof="0" dirty="0"/>
              <a:t>Emisiones de GEI</a:t>
            </a:r>
            <a:endParaRPr lang="es-ES" baseline="-25000" noProof="0" dirty="0"/>
          </a:p>
          <a:p>
            <a:pPr marL="0" lvl="0" indent="0" algn="just" rtl="0">
              <a:lnSpc>
                <a:spcPct val="150000"/>
              </a:lnSpc>
              <a:spcBef>
                <a:spcPts val="600"/>
              </a:spcBef>
              <a:spcAft>
                <a:spcPts val="0"/>
              </a:spcAft>
              <a:buClr>
                <a:schemeClr val="dk1"/>
              </a:buClr>
              <a:buSzPts val="3200"/>
              <a:buFont typeface="Times New Roman"/>
              <a:buNone/>
            </a:pPr>
            <a:r>
              <a:rPr lang="es-ES" noProof="0" dirty="0"/>
              <a:t>Escenarios</a:t>
            </a:r>
          </a:p>
          <a:p>
            <a:pPr marL="0" lvl="0" indent="0" algn="just" rtl="0">
              <a:lnSpc>
                <a:spcPct val="150000"/>
              </a:lnSpc>
              <a:spcBef>
                <a:spcPts val="600"/>
              </a:spcBef>
              <a:spcAft>
                <a:spcPts val="0"/>
              </a:spcAft>
              <a:buClr>
                <a:schemeClr val="dk1"/>
              </a:buClr>
              <a:buSzPts val="3200"/>
              <a:buFont typeface="Times New Roman"/>
              <a:buNone/>
            </a:pPr>
            <a:endParaRPr lang="es-ES" noProof="0" dirty="0"/>
          </a:p>
        </p:txBody>
      </p:sp>
      <p:sp>
        <p:nvSpPr>
          <p:cNvPr id="405" name="Google Shape;405;p35"/>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31</a:t>
            </a:fld>
            <a:endParaRPr lang="es-ES" noProof="0" dirty="0"/>
          </a:p>
        </p:txBody>
      </p:sp>
      <p:sp>
        <p:nvSpPr>
          <p:cNvPr id="406" name="Google Shape;406;p35"/>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Índice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3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32</a:t>
            </a:fld>
            <a:endParaRPr lang="es-ES" noProof="0" dirty="0"/>
          </a:p>
        </p:txBody>
      </p:sp>
      <p:sp>
        <p:nvSpPr>
          <p:cNvPr id="423" name="Google Shape;423;p37"/>
          <p:cNvSpPr txBox="1"/>
          <p:nvPr/>
        </p:nvSpPr>
        <p:spPr>
          <a:xfrm>
            <a:off x="853467" y="470047"/>
            <a:ext cx="70175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ea typeface="Times New Roman"/>
                <a:cs typeface="Times New Roman"/>
                <a:sym typeface="Times New Roman"/>
              </a:rPr>
              <a:t>Energía primaria. Escala mundial </a:t>
            </a:r>
            <a:endParaRPr lang="es-ES" noProof="0" dirty="0"/>
          </a:p>
        </p:txBody>
      </p:sp>
      <p:pic>
        <p:nvPicPr>
          <p:cNvPr id="424" name="Google Shape;424;p37"/>
          <p:cNvPicPr preferRelativeResize="0"/>
          <p:nvPr/>
        </p:nvPicPr>
        <p:blipFill rotWithShape="1">
          <a:blip r:embed="rId3">
            <a:alphaModFix/>
          </a:blip>
          <a:srcRect/>
          <a:stretch/>
        </p:blipFill>
        <p:spPr>
          <a:xfrm>
            <a:off x="853467" y="1157403"/>
            <a:ext cx="3600000" cy="4154295"/>
          </a:xfrm>
          <a:prstGeom prst="rect">
            <a:avLst/>
          </a:prstGeom>
          <a:noFill/>
          <a:ln>
            <a:noFill/>
          </a:ln>
        </p:spPr>
      </p:pic>
      <p:pic>
        <p:nvPicPr>
          <p:cNvPr id="425" name="Google Shape;425;p37"/>
          <p:cNvPicPr preferRelativeResize="0"/>
          <p:nvPr/>
        </p:nvPicPr>
        <p:blipFill rotWithShape="1">
          <a:blip r:embed="rId4">
            <a:alphaModFix/>
          </a:blip>
          <a:srcRect/>
          <a:stretch/>
        </p:blipFill>
        <p:spPr>
          <a:xfrm>
            <a:off x="5075688" y="1131737"/>
            <a:ext cx="3600000" cy="4179961"/>
          </a:xfrm>
          <a:prstGeom prst="rect">
            <a:avLst/>
          </a:prstGeom>
          <a:noFill/>
          <a:ln>
            <a:noFill/>
          </a:ln>
        </p:spPr>
      </p:pic>
      <p:sp>
        <p:nvSpPr>
          <p:cNvPr id="426" name="Google Shape;426;p37"/>
          <p:cNvSpPr txBox="1"/>
          <p:nvPr/>
        </p:nvSpPr>
        <p:spPr>
          <a:xfrm>
            <a:off x="1843059" y="5383500"/>
            <a:ext cx="617412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Gráficos extraídos de “</a:t>
            </a:r>
            <a:r>
              <a:rPr lang="es-ES" sz="1400" i="1" noProof="0" dirty="0" err="1">
                <a:solidFill>
                  <a:schemeClr val="dk1"/>
                </a:solidFill>
                <a:latin typeface="Times New Roman"/>
                <a:ea typeface="Times New Roman"/>
                <a:cs typeface="Times New Roman"/>
                <a:sym typeface="Times New Roman"/>
              </a:rPr>
              <a:t>Statistical</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Review</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of</a:t>
            </a:r>
            <a:r>
              <a:rPr lang="es-ES" sz="1400" i="1" noProof="0" dirty="0">
                <a:solidFill>
                  <a:schemeClr val="dk1"/>
                </a:solidFill>
                <a:latin typeface="Times New Roman"/>
                <a:ea typeface="Times New Roman"/>
                <a:cs typeface="Times New Roman"/>
                <a:sym typeface="Times New Roman"/>
              </a:rPr>
              <a:t> World Energy 2023. Energy </a:t>
            </a:r>
            <a:r>
              <a:rPr lang="es-ES" sz="1400" i="1" noProof="0" dirty="0" err="1">
                <a:solidFill>
                  <a:schemeClr val="dk1"/>
                </a:solidFill>
                <a:latin typeface="Times New Roman"/>
                <a:ea typeface="Times New Roman"/>
                <a:cs typeface="Times New Roman"/>
                <a:sym typeface="Times New Roman"/>
              </a:rPr>
              <a:t>Institute</a:t>
            </a:r>
            <a:r>
              <a:rPr lang="es-ES" sz="1400" i="1" noProof="0" dirty="0">
                <a:solidFill>
                  <a:schemeClr val="dk1"/>
                </a:solidFill>
                <a:latin typeface="Times New Roman"/>
                <a:ea typeface="Times New Roman"/>
                <a:cs typeface="Times New Roman"/>
                <a:sym typeface="Times New Roman"/>
              </a:rPr>
              <a:t>”.</a:t>
            </a:r>
            <a:endParaRPr lang="es-ES" noProof="0" dirty="0"/>
          </a:p>
        </p:txBody>
      </p:sp>
      <p:sp>
        <p:nvSpPr>
          <p:cNvPr id="427" name="Google Shape;427;p37"/>
          <p:cNvSpPr txBox="1"/>
          <p:nvPr/>
        </p:nvSpPr>
        <p:spPr>
          <a:xfrm>
            <a:off x="958663" y="6018662"/>
            <a:ext cx="7379936" cy="369291"/>
          </a:xfrm>
          <a:prstGeom prst="rect">
            <a:avLst/>
          </a:prstGeom>
          <a:noFill/>
          <a:ln w="2857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 2022, se consumieron un total de 600 EJ de energía primaria en el mundo.</a:t>
            </a:r>
            <a:endParaRPr lang="es-ES" noProof="0" dirty="0"/>
          </a:p>
        </p:txBody>
      </p:sp>
      <p:sp>
        <p:nvSpPr>
          <p:cNvPr id="4" name="Google Shape;406;p35">
            <a:extLst>
              <a:ext uri="{FF2B5EF4-FFF2-40B4-BE49-F238E27FC236}">
                <a16:creationId xmlns:a16="http://schemas.microsoft.com/office/drawing/2014/main" id="{113C6DBB-8DA3-6AD8-9177-B525B9FA8FFB}"/>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dirty="0"/>
              <a:t>Uso de la energía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3">
          <a:extLst>
            <a:ext uri="{FF2B5EF4-FFF2-40B4-BE49-F238E27FC236}">
              <a16:creationId xmlns:a16="http://schemas.microsoft.com/office/drawing/2014/main" id="{89015356-9724-DCE4-6FAC-F2B1203550E9}"/>
            </a:ext>
          </a:extLst>
        </p:cNvPr>
        <p:cNvGrpSpPr/>
        <p:nvPr/>
      </p:nvGrpSpPr>
      <p:grpSpPr>
        <a:xfrm>
          <a:off x="0" y="0"/>
          <a:ext cx="0" cy="0"/>
          <a:chOff x="0" y="0"/>
          <a:chExt cx="0" cy="0"/>
        </a:xfrm>
      </p:grpSpPr>
      <p:sp>
        <p:nvSpPr>
          <p:cNvPr id="444" name="Google Shape;444;p39">
            <a:extLst>
              <a:ext uri="{FF2B5EF4-FFF2-40B4-BE49-F238E27FC236}">
                <a16:creationId xmlns:a16="http://schemas.microsoft.com/office/drawing/2014/main" id="{FCCB9F85-D56E-C2A6-762E-E91A957E1D1B}"/>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33</a:t>
            </a:fld>
            <a:endParaRPr lang="es-ES" noProof="0" dirty="0"/>
          </a:p>
        </p:txBody>
      </p:sp>
      <p:sp>
        <p:nvSpPr>
          <p:cNvPr id="446" name="Google Shape;446;p39">
            <a:extLst>
              <a:ext uri="{FF2B5EF4-FFF2-40B4-BE49-F238E27FC236}">
                <a16:creationId xmlns:a16="http://schemas.microsoft.com/office/drawing/2014/main" id="{FBEBDD5A-433E-FD36-CA72-059D51C86BEE}"/>
              </a:ext>
            </a:extLst>
          </p:cNvPr>
          <p:cNvSpPr txBox="1"/>
          <p:nvPr/>
        </p:nvSpPr>
        <p:spPr>
          <a:xfrm>
            <a:off x="853466" y="470047"/>
            <a:ext cx="797303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ea typeface="Times New Roman"/>
                <a:cs typeface="Times New Roman"/>
                <a:sym typeface="Times New Roman"/>
              </a:rPr>
              <a:t>Energía total suministrada (TES)</a:t>
            </a:r>
            <a:endParaRPr lang="es-ES" noProof="0" dirty="0"/>
          </a:p>
        </p:txBody>
      </p:sp>
      <p:sp>
        <p:nvSpPr>
          <p:cNvPr id="447" name="Google Shape;447;p39">
            <a:extLst>
              <a:ext uri="{FF2B5EF4-FFF2-40B4-BE49-F238E27FC236}">
                <a16:creationId xmlns:a16="http://schemas.microsoft.com/office/drawing/2014/main" id="{443AEDB6-EA29-A32B-FB73-D7E3569E9F7A}"/>
              </a:ext>
            </a:extLst>
          </p:cNvPr>
          <p:cNvSpPr txBox="1"/>
          <p:nvPr/>
        </p:nvSpPr>
        <p:spPr>
          <a:xfrm>
            <a:off x="2008317" y="5326046"/>
            <a:ext cx="512736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Fuente:“</a:t>
            </a:r>
            <a:r>
              <a:rPr lang="es-ES" sz="1400" i="1" noProof="0" dirty="0" err="1">
                <a:solidFill>
                  <a:schemeClr val="dk1"/>
                </a:solidFill>
                <a:latin typeface="Times New Roman"/>
                <a:ea typeface="Times New Roman"/>
                <a:cs typeface="Times New Roman"/>
                <a:sym typeface="Times New Roman"/>
              </a:rPr>
              <a:t>Statistical</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Review</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of</a:t>
            </a:r>
            <a:r>
              <a:rPr lang="es-ES" sz="1400" i="1" noProof="0" dirty="0">
                <a:solidFill>
                  <a:schemeClr val="dk1"/>
                </a:solidFill>
                <a:latin typeface="Times New Roman"/>
                <a:ea typeface="Times New Roman"/>
                <a:cs typeface="Times New Roman"/>
                <a:sym typeface="Times New Roman"/>
              </a:rPr>
              <a:t> World Energy 2026. Energy </a:t>
            </a:r>
            <a:r>
              <a:rPr lang="es-ES" sz="1400" i="1" noProof="0" dirty="0" err="1">
                <a:solidFill>
                  <a:schemeClr val="dk1"/>
                </a:solidFill>
                <a:latin typeface="Times New Roman"/>
                <a:ea typeface="Times New Roman"/>
                <a:cs typeface="Times New Roman"/>
                <a:sym typeface="Times New Roman"/>
              </a:rPr>
              <a:t>Institute</a:t>
            </a:r>
            <a:r>
              <a:rPr lang="es-ES" sz="1400" i="1" noProof="0" dirty="0">
                <a:solidFill>
                  <a:schemeClr val="dk1"/>
                </a:solidFill>
                <a:latin typeface="Times New Roman"/>
                <a:ea typeface="Times New Roman"/>
                <a:cs typeface="Times New Roman"/>
                <a:sym typeface="Times New Roman"/>
              </a:rPr>
              <a:t>”.</a:t>
            </a:r>
            <a:endParaRPr lang="es-ES" noProof="0" dirty="0"/>
          </a:p>
        </p:txBody>
      </p:sp>
      <p:sp>
        <p:nvSpPr>
          <p:cNvPr id="449" name="Google Shape;449;p39">
            <a:extLst>
              <a:ext uri="{FF2B5EF4-FFF2-40B4-BE49-F238E27FC236}">
                <a16:creationId xmlns:a16="http://schemas.microsoft.com/office/drawing/2014/main" id="{32612ADB-9E66-DDC4-5986-441CF53B30D9}"/>
              </a:ext>
            </a:extLst>
          </p:cNvPr>
          <p:cNvSpPr txBox="1"/>
          <p:nvPr/>
        </p:nvSpPr>
        <p:spPr>
          <a:xfrm>
            <a:off x="5958035" y="1232022"/>
            <a:ext cx="334323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España. 2025</a:t>
            </a:r>
            <a:endParaRPr lang="es-ES" noProof="0" dirty="0"/>
          </a:p>
        </p:txBody>
      </p:sp>
      <p:sp>
        <p:nvSpPr>
          <p:cNvPr id="451" name="Google Shape;451;p39">
            <a:extLst>
              <a:ext uri="{FF2B5EF4-FFF2-40B4-BE49-F238E27FC236}">
                <a16:creationId xmlns:a16="http://schemas.microsoft.com/office/drawing/2014/main" id="{C13F25AB-F656-DCFC-0D70-FCFCBDF60E4D}"/>
              </a:ext>
            </a:extLst>
          </p:cNvPr>
          <p:cNvSpPr txBox="1"/>
          <p:nvPr/>
        </p:nvSpPr>
        <p:spPr>
          <a:xfrm>
            <a:off x="1396727" y="1232022"/>
            <a:ext cx="364780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Nivel mundial. 2025</a:t>
            </a:r>
            <a:endParaRPr lang="es-ES" noProof="0" dirty="0"/>
          </a:p>
        </p:txBody>
      </p:sp>
      <p:sp>
        <p:nvSpPr>
          <p:cNvPr id="452" name="Google Shape;452;p39">
            <a:extLst>
              <a:ext uri="{FF2B5EF4-FFF2-40B4-BE49-F238E27FC236}">
                <a16:creationId xmlns:a16="http://schemas.microsoft.com/office/drawing/2014/main" id="{F51FC53B-580F-56D0-A3C3-42CF9758209C}"/>
              </a:ext>
            </a:extLst>
          </p:cNvPr>
          <p:cNvSpPr txBox="1"/>
          <p:nvPr/>
        </p:nvSpPr>
        <p:spPr>
          <a:xfrm>
            <a:off x="650727" y="6018621"/>
            <a:ext cx="8282537" cy="646290"/>
          </a:xfrm>
          <a:prstGeom prst="rect">
            <a:avLst/>
          </a:prstGeom>
          <a:noFill/>
          <a:ln w="2857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lvl="0" algn="just"/>
            <a:r>
              <a:rPr lang="es-ES" sz="1800" noProof="0" dirty="0">
                <a:solidFill>
                  <a:schemeClr val="dk1"/>
                </a:solidFill>
                <a:latin typeface="Times New Roman"/>
                <a:ea typeface="Times New Roman"/>
                <a:cs typeface="Times New Roman"/>
                <a:sym typeface="Times New Roman"/>
              </a:rPr>
              <a:t>En 2025, el 75% </a:t>
            </a:r>
            <a:r>
              <a:rPr lang="es-ES" noProof="0" dirty="0">
                <a:solidFill>
                  <a:schemeClr val="dk1"/>
                </a:solidFill>
                <a:latin typeface="Times New Roman"/>
                <a:ea typeface="Times New Roman"/>
                <a:cs typeface="Times New Roman"/>
                <a:sym typeface="Times New Roman"/>
              </a:rPr>
              <a:t>de la energía total suministrada en España proviene de combustibles fósiles (</a:t>
            </a:r>
            <a:r>
              <a:rPr lang="es-ES" sz="1800" noProof="0" dirty="0">
                <a:solidFill>
                  <a:schemeClr val="dk1"/>
                </a:solidFill>
                <a:latin typeface="Times New Roman"/>
                <a:ea typeface="Times New Roman"/>
                <a:cs typeface="Times New Roman"/>
                <a:sym typeface="Times New Roman"/>
              </a:rPr>
              <a:t>el 86% a nivel mundial).</a:t>
            </a:r>
            <a:endParaRPr lang="es-ES" noProof="0" dirty="0"/>
          </a:p>
        </p:txBody>
      </p:sp>
      <p:sp>
        <p:nvSpPr>
          <p:cNvPr id="14" name="Google Shape;467;p41">
            <a:extLst>
              <a:ext uri="{FF2B5EF4-FFF2-40B4-BE49-F238E27FC236}">
                <a16:creationId xmlns:a16="http://schemas.microsoft.com/office/drawing/2014/main" id="{D8104CE6-7416-DD38-783E-E27E6D28D2C6}"/>
              </a:ext>
            </a:extLst>
          </p:cNvPr>
          <p:cNvSpPr/>
          <p:nvPr/>
        </p:nvSpPr>
        <p:spPr>
          <a:xfrm>
            <a:off x="1851110" y="1690356"/>
            <a:ext cx="136952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600,31 EJ</a:t>
            </a:r>
            <a:endParaRPr lang="es-ES" noProof="0" dirty="0"/>
          </a:p>
        </p:txBody>
      </p:sp>
      <p:sp>
        <p:nvSpPr>
          <p:cNvPr id="15" name="Google Shape;467;p41">
            <a:extLst>
              <a:ext uri="{FF2B5EF4-FFF2-40B4-BE49-F238E27FC236}">
                <a16:creationId xmlns:a16="http://schemas.microsoft.com/office/drawing/2014/main" id="{EDBC1DA1-90C3-FC73-5668-6BC4334C76A7}"/>
              </a:ext>
            </a:extLst>
          </p:cNvPr>
          <p:cNvSpPr/>
          <p:nvPr/>
        </p:nvSpPr>
        <p:spPr>
          <a:xfrm>
            <a:off x="6319019" y="1690007"/>
            <a:ext cx="136952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5,2 EJ</a:t>
            </a:r>
            <a:endParaRPr lang="es-ES" noProof="0" dirty="0"/>
          </a:p>
        </p:txBody>
      </p:sp>
      <p:graphicFrame>
        <p:nvGraphicFramePr>
          <p:cNvPr id="6" name="Gráfico 5">
            <a:extLst>
              <a:ext uri="{FF2B5EF4-FFF2-40B4-BE49-F238E27FC236}">
                <a16:creationId xmlns:a16="http://schemas.microsoft.com/office/drawing/2014/main" id="{80001122-B55C-2F28-1115-8C2CBD6AB0B1}"/>
              </a:ext>
            </a:extLst>
          </p:cNvPr>
          <p:cNvGraphicFramePr>
            <a:graphicFrameLocks/>
          </p:cNvGraphicFramePr>
          <p:nvPr>
            <p:extLst>
              <p:ext uri="{D42A27DB-BD31-4B8C-83A1-F6EECF244321}">
                <p14:modId xmlns:p14="http://schemas.microsoft.com/office/powerpoint/2010/main" val="4114266489"/>
              </p:ext>
            </p:extLst>
          </p:nvPr>
        </p:nvGraphicFramePr>
        <p:xfrm>
          <a:off x="504825" y="2055154"/>
          <a:ext cx="4176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Gráfico 6">
            <a:extLst>
              <a:ext uri="{FF2B5EF4-FFF2-40B4-BE49-F238E27FC236}">
                <a16:creationId xmlns:a16="http://schemas.microsoft.com/office/drawing/2014/main" id="{65A22304-A9D7-4D7B-A112-96576EADF798}"/>
              </a:ext>
            </a:extLst>
          </p:cNvPr>
          <p:cNvGraphicFramePr>
            <a:graphicFrameLocks/>
          </p:cNvGraphicFramePr>
          <p:nvPr>
            <p:extLst>
              <p:ext uri="{D42A27DB-BD31-4B8C-83A1-F6EECF244321}">
                <p14:modId xmlns:p14="http://schemas.microsoft.com/office/powerpoint/2010/main" val="3370073547"/>
              </p:ext>
            </p:extLst>
          </p:nvPr>
        </p:nvGraphicFramePr>
        <p:xfrm>
          <a:off x="4839982" y="2045494"/>
          <a:ext cx="4176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1" name="Google Shape;406;p35">
            <a:extLst>
              <a:ext uri="{FF2B5EF4-FFF2-40B4-BE49-F238E27FC236}">
                <a16:creationId xmlns:a16="http://schemas.microsoft.com/office/drawing/2014/main" id="{7A8F0F54-30A1-F692-660D-A4D1D92B85DD}"/>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dirty="0"/>
              <a:t>Uso de la energía</a:t>
            </a:r>
          </a:p>
        </p:txBody>
      </p:sp>
    </p:spTree>
    <p:extLst>
      <p:ext uri="{BB962C8B-B14F-4D97-AF65-F5344CB8AC3E}">
        <p14:creationId xmlns:p14="http://schemas.microsoft.com/office/powerpoint/2010/main" val="18378884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3">
          <a:extLst>
            <a:ext uri="{FF2B5EF4-FFF2-40B4-BE49-F238E27FC236}">
              <a16:creationId xmlns:a16="http://schemas.microsoft.com/office/drawing/2014/main" id="{CF7F2824-1CC1-863C-6043-9F8D0055D7C3}"/>
            </a:ext>
          </a:extLst>
        </p:cNvPr>
        <p:cNvGrpSpPr/>
        <p:nvPr/>
      </p:nvGrpSpPr>
      <p:grpSpPr>
        <a:xfrm>
          <a:off x="0" y="0"/>
          <a:ext cx="0" cy="0"/>
          <a:chOff x="0" y="0"/>
          <a:chExt cx="0" cy="0"/>
        </a:xfrm>
      </p:grpSpPr>
      <p:sp>
        <p:nvSpPr>
          <p:cNvPr id="444" name="Google Shape;444;p39">
            <a:extLst>
              <a:ext uri="{FF2B5EF4-FFF2-40B4-BE49-F238E27FC236}">
                <a16:creationId xmlns:a16="http://schemas.microsoft.com/office/drawing/2014/main" id="{4335C7F2-BA2F-2D45-9B9C-FC016DD2DDE2}"/>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34</a:t>
            </a:fld>
            <a:endParaRPr lang="es-ES" noProof="0" dirty="0"/>
          </a:p>
        </p:txBody>
      </p:sp>
      <p:sp>
        <p:nvSpPr>
          <p:cNvPr id="446" name="Google Shape;446;p39">
            <a:extLst>
              <a:ext uri="{FF2B5EF4-FFF2-40B4-BE49-F238E27FC236}">
                <a16:creationId xmlns:a16="http://schemas.microsoft.com/office/drawing/2014/main" id="{E91FE5CB-19FC-8A26-A91C-DE20399E5F7A}"/>
              </a:ext>
            </a:extLst>
          </p:cNvPr>
          <p:cNvSpPr txBox="1"/>
          <p:nvPr/>
        </p:nvSpPr>
        <p:spPr>
          <a:xfrm>
            <a:off x="853466" y="470047"/>
            <a:ext cx="797303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ea typeface="Times New Roman"/>
                <a:cs typeface="Times New Roman"/>
                <a:sym typeface="Times New Roman"/>
              </a:rPr>
              <a:t>Generación de electricidad por combustible</a:t>
            </a:r>
            <a:endParaRPr lang="es-ES" noProof="0" dirty="0"/>
          </a:p>
        </p:txBody>
      </p:sp>
      <p:sp>
        <p:nvSpPr>
          <p:cNvPr id="447" name="Google Shape;447;p39">
            <a:extLst>
              <a:ext uri="{FF2B5EF4-FFF2-40B4-BE49-F238E27FC236}">
                <a16:creationId xmlns:a16="http://schemas.microsoft.com/office/drawing/2014/main" id="{572C9B30-04B4-7183-D787-FBF01E605A81}"/>
              </a:ext>
            </a:extLst>
          </p:cNvPr>
          <p:cNvSpPr txBox="1"/>
          <p:nvPr/>
        </p:nvSpPr>
        <p:spPr>
          <a:xfrm>
            <a:off x="2008317" y="5326046"/>
            <a:ext cx="512736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Fuente:“</a:t>
            </a:r>
            <a:r>
              <a:rPr lang="es-ES" sz="1400" i="1" noProof="0" dirty="0" err="1">
                <a:solidFill>
                  <a:schemeClr val="dk1"/>
                </a:solidFill>
                <a:latin typeface="Times New Roman"/>
                <a:ea typeface="Times New Roman"/>
                <a:cs typeface="Times New Roman"/>
                <a:sym typeface="Times New Roman"/>
              </a:rPr>
              <a:t>Statistical</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Review</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of</a:t>
            </a:r>
            <a:r>
              <a:rPr lang="es-ES" sz="1400" i="1" noProof="0" dirty="0">
                <a:solidFill>
                  <a:schemeClr val="dk1"/>
                </a:solidFill>
                <a:latin typeface="Times New Roman"/>
                <a:ea typeface="Times New Roman"/>
                <a:cs typeface="Times New Roman"/>
                <a:sym typeface="Times New Roman"/>
              </a:rPr>
              <a:t> World Energy 2026. Energy </a:t>
            </a:r>
            <a:r>
              <a:rPr lang="es-ES" sz="1400" i="1" noProof="0" dirty="0" err="1">
                <a:solidFill>
                  <a:schemeClr val="dk1"/>
                </a:solidFill>
                <a:latin typeface="Times New Roman"/>
                <a:ea typeface="Times New Roman"/>
                <a:cs typeface="Times New Roman"/>
                <a:sym typeface="Times New Roman"/>
              </a:rPr>
              <a:t>Institute</a:t>
            </a:r>
            <a:r>
              <a:rPr lang="es-ES" sz="1400" i="1" noProof="0" dirty="0">
                <a:solidFill>
                  <a:schemeClr val="dk1"/>
                </a:solidFill>
                <a:latin typeface="Times New Roman"/>
                <a:ea typeface="Times New Roman"/>
                <a:cs typeface="Times New Roman"/>
                <a:sym typeface="Times New Roman"/>
              </a:rPr>
              <a:t>”.</a:t>
            </a:r>
            <a:endParaRPr lang="es-ES" noProof="0" dirty="0"/>
          </a:p>
        </p:txBody>
      </p:sp>
      <p:sp>
        <p:nvSpPr>
          <p:cNvPr id="449" name="Google Shape;449;p39">
            <a:extLst>
              <a:ext uri="{FF2B5EF4-FFF2-40B4-BE49-F238E27FC236}">
                <a16:creationId xmlns:a16="http://schemas.microsoft.com/office/drawing/2014/main" id="{1E84B0EB-0918-0810-AE60-610B8794B6B7}"/>
              </a:ext>
            </a:extLst>
          </p:cNvPr>
          <p:cNvSpPr txBox="1"/>
          <p:nvPr/>
        </p:nvSpPr>
        <p:spPr>
          <a:xfrm>
            <a:off x="6225072" y="1224177"/>
            <a:ext cx="334323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España. 2025</a:t>
            </a:r>
            <a:endParaRPr lang="es-ES" noProof="0" dirty="0"/>
          </a:p>
        </p:txBody>
      </p:sp>
      <p:sp>
        <p:nvSpPr>
          <p:cNvPr id="451" name="Google Shape;451;p39">
            <a:extLst>
              <a:ext uri="{FF2B5EF4-FFF2-40B4-BE49-F238E27FC236}">
                <a16:creationId xmlns:a16="http://schemas.microsoft.com/office/drawing/2014/main" id="{244136C9-B842-DB43-D777-B14D07F3088D}"/>
              </a:ext>
            </a:extLst>
          </p:cNvPr>
          <p:cNvSpPr txBox="1"/>
          <p:nvPr/>
        </p:nvSpPr>
        <p:spPr>
          <a:xfrm>
            <a:off x="1515897" y="1180166"/>
            <a:ext cx="364780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Nivel mundial. 2025</a:t>
            </a:r>
            <a:endParaRPr lang="es-ES" noProof="0" dirty="0"/>
          </a:p>
        </p:txBody>
      </p:sp>
      <p:sp>
        <p:nvSpPr>
          <p:cNvPr id="452" name="Google Shape;452;p39">
            <a:extLst>
              <a:ext uri="{FF2B5EF4-FFF2-40B4-BE49-F238E27FC236}">
                <a16:creationId xmlns:a16="http://schemas.microsoft.com/office/drawing/2014/main" id="{7EF5302E-BDA0-051C-F3A2-7D9E5C63456B}"/>
              </a:ext>
            </a:extLst>
          </p:cNvPr>
          <p:cNvSpPr txBox="1"/>
          <p:nvPr/>
        </p:nvSpPr>
        <p:spPr>
          <a:xfrm>
            <a:off x="650727" y="6018621"/>
            <a:ext cx="8282537" cy="646290"/>
          </a:xfrm>
          <a:prstGeom prst="rect">
            <a:avLst/>
          </a:prstGeom>
          <a:noFill/>
          <a:ln w="2857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 2025, el 43% de la generación eléctrica en España es con energía renovable (el 19% a nivel mundial).</a:t>
            </a:r>
            <a:endParaRPr lang="es-ES" noProof="0" dirty="0"/>
          </a:p>
        </p:txBody>
      </p:sp>
      <p:sp>
        <p:nvSpPr>
          <p:cNvPr id="14" name="Google Shape;467;p41">
            <a:extLst>
              <a:ext uri="{FF2B5EF4-FFF2-40B4-BE49-F238E27FC236}">
                <a16:creationId xmlns:a16="http://schemas.microsoft.com/office/drawing/2014/main" id="{552F7BF7-E764-F940-5A51-CC248B47247F}"/>
              </a:ext>
            </a:extLst>
          </p:cNvPr>
          <p:cNvSpPr/>
          <p:nvPr/>
        </p:nvSpPr>
        <p:spPr>
          <a:xfrm>
            <a:off x="1851110" y="1690356"/>
            <a:ext cx="136952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32202 TWh</a:t>
            </a:r>
            <a:endParaRPr lang="es-ES" noProof="0" dirty="0"/>
          </a:p>
        </p:txBody>
      </p:sp>
      <p:sp>
        <p:nvSpPr>
          <p:cNvPr id="15" name="Google Shape;467;p41">
            <a:extLst>
              <a:ext uri="{FF2B5EF4-FFF2-40B4-BE49-F238E27FC236}">
                <a16:creationId xmlns:a16="http://schemas.microsoft.com/office/drawing/2014/main" id="{06FAA429-ED65-5E6E-5FE3-D6726BC3224B}"/>
              </a:ext>
            </a:extLst>
          </p:cNvPr>
          <p:cNvSpPr/>
          <p:nvPr/>
        </p:nvSpPr>
        <p:spPr>
          <a:xfrm>
            <a:off x="6319019" y="1690007"/>
            <a:ext cx="136952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301,4 TWh</a:t>
            </a:r>
            <a:endParaRPr lang="es-ES" noProof="0" dirty="0"/>
          </a:p>
        </p:txBody>
      </p:sp>
      <p:graphicFrame>
        <p:nvGraphicFramePr>
          <p:cNvPr id="2" name="Gráfico 1">
            <a:extLst>
              <a:ext uri="{FF2B5EF4-FFF2-40B4-BE49-F238E27FC236}">
                <a16:creationId xmlns:a16="http://schemas.microsoft.com/office/drawing/2014/main" id="{790E36C3-C096-F20B-794E-156C4FFEA7FB}"/>
              </a:ext>
            </a:extLst>
          </p:cNvPr>
          <p:cNvGraphicFramePr>
            <a:graphicFrameLocks/>
          </p:cNvGraphicFramePr>
          <p:nvPr>
            <p:extLst>
              <p:ext uri="{D42A27DB-BD31-4B8C-83A1-F6EECF244321}">
                <p14:modId xmlns:p14="http://schemas.microsoft.com/office/powerpoint/2010/main" val="1419453762"/>
              </p:ext>
            </p:extLst>
          </p:nvPr>
        </p:nvGraphicFramePr>
        <p:xfrm>
          <a:off x="504825" y="2059298"/>
          <a:ext cx="4176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Gráfico 2">
            <a:extLst>
              <a:ext uri="{FF2B5EF4-FFF2-40B4-BE49-F238E27FC236}">
                <a16:creationId xmlns:a16="http://schemas.microsoft.com/office/drawing/2014/main" id="{513801F2-45B2-1934-313C-D555216CEB23}"/>
              </a:ext>
            </a:extLst>
          </p:cNvPr>
          <p:cNvGraphicFramePr>
            <a:graphicFrameLocks/>
          </p:cNvGraphicFramePr>
          <p:nvPr>
            <p:extLst>
              <p:ext uri="{D42A27DB-BD31-4B8C-83A1-F6EECF244321}">
                <p14:modId xmlns:p14="http://schemas.microsoft.com/office/powerpoint/2010/main" val="3973024074"/>
              </p:ext>
            </p:extLst>
          </p:nvPr>
        </p:nvGraphicFramePr>
        <p:xfrm>
          <a:off x="4839982" y="2059298"/>
          <a:ext cx="4176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5" name="Google Shape;406;p35">
            <a:extLst>
              <a:ext uri="{FF2B5EF4-FFF2-40B4-BE49-F238E27FC236}">
                <a16:creationId xmlns:a16="http://schemas.microsoft.com/office/drawing/2014/main" id="{9706878D-DC6B-CFD4-ED70-ED67F31A0F4D}"/>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dirty="0"/>
              <a:t>Uso de la energía</a:t>
            </a:r>
          </a:p>
        </p:txBody>
      </p:sp>
    </p:spTree>
    <p:extLst>
      <p:ext uri="{BB962C8B-B14F-4D97-AF65-F5344CB8AC3E}">
        <p14:creationId xmlns:p14="http://schemas.microsoft.com/office/powerpoint/2010/main" val="3727212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39"/>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35</a:t>
            </a:fld>
            <a:endParaRPr lang="es-ES" noProof="0" dirty="0"/>
          </a:p>
        </p:txBody>
      </p:sp>
      <p:sp>
        <p:nvSpPr>
          <p:cNvPr id="18" name="Google Shape;446;p39">
            <a:extLst>
              <a:ext uri="{FF2B5EF4-FFF2-40B4-BE49-F238E27FC236}">
                <a16:creationId xmlns:a16="http://schemas.microsoft.com/office/drawing/2014/main" id="{4EC4FC0B-F5FF-49A5-B38C-FA343F000351}"/>
              </a:ext>
            </a:extLst>
          </p:cNvPr>
          <p:cNvSpPr txBox="1"/>
          <p:nvPr/>
        </p:nvSpPr>
        <p:spPr>
          <a:xfrm>
            <a:off x="853466" y="470047"/>
            <a:ext cx="797303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cs typeface="Times New Roman"/>
                <a:sym typeface="Times New Roman"/>
              </a:rPr>
              <a:t>Coste de la energía: LCOE</a:t>
            </a:r>
            <a:endParaRPr lang="es-ES" noProof="0" dirty="0"/>
          </a:p>
        </p:txBody>
      </p:sp>
      <p:sp>
        <p:nvSpPr>
          <p:cNvPr id="7" name="Google Shape;360;p30">
            <a:extLst>
              <a:ext uri="{FF2B5EF4-FFF2-40B4-BE49-F238E27FC236}">
                <a16:creationId xmlns:a16="http://schemas.microsoft.com/office/drawing/2014/main" id="{CA02D595-CC97-A5EC-0609-BCFA12CB8CAC}"/>
              </a:ext>
            </a:extLst>
          </p:cNvPr>
          <p:cNvSpPr txBox="1"/>
          <p:nvPr/>
        </p:nvSpPr>
        <p:spPr>
          <a:xfrm>
            <a:off x="908050" y="931671"/>
            <a:ext cx="7767638" cy="175428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El LCOE (</a:t>
            </a:r>
            <a:r>
              <a:rPr lang="es-ES" sz="1800" noProof="0" dirty="0" err="1">
                <a:solidFill>
                  <a:schemeClr val="dk1"/>
                </a:solidFill>
                <a:latin typeface="Times New Roman"/>
                <a:ea typeface="Times New Roman"/>
                <a:cs typeface="Times New Roman"/>
                <a:sym typeface="Times New Roman"/>
              </a:rPr>
              <a:t>Levelized</a:t>
            </a:r>
            <a:r>
              <a:rPr lang="es-ES" sz="1800" noProof="0" dirty="0">
                <a:solidFill>
                  <a:schemeClr val="dk1"/>
                </a:solidFill>
                <a:latin typeface="Times New Roman"/>
                <a:ea typeface="Times New Roman"/>
                <a:cs typeface="Times New Roman"/>
                <a:sym typeface="Times New Roman"/>
              </a:rPr>
              <a:t> Cost </a:t>
            </a:r>
            <a:r>
              <a:rPr lang="es-ES" sz="1800" noProof="0" dirty="0" err="1">
                <a:solidFill>
                  <a:schemeClr val="dk1"/>
                </a:solidFill>
                <a:latin typeface="Times New Roman"/>
                <a:ea typeface="Times New Roman"/>
                <a:cs typeface="Times New Roman"/>
                <a:sym typeface="Times New Roman"/>
              </a:rPr>
              <a:t>Of</a:t>
            </a:r>
            <a:r>
              <a:rPr lang="es-ES" sz="1800" noProof="0" dirty="0">
                <a:solidFill>
                  <a:schemeClr val="dk1"/>
                </a:solidFill>
                <a:latin typeface="Times New Roman"/>
                <a:ea typeface="Times New Roman"/>
                <a:cs typeface="Times New Roman"/>
                <a:sym typeface="Times New Roman"/>
              </a:rPr>
              <a:t> Energy/</a:t>
            </a:r>
            <a:r>
              <a:rPr lang="es-ES" sz="1800" noProof="0" dirty="0" err="1">
                <a:solidFill>
                  <a:schemeClr val="dk1"/>
                </a:solidFill>
                <a:latin typeface="Times New Roman"/>
                <a:ea typeface="Times New Roman"/>
                <a:cs typeface="Times New Roman"/>
                <a:sym typeface="Times New Roman"/>
              </a:rPr>
              <a:t>Electricity</a:t>
            </a:r>
            <a:r>
              <a:rPr lang="es-ES" sz="1800" noProof="0" dirty="0">
                <a:solidFill>
                  <a:schemeClr val="dk1"/>
                </a:solidFill>
                <a:latin typeface="Times New Roman"/>
                <a:ea typeface="Times New Roman"/>
                <a:cs typeface="Times New Roman"/>
                <a:sym typeface="Times New Roman"/>
              </a:rPr>
              <a:t>) es una métrica que permite determinar el coste total (incluye costes de capital inicial, operación y mantenimiento, de combustible, de financiación y de desmantelamiento) de la energía generada por una instalación determinada a lo largo de su vida útil, expresado en $/</a:t>
            </a:r>
            <a:r>
              <a:rPr lang="es-ES" sz="1800" noProof="0" dirty="0" err="1">
                <a:solidFill>
                  <a:schemeClr val="dk1"/>
                </a:solidFill>
                <a:latin typeface="Times New Roman"/>
                <a:ea typeface="Times New Roman"/>
                <a:cs typeface="Times New Roman"/>
                <a:sym typeface="Times New Roman"/>
              </a:rPr>
              <a:t>MWh</a:t>
            </a:r>
            <a:r>
              <a:rPr lang="es-ES" sz="1800" noProof="0" dirty="0">
                <a:solidFill>
                  <a:schemeClr val="dk1"/>
                </a:solidFill>
                <a:latin typeface="Times New Roman"/>
                <a:ea typeface="Times New Roman"/>
                <a:cs typeface="Times New Roman"/>
                <a:sym typeface="Times New Roman"/>
              </a:rPr>
              <a:t>. A partir de este parámetro se puede comparar la eficiencia económica de diferentes fuentes de generación de electricidad.</a:t>
            </a:r>
          </a:p>
        </p:txBody>
      </p:sp>
      <p:sp>
        <p:nvSpPr>
          <p:cNvPr id="8" name="Google Shape;451;p39">
            <a:extLst>
              <a:ext uri="{FF2B5EF4-FFF2-40B4-BE49-F238E27FC236}">
                <a16:creationId xmlns:a16="http://schemas.microsoft.com/office/drawing/2014/main" id="{596E0159-7EFF-0688-18E4-86E20933B1DF}"/>
              </a:ext>
            </a:extLst>
          </p:cNvPr>
          <p:cNvSpPr txBox="1"/>
          <p:nvPr/>
        </p:nvSpPr>
        <p:spPr>
          <a:xfrm>
            <a:off x="908051" y="2708974"/>
            <a:ext cx="7767638" cy="23852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cs typeface="Times New Roman"/>
                <a:sym typeface="Times New Roman"/>
              </a:rPr>
              <a:t>Se consideran dos formas de cálculo del LCOE, ambas complementarias y válidas:</a:t>
            </a:r>
          </a:p>
          <a:p>
            <a:pPr marL="285750" marR="0" lvl="0" indent="-285750" algn="just" rtl="0">
              <a:spcBef>
                <a:spcPts val="600"/>
              </a:spcBef>
              <a:spcAft>
                <a:spcPts val="0"/>
              </a:spcAft>
              <a:buFont typeface="Arial" panose="020B0604020202020204" pitchFamily="34" charset="0"/>
              <a:buChar char="•"/>
            </a:pPr>
            <a:r>
              <a:rPr lang="es-ES" sz="1800" noProof="0" dirty="0">
                <a:solidFill>
                  <a:schemeClr val="dk1"/>
                </a:solidFill>
                <a:latin typeface="Times New Roman"/>
                <a:cs typeface="Times New Roman"/>
                <a:sym typeface="Times New Roman"/>
              </a:rPr>
              <a:t>Desarrollada por departamento financiero del Reino Unido.</a:t>
            </a:r>
          </a:p>
          <a:p>
            <a:pPr marL="285750" marR="0" lvl="0" indent="-285750" algn="just" rtl="0">
              <a:spcBef>
                <a:spcPts val="0"/>
              </a:spcBef>
              <a:spcAft>
                <a:spcPts val="0"/>
              </a:spcAft>
              <a:buFont typeface="Arial" panose="020B0604020202020204" pitchFamily="34" charset="0"/>
              <a:buChar char="•"/>
            </a:pPr>
            <a:endParaRPr lang="es-ES" sz="1800" noProof="0" dirty="0">
              <a:solidFill>
                <a:schemeClr val="dk1"/>
              </a:solidFill>
              <a:latin typeface="Times New Roman"/>
              <a:cs typeface="Times New Roman"/>
              <a:sym typeface="Times New Roman"/>
            </a:endParaRPr>
          </a:p>
          <a:p>
            <a:pPr marL="285750" marR="0" lvl="0" indent="-285750" algn="just" rtl="0">
              <a:spcBef>
                <a:spcPts val="0"/>
              </a:spcBef>
              <a:spcAft>
                <a:spcPts val="0"/>
              </a:spcAft>
              <a:buFont typeface="Arial" panose="020B0604020202020204" pitchFamily="34" charset="0"/>
              <a:buChar char="•"/>
            </a:pPr>
            <a:endParaRPr lang="es-ES" sz="1800" noProof="0" dirty="0">
              <a:solidFill>
                <a:schemeClr val="dk1"/>
              </a:solidFill>
              <a:latin typeface="Times New Roman"/>
              <a:cs typeface="Times New Roman"/>
              <a:sym typeface="Times New Roman"/>
            </a:endParaRPr>
          </a:p>
          <a:p>
            <a:pPr marL="285750" marR="0" lvl="0" indent="-285750" algn="just" rtl="0">
              <a:spcBef>
                <a:spcPts val="0"/>
              </a:spcBef>
              <a:spcAft>
                <a:spcPts val="0"/>
              </a:spcAft>
              <a:buFont typeface="Arial" panose="020B0604020202020204" pitchFamily="34" charset="0"/>
              <a:buChar char="•"/>
            </a:pPr>
            <a:endParaRPr lang="es-ES" sz="1800" noProof="0" dirty="0">
              <a:solidFill>
                <a:schemeClr val="dk1"/>
              </a:solidFill>
              <a:latin typeface="Times New Roman"/>
              <a:cs typeface="Times New Roman"/>
              <a:sym typeface="Times New Roman"/>
            </a:endParaRPr>
          </a:p>
          <a:p>
            <a:pPr marL="285750" marR="0" lvl="0" indent="-285750" algn="just" rtl="0">
              <a:spcBef>
                <a:spcPts val="0"/>
              </a:spcBef>
              <a:spcAft>
                <a:spcPts val="0"/>
              </a:spcAft>
              <a:buFont typeface="Arial" panose="020B0604020202020204" pitchFamily="34" charset="0"/>
              <a:buChar char="•"/>
            </a:pPr>
            <a:endParaRPr lang="es-ES" sz="1800" noProof="0" dirty="0">
              <a:solidFill>
                <a:schemeClr val="dk1"/>
              </a:solidFill>
              <a:latin typeface="Times New Roman"/>
              <a:cs typeface="Times New Roman"/>
              <a:sym typeface="Times New Roman"/>
            </a:endParaRPr>
          </a:p>
          <a:p>
            <a:pPr marL="285750" marR="0" lvl="0" indent="-285750" algn="just" rtl="0">
              <a:spcBef>
                <a:spcPts val="0"/>
              </a:spcBef>
              <a:spcAft>
                <a:spcPts val="0"/>
              </a:spcAft>
              <a:buFont typeface="Arial" panose="020B0604020202020204" pitchFamily="34" charset="0"/>
              <a:buChar char="•"/>
            </a:pPr>
            <a:endParaRPr lang="es-ES" sz="1800" noProof="0" dirty="0">
              <a:solidFill>
                <a:schemeClr val="dk1"/>
              </a:solidFill>
              <a:latin typeface="Times New Roman"/>
              <a:cs typeface="Times New Roman"/>
              <a:sym typeface="Times New Roman"/>
            </a:endParaRPr>
          </a:p>
          <a:p>
            <a:pPr marL="285750" marR="0" lvl="0" indent="-285750" algn="just" rtl="0">
              <a:spcBef>
                <a:spcPts val="0"/>
              </a:spcBef>
              <a:spcAft>
                <a:spcPts val="0"/>
              </a:spcAft>
              <a:buFont typeface="Arial" panose="020B0604020202020204" pitchFamily="34" charset="0"/>
              <a:buChar char="•"/>
            </a:pPr>
            <a:r>
              <a:rPr lang="es-ES" sz="1800" noProof="0" dirty="0">
                <a:solidFill>
                  <a:schemeClr val="dk1"/>
                </a:solidFill>
                <a:latin typeface="Times New Roman"/>
                <a:cs typeface="Times New Roman"/>
                <a:sym typeface="Times New Roman"/>
              </a:rPr>
              <a:t>Desarrollada por NREL (</a:t>
            </a:r>
            <a:r>
              <a:rPr lang="es-ES" sz="1800" noProof="0" dirty="0" err="1">
                <a:solidFill>
                  <a:schemeClr val="dk1"/>
                </a:solidFill>
                <a:latin typeface="Times New Roman"/>
                <a:cs typeface="Times New Roman"/>
                <a:sym typeface="Times New Roman"/>
              </a:rPr>
              <a:t>National</a:t>
            </a:r>
            <a:r>
              <a:rPr lang="es-ES" sz="1800" noProof="0" dirty="0">
                <a:solidFill>
                  <a:schemeClr val="dk1"/>
                </a:solidFill>
                <a:latin typeface="Times New Roman"/>
                <a:cs typeface="Times New Roman"/>
                <a:sym typeface="Times New Roman"/>
              </a:rPr>
              <a:t> </a:t>
            </a:r>
            <a:r>
              <a:rPr lang="es-ES" sz="1800" noProof="0" dirty="0" err="1">
                <a:solidFill>
                  <a:schemeClr val="dk1"/>
                </a:solidFill>
                <a:latin typeface="Times New Roman"/>
                <a:cs typeface="Times New Roman"/>
                <a:sym typeface="Times New Roman"/>
              </a:rPr>
              <a:t>Renewable</a:t>
            </a:r>
            <a:r>
              <a:rPr lang="es-ES" sz="1800" noProof="0" dirty="0">
                <a:solidFill>
                  <a:schemeClr val="dk1"/>
                </a:solidFill>
                <a:latin typeface="Times New Roman"/>
                <a:cs typeface="Times New Roman"/>
                <a:sym typeface="Times New Roman"/>
              </a:rPr>
              <a:t> Energy </a:t>
            </a:r>
            <a:r>
              <a:rPr lang="es-ES" sz="1800" noProof="0" dirty="0" err="1">
                <a:solidFill>
                  <a:schemeClr val="dk1"/>
                </a:solidFill>
                <a:latin typeface="Times New Roman"/>
                <a:cs typeface="Times New Roman"/>
                <a:sym typeface="Times New Roman"/>
              </a:rPr>
              <a:t>Laboratory</a:t>
            </a:r>
            <a:r>
              <a:rPr lang="es-ES" sz="1800" noProof="0" dirty="0">
                <a:solidFill>
                  <a:schemeClr val="dk1"/>
                </a:solidFill>
                <a:latin typeface="Times New Roman"/>
                <a:cs typeface="Times New Roman"/>
                <a:sym typeface="Times New Roman"/>
              </a:rPr>
              <a:t>).</a:t>
            </a:r>
          </a:p>
        </p:txBody>
      </p:sp>
      <p:pic>
        <p:nvPicPr>
          <p:cNvPr id="12" name="Imagen 11" descr="\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garnet}{RGB}{0,14,120}&#10;\definecolor{CyF}{RGB}{178,223,219}&#10;&#10;\pagestyle{empty}&#10;&#10;&#10;\begin{document}&#10;&#10;$\textrm{LCOE}=\frac{\sum_{t=1}^n \frac{C_t+O_t+V_t}{\left(1+r\right)^t}}{\sum_{t=1}^n \frac{E_t}{\left(1+r\right)^t}}$&#10;&#10;\end{document}&#10;" title="IguanaTex Bitmap Display">
            <a:extLst>
              <a:ext uri="{FF2B5EF4-FFF2-40B4-BE49-F238E27FC236}">
                <a16:creationId xmlns:a16="http://schemas.microsoft.com/office/drawing/2014/main" id="{18E7BFE2-94B4-EFE2-1262-83898FD966F7}"/>
              </a:ext>
            </a:extLst>
          </p:cNvPr>
          <p:cNvPicPr>
            <a:picLocks noChangeAspect="1"/>
          </p:cNvPicPr>
          <p:nvPr>
            <p:custDataLst>
              <p:tags r:id="rId1"/>
            </p:custDataLst>
          </p:nvPr>
        </p:nvPicPr>
        <p:blipFill>
          <a:blip r:embed="rId5"/>
          <a:stretch>
            <a:fillRect/>
          </a:stretch>
        </p:blipFill>
        <p:spPr>
          <a:xfrm>
            <a:off x="1214235" y="3737857"/>
            <a:ext cx="2499302" cy="628495"/>
          </a:xfrm>
          <a:prstGeom prst="rect">
            <a:avLst/>
          </a:prstGeom>
        </p:spPr>
      </p:pic>
      <p:sp>
        <p:nvSpPr>
          <p:cNvPr id="13" name="Google Shape;540;p49">
            <a:extLst>
              <a:ext uri="{FF2B5EF4-FFF2-40B4-BE49-F238E27FC236}">
                <a16:creationId xmlns:a16="http://schemas.microsoft.com/office/drawing/2014/main" id="{C0325502-2BCC-DB3D-F6FC-8F28D6B743CB}"/>
              </a:ext>
            </a:extLst>
          </p:cNvPr>
          <p:cNvSpPr/>
          <p:nvPr/>
        </p:nvSpPr>
        <p:spPr>
          <a:xfrm>
            <a:off x="3924300" y="3531812"/>
            <a:ext cx="5124449" cy="10156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00" i="1" noProof="0" dirty="0" err="1">
                <a:solidFill>
                  <a:schemeClr val="dk1"/>
                </a:solidFill>
                <a:latin typeface="Times New Roman"/>
                <a:ea typeface="Times New Roman"/>
                <a:cs typeface="Times New Roman"/>
                <a:sym typeface="Times New Roman"/>
              </a:rPr>
              <a:t>C</a:t>
            </a:r>
            <a:r>
              <a:rPr lang="es-ES" sz="1000" i="1" baseline="-25000" noProof="0" dirty="0" err="1">
                <a:solidFill>
                  <a:schemeClr val="dk1"/>
                </a:solidFill>
                <a:latin typeface="Times New Roman"/>
                <a:ea typeface="Times New Roman"/>
                <a:cs typeface="Times New Roman"/>
                <a:sym typeface="Times New Roman"/>
              </a:rPr>
              <a:t>t</a:t>
            </a:r>
            <a:r>
              <a:rPr lang="es-ES" sz="1000" noProof="0" dirty="0">
                <a:solidFill>
                  <a:schemeClr val="dk1"/>
                </a:solidFill>
                <a:latin typeface="Times New Roman"/>
                <a:ea typeface="Times New Roman"/>
                <a:cs typeface="Times New Roman"/>
                <a:sym typeface="Times New Roman"/>
              </a:rPr>
              <a:t> son los costes de capital en el periodo </a:t>
            </a:r>
            <a:r>
              <a:rPr lang="es-ES" sz="1000" i="1" noProof="0" dirty="0">
                <a:solidFill>
                  <a:schemeClr val="dk1"/>
                </a:solidFill>
                <a:latin typeface="Times New Roman"/>
                <a:ea typeface="Times New Roman"/>
                <a:cs typeface="Times New Roman"/>
                <a:sym typeface="Times New Roman"/>
              </a:rPr>
              <a:t>t</a:t>
            </a:r>
            <a:r>
              <a:rPr lang="es-ES" sz="1000" noProof="0" dirty="0">
                <a:solidFill>
                  <a:schemeClr val="dk1"/>
                </a:solidFill>
                <a:latin typeface="Times New Roman"/>
                <a:ea typeface="Times New Roman"/>
                <a:cs typeface="Times New Roman"/>
                <a:sym typeface="Times New Roman"/>
              </a:rPr>
              <a:t>.</a:t>
            </a:r>
          </a:p>
          <a:p>
            <a:pPr marL="0" marR="0" lvl="0" indent="0" algn="l" rtl="0">
              <a:spcBef>
                <a:spcPts val="0"/>
              </a:spcBef>
              <a:spcAft>
                <a:spcPts val="0"/>
              </a:spcAft>
              <a:buNone/>
            </a:pPr>
            <a:r>
              <a:rPr lang="es-ES" sz="1000" noProof="0" dirty="0" err="1">
                <a:solidFill>
                  <a:schemeClr val="dk1"/>
                </a:solidFill>
                <a:latin typeface="Times New Roman"/>
                <a:ea typeface="Times New Roman"/>
                <a:cs typeface="Times New Roman"/>
                <a:sym typeface="Times New Roman"/>
              </a:rPr>
              <a:t>O</a:t>
            </a:r>
            <a:r>
              <a:rPr lang="es-ES" sz="1000" i="1" baseline="-25000" noProof="0" dirty="0" err="1">
                <a:solidFill>
                  <a:schemeClr val="dk1"/>
                </a:solidFill>
                <a:latin typeface="Times New Roman"/>
                <a:ea typeface="Times New Roman"/>
                <a:cs typeface="Times New Roman"/>
                <a:sym typeface="Times New Roman"/>
              </a:rPr>
              <a:t>t</a:t>
            </a:r>
            <a:r>
              <a:rPr lang="es-ES" sz="1000" noProof="0" dirty="0">
                <a:solidFill>
                  <a:schemeClr val="dk1"/>
                </a:solidFill>
                <a:latin typeface="Times New Roman"/>
                <a:ea typeface="Times New Roman"/>
                <a:cs typeface="Times New Roman"/>
                <a:sym typeface="Times New Roman"/>
              </a:rPr>
              <a:t> son los costes fijos de operación en el periodo </a:t>
            </a:r>
            <a:r>
              <a:rPr lang="es-ES" sz="1000" i="1" noProof="0" dirty="0">
                <a:solidFill>
                  <a:schemeClr val="dk1"/>
                </a:solidFill>
                <a:latin typeface="Times New Roman"/>
                <a:ea typeface="Times New Roman"/>
                <a:cs typeface="Times New Roman"/>
                <a:sym typeface="Times New Roman"/>
              </a:rPr>
              <a:t>t.</a:t>
            </a:r>
          </a:p>
          <a:p>
            <a:pPr marL="0" marR="0" lvl="0" indent="0" algn="l" rtl="0">
              <a:spcBef>
                <a:spcPts val="0"/>
              </a:spcBef>
              <a:spcAft>
                <a:spcPts val="0"/>
              </a:spcAft>
              <a:buNone/>
            </a:pPr>
            <a:r>
              <a:rPr lang="es-ES" sz="1000" noProof="0" dirty="0" err="1">
                <a:solidFill>
                  <a:schemeClr val="dk1"/>
                </a:solidFill>
                <a:latin typeface="Times New Roman"/>
                <a:ea typeface="Times New Roman"/>
                <a:cs typeface="Times New Roman"/>
                <a:sym typeface="Times New Roman"/>
              </a:rPr>
              <a:t>V</a:t>
            </a:r>
            <a:r>
              <a:rPr lang="es-ES" sz="1000" i="1" baseline="-25000" noProof="0" dirty="0" err="1">
                <a:solidFill>
                  <a:schemeClr val="dk1"/>
                </a:solidFill>
                <a:latin typeface="Times New Roman"/>
                <a:ea typeface="Times New Roman"/>
                <a:cs typeface="Times New Roman"/>
                <a:sym typeface="Times New Roman"/>
              </a:rPr>
              <a:t>t</a:t>
            </a:r>
            <a:r>
              <a:rPr lang="es-ES" sz="1000" noProof="0" dirty="0">
                <a:solidFill>
                  <a:schemeClr val="dk1"/>
                </a:solidFill>
                <a:latin typeface="Times New Roman"/>
                <a:ea typeface="Times New Roman"/>
                <a:cs typeface="Times New Roman"/>
                <a:sym typeface="Times New Roman"/>
              </a:rPr>
              <a:t> son los costes variables de operación (precio de combustible, impuestos, etc.) en el periodo </a:t>
            </a:r>
            <a:r>
              <a:rPr lang="es-ES" sz="1000" i="1" noProof="0" dirty="0">
                <a:solidFill>
                  <a:schemeClr val="dk1"/>
                </a:solidFill>
                <a:latin typeface="Times New Roman"/>
                <a:ea typeface="Times New Roman"/>
                <a:cs typeface="Times New Roman"/>
                <a:sym typeface="Times New Roman"/>
              </a:rPr>
              <a:t>t.</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E</a:t>
            </a:r>
            <a:r>
              <a:rPr lang="es-ES" sz="1000" i="1" baseline="-25000" noProof="0" dirty="0">
                <a:solidFill>
                  <a:schemeClr val="dk1"/>
                </a:solidFill>
                <a:latin typeface="Times New Roman"/>
                <a:ea typeface="Times New Roman"/>
                <a:cs typeface="Times New Roman"/>
                <a:sym typeface="Times New Roman"/>
              </a:rPr>
              <a:t>t</a:t>
            </a:r>
            <a:r>
              <a:rPr lang="es-ES" sz="1000" noProof="0" dirty="0">
                <a:solidFill>
                  <a:schemeClr val="dk1"/>
                </a:solidFill>
                <a:latin typeface="Times New Roman"/>
                <a:ea typeface="Times New Roman"/>
                <a:cs typeface="Times New Roman"/>
                <a:sym typeface="Times New Roman"/>
              </a:rPr>
              <a:t> es la energía generada en el periodo </a:t>
            </a:r>
            <a:r>
              <a:rPr lang="es-ES" sz="1000" i="1" noProof="0" dirty="0">
                <a:solidFill>
                  <a:schemeClr val="dk1"/>
                </a:solidFill>
                <a:latin typeface="Times New Roman"/>
                <a:ea typeface="Times New Roman"/>
                <a:cs typeface="Times New Roman"/>
                <a:sym typeface="Times New Roman"/>
              </a:rPr>
              <a:t>t</a:t>
            </a:r>
            <a:r>
              <a:rPr lang="es-ES" sz="1000" noProof="0" dirty="0">
                <a:solidFill>
                  <a:schemeClr val="dk1"/>
                </a:solidFill>
                <a:latin typeface="Times New Roman"/>
                <a:ea typeface="Times New Roman"/>
                <a:cs typeface="Times New Roman"/>
                <a:sym typeface="Times New Roman"/>
              </a:rPr>
              <a:t>.</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r </a:t>
            </a:r>
            <a:r>
              <a:rPr lang="es-ES" sz="1000" noProof="0" dirty="0">
                <a:solidFill>
                  <a:schemeClr val="dk1"/>
                </a:solidFill>
                <a:latin typeface="Times New Roman"/>
                <a:ea typeface="Times New Roman"/>
                <a:cs typeface="Times New Roman"/>
                <a:sym typeface="Times New Roman"/>
              </a:rPr>
              <a:t>es la tasa de descuento (refleja el valor del dinero en el tiempo).</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n </a:t>
            </a:r>
            <a:r>
              <a:rPr lang="es-ES" sz="1000" noProof="0" dirty="0">
                <a:solidFill>
                  <a:schemeClr val="dk1"/>
                </a:solidFill>
                <a:latin typeface="Times New Roman"/>
                <a:ea typeface="Times New Roman"/>
                <a:cs typeface="Times New Roman"/>
                <a:sym typeface="Times New Roman"/>
              </a:rPr>
              <a:t>son los años de vida útil del proyecto.</a:t>
            </a:r>
          </a:p>
        </p:txBody>
      </p:sp>
      <p:pic>
        <p:nvPicPr>
          <p:cNvPr id="16" name="Imagen 15" descr="\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garnet}{RGB}{0,14,120}&#10;\definecolor{CyF}{RGB}{178,223,219}&#10;&#10;\pagestyle{empty}&#10;&#10;&#10;\begin{document}&#10;&#10;$\textrm{LCOE}=\frac{FCR\times ICC + O\&amp;M+F+TCR}{AEP}$&#10;&#10;\end{document}&#10;" title="IguanaTex Bitmap Display">
            <a:extLst>
              <a:ext uri="{FF2B5EF4-FFF2-40B4-BE49-F238E27FC236}">
                <a16:creationId xmlns:a16="http://schemas.microsoft.com/office/drawing/2014/main" id="{F066449D-3397-C8ED-CA25-AE5BF51994C5}"/>
              </a:ext>
            </a:extLst>
          </p:cNvPr>
          <p:cNvPicPr>
            <a:picLocks noChangeAspect="1"/>
          </p:cNvPicPr>
          <p:nvPr>
            <p:custDataLst>
              <p:tags r:id="rId2"/>
            </p:custDataLst>
          </p:nvPr>
        </p:nvPicPr>
        <p:blipFill>
          <a:blip r:embed="rId6"/>
          <a:stretch>
            <a:fillRect/>
          </a:stretch>
        </p:blipFill>
        <p:spPr>
          <a:xfrm>
            <a:off x="1214236" y="5592182"/>
            <a:ext cx="3718753" cy="314208"/>
          </a:xfrm>
          <a:prstGeom prst="rect">
            <a:avLst/>
          </a:prstGeom>
        </p:spPr>
      </p:pic>
      <p:sp>
        <p:nvSpPr>
          <p:cNvPr id="17" name="Google Shape;540;p49">
            <a:extLst>
              <a:ext uri="{FF2B5EF4-FFF2-40B4-BE49-F238E27FC236}">
                <a16:creationId xmlns:a16="http://schemas.microsoft.com/office/drawing/2014/main" id="{11212D1A-D4C4-C3DD-86F4-407A285B1C21}"/>
              </a:ext>
            </a:extLst>
          </p:cNvPr>
          <p:cNvSpPr/>
          <p:nvPr/>
        </p:nvSpPr>
        <p:spPr>
          <a:xfrm>
            <a:off x="5269287" y="5206072"/>
            <a:ext cx="3406401" cy="11695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FCR</a:t>
            </a:r>
            <a:r>
              <a:rPr lang="es-ES" sz="1000" noProof="0" dirty="0">
                <a:solidFill>
                  <a:schemeClr val="dk1"/>
                </a:solidFill>
                <a:latin typeface="Times New Roman"/>
                <a:ea typeface="Times New Roman"/>
                <a:cs typeface="Times New Roman"/>
                <a:sym typeface="Times New Roman"/>
              </a:rPr>
              <a:t> Es una tasa de cargo fijo para anualizar los costes iniciales de capital (incluye la depreciación, impuestos, etc.)</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ICC</a:t>
            </a:r>
            <a:r>
              <a:rPr lang="es-ES" sz="1000" noProof="0" dirty="0">
                <a:solidFill>
                  <a:schemeClr val="dk1"/>
                </a:solidFill>
                <a:latin typeface="Times New Roman"/>
                <a:ea typeface="Times New Roman"/>
                <a:cs typeface="Times New Roman"/>
                <a:sym typeface="Times New Roman"/>
              </a:rPr>
              <a:t> son los costes iniciales de capital</a:t>
            </a:r>
            <a:r>
              <a:rPr lang="es-ES" sz="1000" i="1" noProof="0" dirty="0">
                <a:solidFill>
                  <a:schemeClr val="dk1"/>
                </a:solidFill>
                <a:latin typeface="Times New Roman"/>
                <a:ea typeface="Times New Roman"/>
                <a:cs typeface="Times New Roman"/>
                <a:sym typeface="Times New Roman"/>
              </a:rPr>
              <a:t>.</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O&amp;M</a:t>
            </a:r>
            <a:r>
              <a:rPr lang="es-ES" sz="1000" noProof="0" dirty="0">
                <a:solidFill>
                  <a:schemeClr val="dk1"/>
                </a:solidFill>
                <a:latin typeface="Times New Roman"/>
                <a:ea typeface="Times New Roman"/>
                <a:cs typeface="Times New Roman"/>
                <a:sym typeface="Times New Roman"/>
              </a:rPr>
              <a:t> son los costes anuales de operación y mantenimiento</a:t>
            </a:r>
            <a:r>
              <a:rPr lang="es-ES" sz="1000" i="1" noProof="0" dirty="0">
                <a:solidFill>
                  <a:schemeClr val="dk1"/>
                </a:solidFill>
                <a:latin typeface="Times New Roman"/>
                <a:ea typeface="Times New Roman"/>
                <a:cs typeface="Times New Roman"/>
                <a:sym typeface="Times New Roman"/>
              </a:rPr>
              <a:t>.</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F</a:t>
            </a:r>
            <a:r>
              <a:rPr lang="es-ES" sz="1000" noProof="0" dirty="0">
                <a:solidFill>
                  <a:schemeClr val="dk1"/>
                </a:solidFill>
                <a:latin typeface="Times New Roman"/>
                <a:ea typeface="Times New Roman"/>
                <a:cs typeface="Times New Roman"/>
                <a:sym typeface="Times New Roman"/>
              </a:rPr>
              <a:t> son los costes anuales de combustible.</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TCR </a:t>
            </a:r>
            <a:r>
              <a:rPr lang="es-ES" sz="1000" noProof="0" dirty="0">
                <a:solidFill>
                  <a:schemeClr val="dk1"/>
                </a:solidFill>
                <a:latin typeface="Times New Roman"/>
                <a:ea typeface="Times New Roman"/>
                <a:cs typeface="Times New Roman"/>
                <a:sym typeface="Times New Roman"/>
              </a:rPr>
              <a:t>son los costes anuales de impuestos, seguros, etc.</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AEP </a:t>
            </a:r>
            <a:r>
              <a:rPr lang="es-ES" sz="1000" noProof="0" dirty="0">
                <a:solidFill>
                  <a:schemeClr val="dk1"/>
                </a:solidFill>
                <a:latin typeface="Times New Roman"/>
                <a:ea typeface="Times New Roman"/>
                <a:cs typeface="Times New Roman"/>
                <a:sym typeface="Times New Roman"/>
              </a:rPr>
              <a:t>es la energía anual generada.</a:t>
            </a:r>
          </a:p>
        </p:txBody>
      </p:sp>
      <p:sp>
        <p:nvSpPr>
          <p:cNvPr id="3" name="Google Shape;406;p35">
            <a:extLst>
              <a:ext uri="{FF2B5EF4-FFF2-40B4-BE49-F238E27FC236}">
                <a16:creationId xmlns:a16="http://schemas.microsoft.com/office/drawing/2014/main" id="{54BEC9BB-7E67-4E85-7684-D81AB4135F67}"/>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dirty="0"/>
              <a:t>Uso de la energía</a:t>
            </a:r>
          </a:p>
        </p:txBody>
      </p:sp>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9E57A1AA-D38D-282F-BBF3-FBA482106EFE}"/>
                  </a:ext>
                </a:extLst>
              </p:cNvPr>
              <p:cNvSpPr txBox="1"/>
              <p:nvPr/>
            </p:nvSpPr>
            <p:spPr>
              <a:xfrm>
                <a:off x="971550" y="6119231"/>
                <a:ext cx="1809149" cy="51270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𝐹𝐶𝑅</m:t>
                      </m:r>
                      <m:r>
                        <a:rPr lang="es-ES" sz="1600" b="0" i="1" smtClean="0">
                          <a:latin typeface="Cambria Math" panose="02040503050406030204" pitchFamily="18" charset="0"/>
                        </a:rPr>
                        <m:t>=</m:t>
                      </m:r>
                      <m:f>
                        <m:fPr>
                          <m:ctrlPr>
                            <a:rPr lang="es-ES" sz="1600" b="0" i="1" smtClean="0">
                              <a:latin typeface="Cambria Math" panose="02040503050406030204" pitchFamily="18" charset="0"/>
                            </a:rPr>
                          </m:ctrlPr>
                        </m:fPr>
                        <m:num>
                          <m:r>
                            <a:rPr lang="es-ES" sz="1600" b="0" i="1" smtClean="0">
                              <a:latin typeface="Cambria Math" panose="02040503050406030204" pitchFamily="18" charset="0"/>
                            </a:rPr>
                            <m:t>𝑟</m:t>
                          </m:r>
                          <m:sSup>
                            <m:sSupPr>
                              <m:ctrlPr>
                                <a:rPr lang="es-ES" sz="1600" b="0" i="1" smtClean="0">
                                  <a:latin typeface="Cambria Math" panose="02040503050406030204" pitchFamily="18" charset="0"/>
                                </a:rPr>
                              </m:ctrlPr>
                            </m:sSupPr>
                            <m:e>
                              <m:d>
                                <m:dPr>
                                  <m:ctrlPr>
                                    <a:rPr lang="es-ES" sz="1600" b="0" i="1" smtClean="0">
                                      <a:latin typeface="Cambria Math" panose="02040503050406030204" pitchFamily="18" charset="0"/>
                                    </a:rPr>
                                  </m:ctrlPr>
                                </m:dPr>
                                <m:e>
                                  <m:r>
                                    <a:rPr lang="es-ES" sz="1600" b="0" i="1" smtClean="0">
                                      <a:latin typeface="Cambria Math" panose="02040503050406030204" pitchFamily="18" charset="0"/>
                                    </a:rPr>
                                    <m:t>1+</m:t>
                                  </m:r>
                                  <m:r>
                                    <a:rPr lang="es-ES" sz="1600" b="0" i="1" smtClean="0">
                                      <a:latin typeface="Cambria Math" panose="02040503050406030204" pitchFamily="18" charset="0"/>
                                    </a:rPr>
                                    <m:t>𝑟</m:t>
                                  </m:r>
                                </m:e>
                              </m:d>
                            </m:e>
                            <m:sup>
                              <m:r>
                                <a:rPr lang="es-ES" sz="1600" b="0" i="1" smtClean="0">
                                  <a:latin typeface="Cambria Math" panose="02040503050406030204" pitchFamily="18" charset="0"/>
                                </a:rPr>
                                <m:t>𝑛</m:t>
                              </m:r>
                            </m:sup>
                          </m:sSup>
                        </m:num>
                        <m:den>
                          <m:sSup>
                            <m:sSupPr>
                              <m:ctrlPr>
                                <a:rPr lang="es-ES" sz="1600" b="0" i="1" smtClean="0">
                                  <a:latin typeface="Cambria Math" panose="02040503050406030204" pitchFamily="18" charset="0"/>
                                </a:rPr>
                              </m:ctrlPr>
                            </m:sSupPr>
                            <m:e>
                              <m:d>
                                <m:dPr>
                                  <m:ctrlPr>
                                    <a:rPr lang="es-ES" sz="1600" b="0" i="1" smtClean="0">
                                      <a:latin typeface="Cambria Math" panose="02040503050406030204" pitchFamily="18" charset="0"/>
                                    </a:rPr>
                                  </m:ctrlPr>
                                </m:dPr>
                                <m:e>
                                  <m:r>
                                    <a:rPr lang="es-ES" sz="1600" b="0" i="1" smtClean="0">
                                      <a:latin typeface="Cambria Math" panose="02040503050406030204" pitchFamily="18" charset="0"/>
                                    </a:rPr>
                                    <m:t>1+</m:t>
                                  </m:r>
                                  <m:r>
                                    <a:rPr lang="es-ES" sz="1600" b="0" i="1" smtClean="0">
                                      <a:latin typeface="Cambria Math" panose="02040503050406030204" pitchFamily="18" charset="0"/>
                                    </a:rPr>
                                    <m:t>𝑟</m:t>
                                  </m:r>
                                </m:e>
                              </m:d>
                            </m:e>
                            <m:sup>
                              <m:r>
                                <a:rPr lang="es-ES" sz="1600" b="0" i="1" smtClean="0">
                                  <a:latin typeface="Cambria Math" panose="02040503050406030204" pitchFamily="18" charset="0"/>
                                </a:rPr>
                                <m:t>𝑛</m:t>
                              </m:r>
                            </m:sup>
                          </m:sSup>
                          <m:r>
                            <a:rPr lang="es-ES" sz="1600" b="0" i="1" smtClean="0">
                              <a:latin typeface="Cambria Math" panose="02040503050406030204" pitchFamily="18" charset="0"/>
                            </a:rPr>
                            <m:t>−1</m:t>
                          </m:r>
                        </m:den>
                      </m:f>
                    </m:oMath>
                  </m:oMathPara>
                </a14:m>
                <a:endParaRPr lang="en-US" sz="1600" dirty="0"/>
              </a:p>
            </p:txBody>
          </p:sp>
        </mc:Choice>
        <mc:Fallback>
          <p:sp>
            <p:nvSpPr>
              <p:cNvPr id="6" name="CuadroTexto 5">
                <a:extLst>
                  <a:ext uri="{FF2B5EF4-FFF2-40B4-BE49-F238E27FC236}">
                    <a16:creationId xmlns:a16="http://schemas.microsoft.com/office/drawing/2014/main" id="{9E57A1AA-D38D-282F-BBF3-FBA482106EFE}"/>
                  </a:ext>
                </a:extLst>
              </p:cNvPr>
              <p:cNvSpPr txBox="1">
                <a:spLocks noRot="1" noChangeAspect="1" noMove="1" noResize="1" noEditPoints="1" noAdjustHandles="1" noChangeArrowheads="1" noChangeShapeType="1" noTextEdit="1"/>
              </p:cNvSpPr>
              <p:nvPr/>
            </p:nvSpPr>
            <p:spPr>
              <a:xfrm>
                <a:off x="971550" y="6119231"/>
                <a:ext cx="1809149" cy="51270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DAC8AA35-D247-4ECE-196A-18674D284FB5}"/>
                  </a:ext>
                </a:extLst>
              </p:cNvPr>
              <p:cNvSpPr txBox="1"/>
              <p:nvPr/>
            </p:nvSpPr>
            <p:spPr>
              <a:xfrm>
                <a:off x="3247424" y="6195666"/>
                <a:ext cx="2486723" cy="35753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600" b="0" i="1" smtClean="0">
                          <a:latin typeface="Cambria Math" panose="02040503050406030204" pitchFamily="18" charset="0"/>
                        </a:rPr>
                        <m:t>𝐴𝐸𝑃</m:t>
                      </m:r>
                      <m:r>
                        <a:rPr lang="es-ES" sz="1600" b="0" i="1" smtClean="0">
                          <a:latin typeface="Cambria Math" panose="02040503050406030204" pitchFamily="18" charset="0"/>
                        </a:rPr>
                        <m:t>=</m:t>
                      </m:r>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𝑃</m:t>
                          </m:r>
                        </m:e>
                        <m:sub>
                          <m:r>
                            <a:rPr lang="es-ES" sz="1600" b="0" i="1" smtClean="0">
                              <a:latin typeface="Cambria Math" panose="02040503050406030204" pitchFamily="18" charset="0"/>
                            </a:rPr>
                            <m:t>𝑛𝑜𝑚</m:t>
                          </m:r>
                        </m:sub>
                      </m:sSub>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h</m:t>
                          </m:r>
                        </m:e>
                        <m:sub>
                          <m:r>
                            <a:rPr lang="es-ES" sz="1600" b="0" i="1" smtClean="0">
                              <a:latin typeface="Cambria Math" panose="02040503050406030204" pitchFamily="18" charset="0"/>
                            </a:rPr>
                            <m:t>𝑜𝑝𝑒𝑟𝑎𝑐𝑖</m:t>
                          </m:r>
                          <m:r>
                            <a:rPr lang="es-ES" sz="1600" b="0" i="1" smtClean="0">
                              <a:latin typeface="Cambria Math" panose="02040503050406030204" pitchFamily="18" charset="0"/>
                            </a:rPr>
                            <m:t>ó</m:t>
                          </m:r>
                          <m:r>
                            <a:rPr lang="es-ES" sz="1600" b="0" i="1" smtClean="0">
                              <a:latin typeface="Cambria Math" panose="02040503050406030204" pitchFamily="18" charset="0"/>
                            </a:rPr>
                            <m:t>𝑛</m:t>
                          </m:r>
                        </m:sub>
                      </m:sSub>
                    </m:oMath>
                  </m:oMathPara>
                </a14:m>
                <a:endParaRPr lang="en-US" dirty="0"/>
              </a:p>
            </p:txBody>
          </p:sp>
        </mc:Choice>
        <mc:Fallback>
          <p:sp>
            <p:nvSpPr>
              <p:cNvPr id="10" name="CuadroTexto 9">
                <a:extLst>
                  <a:ext uri="{FF2B5EF4-FFF2-40B4-BE49-F238E27FC236}">
                    <a16:creationId xmlns:a16="http://schemas.microsoft.com/office/drawing/2014/main" id="{DAC8AA35-D247-4ECE-196A-18674D284FB5}"/>
                  </a:ext>
                </a:extLst>
              </p:cNvPr>
              <p:cNvSpPr txBox="1">
                <a:spLocks noRot="1" noChangeAspect="1" noMove="1" noResize="1" noEditPoints="1" noAdjustHandles="1" noChangeArrowheads="1" noChangeShapeType="1" noTextEdit="1"/>
              </p:cNvSpPr>
              <p:nvPr/>
            </p:nvSpPr>
            <p:spPr>
              <a:xfrm>
                <a:off x="3247424" y="6195666"/>
                <a:ext cx="2486723" cy="357534"/>
              </a:xfrm>
              <a:prstGeom prst="rect">
                <a:avLst/>
              </a:prstGeom>
              <a:blipFill>
                <a:blip r:embed="rId8"/>
                <a:stretch>
                  <a:fillRect b="-6780"/>
                </a:stretch>
              </a:blipFill>
            </p:spPr>
            <p:txBody>
              <a:bodyPr/>
              <a:lstStyle/>
              <a:p>
                <a:r>
                  <a:rPr lang="en-US">
                    <a:noFill/>
                  </a:rPr>
                  <a:t> </a:t>
                </a:r>
              </a:p>
            </p:txBody>
          </p:sp>
        </mc:Fallback>
      </mc:AlternateContent>
    </p:spTree>
    <p:extLst>
      <p:ext uri="{BB962C8B-B14F-4D97-AF65-F5344CB8AC3E}">
        <p14:creationId xmlns:p14="http://schemas.microsoft.com/office/powerpoint/2010/main" val="2502248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5" name="Google Shape;445;p39"/>
          <p:cNvSpPr txBox="1">
            <a:spLocks noGrp="1"/>
          </p:cNvSpPr>
          <p:nvPr>
            <p:ph type="body" idx="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Uso de la energía</a:t>
            </a:r>
          </a:p>
        </p:txBody>
      </p:sp>
      <p:sp>
        <p:nvSpPr>
          <p:cNvPr id="444" name="Google Shape;444;p39"/>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36</a:t>
            </a:fld>
            <a:endParaRPr lang="es-ES" noProof="0" dirty="0"/>
          </a:p>
        </p:txBody>
      </p:sp>
      <p:sp>
        <p:nvSpPr>
          <p:cNvPr id="18" name="Google Shape;446;p39">
            <a:extLst>
              <a:ext uri="{FF2B5EF4-FFF2-40B4-BE49-F238E27FC236}">
                <a16:creationId xmlns:a16="http://schemas.microsoft.com/office/drawing/2014/main" id="{4EC4FC0B-F5FF-49A5-B38C-FA343F000351}"/>
              </a:ext>
            </a:extLst>
          </p:cNvPr>
          <p:cNvSpPr txBox="1"/>
          <p:nvPr/>
        </p:nvSpPr>
        <p:spPr>
          <a:xfrm>
            <a:off x="853466" y="470047"/>
            <a:ext cx="797303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cs typeface="Times New Roman"/>
                <a:sym typeface="Times New Roman"/>
              </a:rPr>
              <a:t>Coste de la energía: LCOE</a:t>
            </a:r>
            <a:endParaRPr lang="es-ES" noProof="0" dirty="0"/>
          </a:p>
        </p:txBody>
      </p:sp>
      <p:pic>
        <p:nvPicPr>
          <p:cNvPr id="3" name="Imagen 2">
            <a:extLst>
              <a:ext uri="{FF2B5EF4-FFF2-40B4-BE49-F238E27FC236}">
                <a16:creationId xmlns:a16="http://schemas.microsoft.com/office/drawing/2014/main" id="{5DEB3545-C089-BB59-56BD-96DFF8423A78}"/>
              </a:ext>
            </a:extLst>
          </p:cNvPr>
          <p:cNvPicPr>
            <a:picLocks noChangeAspect="1"/>
          </p:cNvPicPr>
          <p:nvPr/>
        </p:nvPicPr>
        <p:blipFill>
          <a:blip r:embed="rId3"/>
          <a:stretch>
            <a:fillRect/>
          </a:stretch>
        </p:blipFill>
        <p:spPr>
          <a:xfrm>
            <a:off x="637171" y="1769382"/>
            <a:ext cx="8506829" cy="3534137"/>
          </a:xfrm>
          <a:prstGeom prst="rect">
            <a:avLst/>
          </a:prstGeom>
        </p:spPr>
      </p:pic>
      <p:sp>
        <p:nvSpPr>
          <p:cNvPr id="4" name="Google Shape;447;p39">
            <a:extLst>
              <a:ext uri="{FF2B5EF4-FFF2-40B4-BE49-F238E27FC236}">
                <a16:creationId xmlns:a16="http://schemas.microsoft.com/office/drawing/2014/main" id="{ED3FB4FB-1624-7620-817B-607C24EB801E}"/>
              </a:ext>
            </a:extLst>
          </p:cNvPr>
          <p:cNvSpPr txBox="1"/>
          <p:nvPr/>
        </p:nvSpPr>
        <p:spPr>
          <a:xfrm>
            <a:off x="2259936" y="5668946"/>
            <a:ext cx="512736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err="1">
                <a:solidFill>
                  <a:schemeClr val="dk1"/>
                </a:solidFill>
                <a:latin typeface="Times New Roman"/>
                <a:ea typeface="Times New Roman"/>
                <a:cs typeface="Times New Roman"/>
                <a:sym typeface="Times New Roman"/>
              </a:rPr>
              <a:t>Fuente:“Lazard</a:t>
            </a:r>
            <a:r>
              <a:rPr lang="es-ES" sz="1400" i="1" noProof="0" dirty="0">
                <a:solidFill>
                  <a:schemeClr val="dk1"/>
                </a:solidFill>
                <a:latin typeface="Times New Roman"/>
                <a:ea typeface="Times New Roman"/>
                <a:cs typeface="Times New Roman"/>
                <a:sym typeface="Times New Roman"/>
              </a:rPr>
              <a:t> LCOE+, june 2024”. </a:t>
            </a:r>
            <a:endParaRPr lang="es-ES" noProof="0" dirty="0"/>
          </a:p>
        </p:txBody>
      </p:sp>
      <p:sp>
        <p:nvSpPr>
          <p:cNvPr id="10" name="CuadroTexto 9">
            <a:extLst>
              <a:ext uri="{FF2B5EF4-FFF2-40B4-BE49-F238E27FC236}">
                <a16:creationId xmlns:a16="http://schemas.microsoft.com/office/drawing/2014/main" id="{664E983C-3754-20C1-1AF9-CE868730189E}"/>
              </a:ext>
            </a:extLst>
          </p:cNvPr>
          <p:cNvSpPr txBox="1"/>
          <p:nvPr/>
        </p:nvSpPr>
        <p:spPr>
          <a:xfrm>
            <a:off x="701040" y="1088268"/>
            <a:ext cx="7292340" cy="369332"/>
          </a:xfrm>
          <a:prstGeom prst="rect">
            <a:avLst/>
          </a:prstGeom>
          <a:noFill/>
        </p:spPr>
        <p:txBody>
          <a:bodyPr wrap="square">
            <a:spAutoFit/>
          </a:bodyPr>
          <a:lstStyle/>
          <a:p>
            <a:pPr marR="70730" algn="l"/>
            <a:r>
              <a:rPr lang="es-ES" sz="1800" noProof="0" dirty="0">
                <a:solidFill>
                  <a:schemeClr val="dk1"/>
                </a:solidFill>
                <a:latin typeface="Times New Roman"/>
                <a:cs typeface="Times New Roman"/>
              </a:rPr>
              <a:t>Comparativa del LCOE para diferentes tecnologías</a:t>
            </a:r>
          </a:p>
        </p:txBody>
      </p:sp>
      <p:sp>
        <p:nvSpPr>
          <p:cNvPr id="11" name="Rectángulo 10">
            <a:extLst>
              <a:ext uri="{FF2B5EF4-FFF2-40B4-BE49-F238E27FC236}">
                <a16:creationId xmlns:a16="http://schemas.microsoft.com/office/drawing/2014/main" id="{404C243F-0D55-83E6-5222-C5C21AD77035}"/>
              </a:ext>
            </a:extLst>
          </p:cNvPr>
          <p:cNvSpPr/>
          <p:nvPr/>
        </p:nvSpPr>
        <p:spPr>
          <a:xfrm>
            <a:off x="1676400" y="5158740"/>
            <a:ext cx="2400300"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5" name="Google Shape;406;p35">
            <a:extLst>
              <a:ext uri="{FF2B5EF4-FFF2-40B4-BE49-F238E27FC236}">
                <a16:creationId xmlns:a16="http://schemas.microsoft.com/office/drawing/2014/main" id="{367675B4-4196-7E9A-0B5F-49AD2461247E}"/>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dirty="0"/>
              <a:t>Uso de la energía</a:t>
            </a:r>
          </a:p>
        </p:txBody>
      </p:sp>
    </p:spTree>
    <p:extLst>
      <p:ext uri="{BB962C8B-B14F-4D97-AF65-F5344CB8AC3E}">
        <p14:creationId xmlns:p14="http://schemas.microsoft.com/office/powerpoint/2010/main" val="42722722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5" name="Google Shape;445;p39"/>
          <p:cNvSpPr txBox="1">
            <a:spLocks noGrp="1"/>
          </p:cNvSpPr>
          <p:nvPr>
            <p:ph type="body" idx="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Uso de la energía</a:t>
            </a:r>
          </a:p>
        </p:txBody>
      </p:sp>
      <p:sp>
        <p:nvSpPr>
          <p:cNvPr id="444" name="Google Shape;444;p39"/>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37</a:t>
            </a:fld>
            <a:endParaRPr lang="es-ES" noProof="0" dirty="0"/>
          </a:p>
        </p:txBody>
      </p:sp>
      <p:sp>
        <p:nvSpPr>
          <p:cNvPr id="18" name="Google Shape;446;p39">
            <a:extLst>
              <a:ext uri="{FF2B5EF4-FFF2-40B4-BE49-F238E27FC236}">
                <a16:creationId xmlns:a16="http://schemas.microsoft.com/office/drawing/2014/main" id="{4EC4FC0B-F5FF-49A5-B38C-FA343F000351}"/>
              </a:ext>
            </a:extLst>
          </p:cNvPr>
          <p:cNvSpPr txBox="1"/>
          <p:nvPr/>
        </p:nvSpPr>
        <p:spPr>
          <a:xfrm>
            <a:off x="853466" y="470047"/>
            <a:ext cx="797303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cs typeface="Times New Roman"/>
                <a:sym typeface="Times New Roman"/>
              </a:rPr>
              <a:t>Coste de la energía: LCOE</a:t>
            </a:r>
            <a:endParaRPr lang="es-ES" noProof="0" dirty="0"/>
          </a:p>
        </p:txBody>
      </p:sp>
      <p:sp>
        <p:nvSpPr>
          <p:cNvPr id="4" name="Google Shape;447;p39">
            <a:extLst>
              <a:ext uri="{FF2B5EF4-FFF2-40B4-BE49-F238E27FC236}">
                <a16:creationId xmlns:a16="http://schemas.microsoft.com/office/drawing/2014/main" id="{ED3FB4FB-1624-7620-817B-607C24EB801E}"/>
              </a:ext>
            </a:extLst>
          </p:cNvPr>
          <p:cNvSpPr txBox="1"/>
          <p:nvPr/>
        </p:nvSpPr>
        <p:spPr>
          <a:xfrm>
            <a:off x="2259936" y="5668946"/>
            <a:ext cx="512736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err="1">
                <a:solidFill>
                  <a:schemeClr val="dk1"/>
                </a:solidFill>
                <a:latin typeface="Times New Roman"/>
                <a:ea typeface="Times New Roman"/>
                <a:cs typeface="Times New Roman"/>
                <a:sym typeface="Times New Roman"/>
              </a:rPr>
              <a:t>Fuente:“Lazard</a:t>
            </a:r>
            <a:r>
              <a:rPr lang="es-ES" sz="1400" i="1" noProof="0" dirty="0">
                <a:solidFill>
                  <a:schemeClr val="dk1"/>
                </a:solidFill>
                <a:latin typeface="Times New Roman"/>
                <a:ea typeface="Times New Roman"/>
                <a:cs typeface="Times New Roman"/>
                <a:sym typeface="Times New Roman"/>
              </a:rPr>
              <a:t> LCOE+, june 2024”.</a:t>
            </a:r>
            <a:endParaRPr lang="es-ES" noProof="0" dirty="0"/>
          </a:p>
        </p:txBody>
      </p:sp>
      <p:sp>
        <p:nvSpPr>
          <p:cNvPr id="10" name="CuadroTexto 9">
            <a:extLst>
              <a:ext uri="{FF2B5EF4-FFF2-40B4-BE49-F238E27FC236}">
                <a16:creationId xmlns:a16="http://schemas.microsoft.com/office/drawing/2014/main" id="{664E983C-3754-20C1-1AF9-CE868730189E}"/>
              </a:ext>
            </a:extLst>
          </p:cNvPr>
          <p:cNvSpPr txBox="1"/>
          <p:nvPr/>
        </p:nvSpPr>
        <p:spPr>
          <a:xfrm>
            <a:off x="701040" y="1088268"/>
            <a:ext cx="7292340" cy="369332"/>
          </a:xfrm>
          <a:prstGeom prst="rect">
            <a:avLst/>
          </a:prstGeom>
          <a:noFill/>
        </p:spPr>
        <p:txBody>
          <a:bodyPr wrap="square">
            <a:spAutoFit/>
          </a:bodyPr>
          <a:lstStyle/>
          <a:p>
            <a:pPr marR="70730" algn="l"/>
            <a:r>
              <a:rPr lang="es-ES" sz="1800" noProof="0" dirty="0">
                <a:solidFill>
                  <a:schemeClr val="dk1"/>
                </a:solidFill>
                <a:latin typeface="Times New Roman"/>
                <a:cs typeface="Times New Roman"/>
              </a:rPr>
              <a:t>Evolución del LCOE para diferentes tecnologías</a:t>
            </a:r>
          </a:p>
        </p:txBody>
      </p:sp>
      <p:pic>
        <p:nvPicPr>
          <p:cNvPr id="5" name="Imagen 4">
            <a:extLst>
              <a:ext uri="{FF2B5EF4-FFF2-40B4-BE49-F238E27FC236}">
                <a16:creationId xmlns:a16="http://schemas.microsoft.com/office/drawing/2014/main" id="{E0109B3B-58F1-0BB6-F6AF-C9C8ED46977C}"/>
              </a:ext>
            </a:extLst>
          </p:cNvPr>
          <p:cNvPicPr>
            <a:picLocks noChangeAspect="1"/>
          </p:cNvPicPr>
          <p:nvPr/>
        </p:nvPicPr>
        <p:blipFill>
          <a:blip r:embed="rId3"/>
          <a:stretch>
            <a:fillRect/>
          </a:stretch>
        </p:blipFill>
        <p:spPr>
          <a:xfrm>
            <a:off x="701040" y="1558027"/>
            <a:ext cx="8191479" cy="3879105"/>
          </a:xfrm>
          <a:prstGeom prst="rect">
            <a:avLst/>
          </a:prstGeom>
        </p:spPr>
      </p:pic>
      <p:sp>
        <p:nvSpPr>
          <p:cNvPr id="6" name="Rectángulo 5">
            <a:extLst>
              <a:ext uri="{FF2B5EF4-FFF2-40B4-BE49-F238E27FC236}">
                <a16:creationId xmlns:a16="http://schemas.microsoft.com/office/drawing/2014/main" id="{5B132E63-A0B5-7846-5AC9-BB83E12C17FE}"/>
              </a:ext>
            </a:extLst>
          </p:cNvPr>
          <p:cNvSpPr/>
          <p:nvPr/>
        </p:nvSpPr>
        <p:spPr>
          <a:xfrm>
            <a:off x="617220" y="5227320"/>
            <a:ext cx="457200" cy="2098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3" name="Google Shape;406;p35">
            <a:extLst>
              <a:ext uri="{FF2B5EF4-FFF2-40B4-BE49-F238E27FC236}">
                <a16:creationId xmlns:a16="http://schemas.microsoft.com/office/drawing/2014/main" id="{F37880BE-69DE-BB6E-2D05-18C49094DB55}"/>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dirty="0"/>
              <a:t>Uso de la energía</a:t>
            </a:r>
          </a:p>
        </p:txBody>
      </p:sp>
    </p:spTree>
    <p:extLst>
      <p:ext uri="{BB962C8B-B14F-4D97-AF65-F5344CB8AC3E}">
        <p14:creationId xmlns:p14="http://schemas.microsoft.com/office/powerpoint/2010/main" val="39253061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3">
          <a:extLst>
            <a:ext uri="{FF2B5EF4-FFF2-40B4-BE49-F238E27FC236}">
              <a16:creationId xmlns:a16="http://schemas.microsoft.com/office/drawing/2014/main" id="{E41AD9CF-EBD8-A6A8-E0D4-3F77A81C5876}"/>
            </a:ext>
          </a:extLst>
        </p:cNvPr>
        <p:cNvGrpSpPr/>
        <p:nvPr/>
      </p:nvGrpSpPr>
      <p:grpSpPr>
        <a:xfrm>
          <a:off x="0" y="0"/>
          <a:ext cx="0" cy="0"/>
          <a:chOff x="0" y="0"/>
          <a:chExt cx="0" cy="0"/>
        </a:xfrm>
      </p:grpSpPr>
      <p:sp>
        <p:nvSpPr>
          <p:cNvPr id="444" name="Google Shape;444;p39">
            <a:extLst>
              <a:ext uri="{FF2B5EF4-FFF2-40B4-BE49-F238E27FC236}">
                <a16:creationId xmlns:a16="http://schemas.microsoft.com/office/drawing/2014/main" id="{7CEA0DE5-47EB-155D-9D5B-D51ADA692D0E}"/>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38</a:t>
            </a:fld>
            <a:endParaRPr lang="es-ES" noProof="0" dirty="0"/>
          </a:p>
        </p:txBody>
      </p:sp>
      <p:sp>
        <p:nvSpPr>
          <p:cNvPr id="18" name="Google Shape;446;p39">
            <a:extLst>
              <a:ext uri="{FF2B5EF4-FFF2-40B4-BE49-F238E27FC236}">
                <a16:creationId xmlns:a16="http://schemas.microsoft.com/office/drawing/2014/main" id="{9E99E2E9-2231-045B-4358-4AA1F17CE8CD}"/>
              </a:ext>
            </a:extLst>
          </p:cNvPr>
          <p:cNvSpPr txBox="1"/>
          <p:nvPr/>
        </p:nvSpPr>
        <p:spPr>
          <a:xfrm>
            <a:off x="853466" y="470047"/>
            <a:ext cx="797303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cs typeface="Times New Roman"/>
                <a:sym typeface="Times New Roman"/>
              </a:rPr>
              <a:t>Coste de la energía: LCOE</a:t>
            </a:r>
            <a:endParaRPr lang="es-ES" noProof="0" dirty="0"/>
          </a:p>
        </p:txBody>
      </p:sp>
      <p:pic>
        <p:nvPicPr>
          <p:cNvPr id="16" name="Imagen 15" descr="\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garnet}{RGB}{0,14,120}&#10;\definecolor{CyF}{RGB}{178,223,219}&#10;&#10;\pagestyle{empty}&#10;&#10;&#10;\begin{document}&#10;&#10;$\textrm{LCOE}=\frac{FCR\times ICC + O\&amp;M+F+TCR}{AEP}$&#10;&#10;\end{document}&#10;" title="IguanaTex Bitmap Display">
            <a:extLst>
              <a:ext uri="{FF2B5EF4-FFF2-40B4-BE49-F238E27FC236}">
                <a16:creationId xmlns:a16="http://schemas.microsoft.com/office/drawing/2014/main" id="{085AB7B2-9F3C-E586-CA6B-9A54C1BFA5C5}"/>
              </a:ext>
            </a:extLst>
          </p:cNvPr>
          <p:cNvPicPr>
            <a:picLocks noChangeAspect="1"/>
          </p:cNvPicPr>
          <p:nvPr>
            <p:custDataLst>
              <p:tags r:id="rId1"/>
            </p:custDataLst>
          </p:nvPr>
        </p:nvPicPr>
        <p:blipFill>
          <a:blip r:embed="rId4"/>
          <a:stretch>
            <a:fillRect/>
          </a:stretch>
        </p:blipFill>
        <p:spPr>
          <a:xfrm>
            <a:off x="1214236" y="5592182"/>
            <a:ext cx="3718753" cy="314208"/>
          </a:xfrm>
          <a:prstGeom prst="rect">
            <a:avLst/>
          </a:prstGeom>
        </p:spPr>
      </p:pic>
      <p:sp>
        <p:nvSpPr>
          <p:cNvPr id="17" name="Google Shape;540;p49">
            <a:extLst>
              <a:ext uri="{FF2B5EF4-FFF2-40B4-BE49-F238E27FC236}">
                <a16:creationId xmlns:a16="http://schemas.microsoft.com/office/drawing/2014/main" id="{E032A0DA-A873-DDB3-5AD9-DF4C45B754AC}"/>
              </a:ext>
            </a:extLst>
          </p:cNvPr>
          <p:cNvSpPr/>
          <p:nvPr/>
        </p:nvSpPr>
        <p:spPr>
          <a:xfrm>
            <a:off x="5269287" y="5206072"/>
            <a:ext cx="3406401" cy="11695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FCR</a:t>
            </a:r>
            <a:r>
              <a:rPr lang="es-ES" sz="1000" noProof="0" dirty="0">
                <a:solidFill>
                  <a:schemeClr val="dk1"/>
                </a:solidFill>
                <a:latin typeface="Times New Roman"/>
                <a:ea typeface="Times New Roman"/>
                <a:cs typeface="Times New Roman"/>
                <a:sym typeface="Times New Roman"/>
              </a:rPr>
              <a:t> Es una tasa de cargo fijo para anualizar los costes iniciales de capital (incluye la depreciación, impuestos, etc.)</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ICC</a:t>
            </a:r>
            <a:r>
              <a:rPr lang="es-ES" sz="1000" noProof="0" dirty="0">
                <a:solidFill>
                  <a:schemeClr val="dk1"/>
                </a:solidFill>
                <a:latin typeface="Times New Roman"/>
                <a:ea typeface="Times New Roman"/>
                <a:cs typeface="Times New Roman"/>
                <a:sym typeface="Times New Roman"/>
              </a:rPr>
              <a:t> son los costes iniciales de capital</a:t>
            </a:r>
            <a:r>
              <a:rPr lang="es-ES" sz="1000" i="1" noProof="0" dirty="0">
                <a:solidFill>
                  <a:schemeClr val="dk1"/>
                </a:solidFill>
                <a:latin typeface="Times New Roman"/>
                <a:ea typeface="Times New Roman"/>
                <a:cs typeface="Times New Roman"/>
                <a:sym typeface="Times New Roman"/>
              </a:rPr>
              <a:t>.</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O&amp;M</a:t>
            </a:r>
            <a:r>
              <a:rPr lang="es-ES" sz="1000" noProof="0" dirty="0">
                <a:solidFill>
                  <a:schemeClr val="dk1"/>
                </a:solidFill>
                <a:latin typeface="Times New Roman"/>
                <a:ea typeface="Times New Roman"/>
                <a:cs typeface="Times New Roman"/>
                <a:sym typeface="Times New Roman"/>
              </a:rPr>
              <a:t> son los costes anuales de operación y mantenimiento</a:t>
            </a:r>
            <a:r>
              <a:rPr lang="es-ES" sz="1000" i="1" noProof="0" dirty="0">
                <a:solidFill>
                  <a:schemeClr val="dk1"/>
                </a:solidFill>
                <a:latin typeface="Times New Roman"/>
                <a:ea typeface="Times New Roman"/>
                <a:cs typeface="Times New Roman"/>
                <a:sym typeface="Times New Roman"/>
              </a:rPr>
              <a:t>.</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F</a:t>
            </a:r>
            <a:r>
              <a:rPr lang="es-ES" sz="1000" noProof="0" dirty="0">
                <a:solidFill>
                  <a:schemeClr val="dk1"/>
                </a:solidFill>
                <a:latin typeface="Times New Roman"/>
                <a:ea typeface="Times New Roman"/>
                <a:cs typeface="Times New Roman"/>
                <a:sym typeface="Times New Roman"/>
              </a:rPr>
              <a:t> son los costes anuales de combustible.</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TCR </a:t>
            </a:r>
            <a:r>
              <a:rPr lang="es-ES" sz="1000" noProof="0" dirty="0">
                <a:solidFill>
                  <a:schemeClr val="dk1"/>
                </a:solidFill>
                <a:latin typeface="Times New Roman"/>
                <a:ea typeface="Times New Roman"/>
                <a:cs typeface="Times New Roman"/>
                <a:sym typeface="Times New Roman"/>
              </a:rPr>
              <a:t>son los costes anuales de impuestos, seguros, etc.</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AEP </a:t>
            </a:r>
            <a:r>
              <a:rPr lang="es-ES" sz="1000" noProof="0" dirty="0">
                <a:solidFill>
                  <a:schemeClr val="dk1"/>
                </a:solidFill>
                <a:latin typeface="Times New Roman"/>
                <a:ea typeface="Times New Roman"/>
                <a:cs typeface="Times New Roman"/>
                <a:sym typeface="Times New Roman"/>
              </a:rPr>
              <a:t>es la energía anual generada.</a:t>
            </a: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BA74D9EA-4255-83B7-AF0A-614ACDA6C169}"/>
                  </a:ext>
                </a:extLst>
              </p:cNvPr>
              <p:cNvSpPr txBox="1"/>
              <p:nvPr/>
            </p:nvSpPr>
            <p:spPr>
              <a:xfrm>
                <a:off x="853466" y="1045380"/>
                <a:ext cx="7822222" cy="3898247"/>
              </a:xfrm>
              <a:prstGeom prst="rect">
                <a:avLst/>
              </a:prstGeom>
              <a:noFill/>
            </p:spPr>
            <p:txBody>
              <a:bodyPr wrap="square">
                <a:spAutoFit/>
              </a:bodyPr>
              <a:lstStyle/>
              <a:p>
                <a:pPr algn="just">
                  <a:buClr>
                    <a:schemeClr val="dk1"/>
                  </a:buClr>
                  <a:buSzPts val="2000"/>
                </a:pPr>
                <a:r>
                  <a:rPr lang="es-ES" sz="2000" i="1" noProof="0" dirty="0">
                    <a:solidFill>
                      <a:srgbClr val="0000FF"/>
                    </a:solidFill>
                    <a:latin typeface="Times New Roman"/>
                    <a:ea typeface="Times New Roman"/>
                    <a:cs typeface="Times New Roman"/>
                    <a:sym typeface="Times New Roman"/>
                  </a:rPr>
                  <a:t>Ejemplo 3: LCOE ciclo combinado</a:t>
                </a:r>
              </a:p>
              <a:p>
                <a:pPr algn="just">
                  <a:buClr>
                    <a:schemeClr val="dk1"/>
                  </a:buClr>
                  <a:buSzPts val="2000"/>
                </a:pPr>
                <a:endParaRPr lang="es-ES" sz="1800" noProof="0" dirty="0">
                  <a:solidFill>
                    <a:schemeClr val="dk1"/>
                  </a:solidFill>
                  <a:latin typeface="Times New Roman"/>
                  <a:cs typeface="Times New Roman"/>
                  <a:sym typeface="Times New Roman"/>
                </a:endParaRPr>
              </a:p>
              <a:p>
                <a:pPr lvl="0" eaLnBrk="0" fontAlgn="base" hangingPunct="0">
                  <a:spcBef>
                    <a:spcPct val="0"/>
                  </a:spcBef>
                  <a:spcAft>
                    <a:spcPct val="0"/>
                  </a:spcAft>
                  <a:buClrTx/>
                </a:pPr>
                <a:r>
                  <a:rPr lang="es-ES" sz="1600" noProof="0" dirty="0">
                    <a:solidFill>
                      <a:schemeClr val="dk1"/>
                    </a:solidFill>
                    <a:latin typeface="Times New Roman"/>
                    <a:cs typeface="Times New Roman"/>
                  </a:rPr>
                  <a:t>Una empresa planea construir una planta de ciclo combinado con una capacidad de 500 MW. El proyecto tiene las siguientes características:</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Inversión inicial (ICC): 1100 millones de euros</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Costes de operación y mantenimiento anuales (O&amp;M): 10 millones de euros</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Coste anual de combustible (gas natural): 50 millones de euros</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Vida útil estimada (n): 25 años</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Factor de capacidad: 60% </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Tasa de descuento (r): 6%</a:t>
                </a:r>
              </a:p>
              <a:p>
                <a:pPr lvl="0" eaLnBrk="0" fontAlgn="base" hangingPunct="0">
                  <a:spcBef>
                    <a:spcPct val="0"/>
                  </a:spcBef>
                  <a:spcAft>
                    <a:spcPct val="0"/>
                  </a:spcAft>
                  <a:buClrTx/>
                </a:pPr>
                <a:r>
                  <a:rPr lang="es-ES" sz="1600" noProof="0" dirty="0">
                    <a:solidFill>
                      <a:schemeClr val="dk1"/>
                    </a:solidFill>
                    <a:latin typeface="Times New Roman"/>
                    <a:cs typeface="Times New Roman"/>
                  </a:rPr>
                  <a:t>Calcula el LCOE en €/</a:t>
                </a:r>
                <a:r>
                  <a:rPr lang="es-ES" sz="1600" noProof="0" dirty="0" err="1">
                    <a:solidFill>
                      <a:schemeClr val="dk1"/>
                    </a:solidFill>
                    <a:latin typeface="Times New Roman"/>
                    <a:cs typeface="Times New Roman"/>
                  </a:rPr>
                  <a:t>MWh</a:t>
                </a:r>
                <a:r>
                  <a:rPr lang="es-ES" sz="1600" noProof="0" dirty="0">
                    <a:solidFill>
                      <a:schemeClr val="dk1"/>
                    </a:solidFill>
                    <a:latin typeface="Times New Roman"/>
                    <a:cs typeface="Times New Roman"/>
                  </a:rPr>
                  <a:t>, considerando la siguiente forma del FCR</a:t>
                </a:r>
              </a:p>
              <a:p>
                <a:pPr lvl="0" eaLnBrk="0" fontAlgn="base" hangingPunct="0">
                  <a:spcBef>
                    <a:spcPct val="0"/>
                  </a:spcBef>
                  <a:spcAft>
                    <a:spcPct val="0"/>
                  </a:spcAft>
                  <a:buClrTx/>
                </a:pPr>
                <a:endParaRPr lang="es-ES" sz="1600" noProof="0" dirty="0">
                  <a:solidFill>
                    <a:schemeClr val="dk1"/>
                  </a:solidFill>
                  <a:latin typeface="Times New Roman"/>
                  <a:cs typeface="Times New Roman"/>
                </a:endParaRPr>
              </a:p>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s-ES" sz="1600" b="0" i="1" noProof="0" smtClean="0">
                          <a:solidFill>
                            <a:schemeClr val="dk1"/>
                          </a:solidFill>
                          <a:latin typeface="Cambria Math" panose="02040503050406030204" pitchFamily="18" charset="0"/>
                          <a:cs typeface="Times New Roman"/>
                        </a:rPr>
                        <m:t>𝐹𝐶𝑅</m:t>
                      </m:r>
                      <m:r>
                        <a:rPr lang="es-ES" sz="1600" b="0" i="1" noProof="0" smtClean="0">
                          <a:solidFill>
                            <a:schemeClr val="dk1"/>
                          </a:solidFill>
                          <a:latin typeface="Cambria Math" panose="02040503050406030204" pitchFamily="18" charset="0"/>
                          <a:cs typeface="Times New Roman"/>
                        </a:rPr>
                        <m:t>=</m:t>
                      </m:r>
                      <m:f>
                        <m:fPr>
                          <m:ctrlPr>
                            <a:rPr lang="es-ES" sz="1600" b="0" i="1" noProof="0" smtClean="0">
                              <a:solidFill>
                                <a:schemeClr val="dk1"/>
                              </a:solidFill>
                              <a:latin typeface="Cambria Math" panose="02040503050406030204" pitchFamily="18" charset="0"/>
                              <a:cs typeface="Times New Roman"/>
                            </a:rPr>
                          </m:ctrlPr>
                        </m:fPr>
                        <m:num>
                          <m:r>
                            <a:rPr lang="es-ES" sz="1600" b="0" i="1" noProof="0" smtClean="0">
                              <a:solidFill>
                                <a:schemeClr val="dk1"/>
                              </a:solidFill>
                              <a:latin typeface="Cambria Math" panose="02040503050406030204" pitchFamily="18" charset="0"/>
                              <a:cs typeface="Times New Roman"/>
                            </a:rPr>
                            <m:t>𝑟</m:t>
                          </m:r>
                          <m:sSup>
                            <m:sSupPr>
                              <m:ctrlPr>
                                <a:rPr lang="es-ES" sz="1600" b="0" i="1" noProof="0" smtClean="0">
                                  <a:solidFill>
                                    <a:schemeClr val="dk1"/>
                                  </a:solidFill>
                                  <a:latin typeface="Cambria Math" panose="02040503050406030204" pitchFamily="18" charset="0"/>
                                  <a:cs typeface="Times New Roman"/>
                                </a:rPr>
                              </m:ctrlPr>
                            </m:sSupPr>
                            <m:e>
                              <m:d>
                                <m:dPr>
                                  <m:ctrlPr>
                                    <a:rPr lang="es-ES" sz="1600" b="0" i="1" noProof="0" smtClean="0">
                                      <a:solidFill>
                                        <a:schemeClr val="dk1"/>
                                      </a:solidFill>
                                      <a:latin typeface="Cambria Math" panose="02040503050406030204" pitchFamily="18" charset="0"/>
                                      <a:cs typeface="Times New Roman"/>
                                    </a:rPr>
                                  </m:ctrlPr>
                                </m:dPr>
                                <m:e>
                                  <m:r>
                                    <a:rPr lang="es-ES" sz="1600" b="0" i="1" noProof="0" smtClean="0">
                                      <a:solidFill>
                                        <a:schemeClr val="dk1"/>
                                      </a:solidFill>
                                      <a:latin typeface="Cambria Math" panose="02040503050406030204" pitchFamily="18" charset="0"/>
                                      <a:cs typeface="Times New Roman"/>
                                    </a:rPr>
                                    <m:t>1+</m:t>
                                  </m:r>
                                  <m:r>
                                    <a:rPr lang="es-ES" sz="1600" b="0" i="1" noProof="0" smtClean="0">
                                      <a:solidFill>
                                        <a:schemeClr val="dk1"/>
                                      </a:solidFill>
                                      <a:latin typeface="Cambria Math" panose="02040503050406030204" pitchFamily="18" charset="0"/>
                                      <a:cs typeface="Times New Roman"/>
                                    </a:rPr>
                                    <m:t>𝑟</m:t>
                                  </m:r>
                                </m:e>
                              </m:d>
                            </m:e>
                            <m:sup>
                              <m:r>
                                <a:rPr lang="es-ES" sz="1600" b="0" i="1" noProof="0" smtClean="0">
                                  <a:solidFill>
                                    <a:schemeClr val="dk1"/>
                                  </a:solidFill>
                                  <a:latin typeface="Cambria Math" panose="02040503050406030204" pitchFamily="18" charset="0"/>
                                  <a:cs typeface="Times New Roman"/>
                                </a:rPr>
                                <m:t>𝑛</m:t>
                              </m:r>
                            </m:sup>
                          </m:sSup>
                        </m:num>
                        <m:den>
                          <m:sSup>
                            <m:sSupPr>
                              <m:ctrlPr>
                                <a:rPr lang="es-ES" sz="1600" b="0" i="1" noProof="0" smtClean="0">
                                  <a:solidFill>
                                    <a:schemeClr val="dk1"/>
                                  </a:solidFill>
                                  <a:latin typeface="Cambria Math" panose="02040503050406030204" pitchFamily="18" charset="0"/>
                                  <a:cs typeface="Times New Roman"/>
                                </a:rPr>
                              </m:ctrlPr>
                            </m:sSupPr>
                            <m:e>
                              <m:d>
                                <m:dPr>
                                  <m:ctrlPr>
                                    <a:rPr lang="es-ES" sz="1600" b="0" i="1" noProof="0" smtClean="0">
                                      <a:solidFill>
                                        <a:schemeClr val="dk1"/>
                                      </a:solidFill>
                                      <a:latin typeface="Cambria Math" panose="02040503050406030204" pitchFamily="18" charset="0"/>
                                      <a:cs typeface="Times New Roman"/>
                                    </a:rPr>
                                  </m:ctrlPr>
                                </m:dPr>
                                <m:e>
                                  <m:r>
                                    <a:rPr lang="es-ES" sz="1600" b="0" i="1" noProof="0" smtClean="0">
                                      <a:solidFill>
                                        <a:schemeClr val="dk1"/>
                                      </a:solidFill>
                                      <a:latin typeface="Cambria Math" panose="02040503050406030204" pitchFamily="18" charset="0"/>
                                      <a:cs typeface="Times New Roman"/>
                                    </a:rPr>
                                    <m:t>1+</m:t>
                                  </m:r>
                                  <m:r>
                                    <a:rPr lang="es-ES" sz="1600" b="0" i="1" noProof="0" smtClean="0">
                                      <a:solidFill>
                                        <a:schemeClr val="dk1"/>
                                      </a:solidFill>
                                      <a:latin typeface="Cambria Math" panose="02040503050406030204" pitchFamily="18" charset="0"/>
                                      <a:cs typeface="Times New Roman"/>
                                    </a:rPr>
                                    <m:t>𝑟</m:t>
                                  </m:r>
                                </m:e>
                              </m:d>
                            </m:e>
                            <m:sup>
                              <m:r>
                                <a:rPr lang="es-ES" sz="1600" b="0" i="1" noProof="0" smtClean="0">
                                  <a:solidFill>
                                    <a:schemeClr val="dk1"/>
                                  </a:solidFill>
                                  <a:latin typeface="Cambria Math" panose="02040503050406030204" pitchFamily="18" charset="0"/>
                                  <a:cs typeface="Times New Roman"/>
                                </a:rPr>
                                <m:t>𝑛</m:t>
                              </m:r>
                            </m:sup>
                          </m:sSup>
                          <m:r>
                            <a:rPr lang="es-ES" sz="1600" b="0" i="1" noProof="0" smtClean="0">
                              <a:solidFill>
                                <a:schemeClr val="dk1"/>
                              </a:solidFill>
                              <a:latin typeface="Cambria Math" panose="02040503050406030204" pitchFamily="18" charset="0"/>
                              <a:cs typeface="Times New Roman"/>
                            </a:rPr>
                            <m:t>−1</m:t>
                          </m:r>
                        </m:den>
                      </m:f>
                    </m:oMath>
                  </m:oMathPara>
                </a14:m>
                <a:endParaRPr lang="es-ES" sz="1600" noProof="0" dirty="0">
                  <a:solidFill>
                    <a:schemeClr val="dk1"/>
                  </a:solidFill>
                  <a:latin typeface="Times New Roman"/>
                  <a:cs typeface="Times New Roman"/>
                </a:endParaRPr>
              </a:p>
              <a:p>
                <a:r>
                  <a:rPr lang="es-ES" sz="1600" noProof="0" dirty="0">
                    <a:solidFill>
                      <a:schemeClr val="dk1"/>
                    </a:solidFill>
                    <a:latin typeface="Times New Roman"/>
                    <a:cs typeface="Times New Roman"/>
                  </a:rPr>
                  <a:t> </a:t>
                </a:r>
                <a:endParaRPr lang="es-ES" sz="2000" noProof="0" dirty="0"/>
              </a:p>
            </p:txBody>
          </p:sp>
        </mc:Choice>
        <mc:Fallback>
          <p:sp>
            <p:nvSpPr>
              <p:cNvPr id="3" name="CuadroTexto 2">
                <a:extLst>
                  <a:ext uri="{FF2B5EF4-FFF2-40B4-BE49-F238E27FC236}">
                    <a16:creationId xmlns:a16="http://schemas.microsoft.com/office/drawing/2014/main" id="{BA74D9EA-4255-83B7-AF0A-614ACDA6C169}"/>
                  </a:ext>
                </a:extLst>
              </p:cNvPr>
              <p:cNvSpPr txBox="1">
                <a:spLocks noRot="1" noChangeAspect="1" noMove="1" noResize="1" noEditPoints="1" noAdjustHandles="1" noChangeArrowheads="1" noChangeShapeType="1" noTextEdit="1"/>
              </p:cNvSpPr>
              <p:nvPr/>
            </p:nvSpPr>
            <p:spPr>
              <a:xfrm>
                <a:off x="853466" y="1045380"/>
                <a:ext cx="7822222" cy="3898247"/>
              </a:xfrm>
              <a:prstGeom prst="rect">
                <a:avLst/>
              </a:prstGeom>
              <a:blipFill>
                <a:blip r:embed="rId5"/>
                <a:stretch>
                  <a:fillRect l="-779" t="-781" r="-312"/>
                </a:stretch>
              </a:blipFill>
            </p:spPr>
            <p:txBody>
              <a:bodyPr/>
              <a:lstStyle/>
              <a:p>
                <a:r>
                  <a:rPr lang="en-US">
                    <a:noFill/>
                  </a:rPr>
                  <a:t> </a:t>
                </a:r>
              </a:p>
            </p:txBody>
          </p:sp>
        </mc:Fallback>
      </mc:AlternateContent>
      <p:sp>
        <p:nvSpPr>
          <p:cNvPr id="4" name="Google Shape;406;p35">
            <a:extLst>
              <a:ext uri="{FF2B5EF4-FFF2-40B4-BE49-F238E27FC236}">
                <a16:creationId xmlns:a16="http://schemas.microsoft.com/office/drawing/2014/main" id="{B1D00F3F-5785-BF0F-25BF-D383E44F2BEC}"/>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dirty="0"/>
              <a:t>Uso de la energía</a:t>
            </a:r>
          </a:p>
        </p:txBody>
      </p:sp>
    </p:spTree>
    <p:extLst>
      <p:ext uri="{BB962C8B-B14F-4D97-AF65-F5344CB8AC3E}">
        <p14:creationId xmlns:p14="http://schemas.microsoft.com/office/powerpoint/2010/main" val="378124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3">
          <a:extLst>
            <a:ext uri="{FF2B5EF4-FFF2-40B4-BE49-F238E27FC236}">
              <a16:creationId xmlns:a16="http://schemas.microsoft.com/office/drawing/2014/main" id="{88369A87-9650-FEDC-75EE-1B79B58D7AA3}"/>
            </a:ext>
          </a:extLst>
        </p:cNvPr>
        <p:cNvGrpSpPr/>
        <p:nvPr/>
      </p:nvGrpSpPr>
      <p:grpSpPr>
        <a:xfrm>
          <a:off x="0" y="0"/>
          <a:ext cx="0" cy="0"/>
          <a:chOff x="0" y="0"/>
          <a:chExt cx="0" cy="0"/>
        </a:xfrm>
      </p:grpSpPr>
      <p:sp>
        <p:nvSpPr>
          <p:cNvPr id="444" name="Google Shape;444;p39">
            <a:extLst>
              <a:ext uri="{FF2B5EF4-FFF2-40B4-BE49-F238E27FC236}">
                <a16:creationId xmlns:a16="http://schemas.microsoft.com/office/drawing/2014/main" id="{3F7AEA9D-3912-2482-F24C-7B75C913DCA7}"/>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39</a:t>
            </a:fld>
            <a:endParaRPr lang="es-ES" noProof="0" dirty="0"/>
          </a:p>
        </p:txBody>
      </p:sp>
      <p:sp>
        <p:nvSpPr>
          <p:cNvPr id="18" name="Google Shape;446;p39">
            <a:extLst>
              <a:ext uri="{FF2B5EF4-FFF2-40B4-BE49-F238E27FC236}">
                <a16:creationId xmlns:a16="http://schemas.microsoft.com/office/drawing/2014/main" id="{DCEACA14-EF5B-6AC2-09F6-6C9064CFFF0D}"/>
              </a:ext>
            </a:extLst>
          </p:cNvPr>
          <p:cNvSpPr txBox="1"/>
          <p:nvPr/>
        </p:nvSpPr>
        <p:spPr>
          <a:xfrm>
            <a:off x="853466" y="470047"/>
            <a:ext cx="797303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cs typeface="Times New Roman"/>
                <a:sym typeface="Times New Roman"/>
              </a:rPr>
              <a:t>Coste de la energía: LCOE</a:t>
            </a:r>
            <a:endParaRPr lang="es-ES" noProof="0" dirty="0"/>
          </a:p>
        </p:txBody>
      </p:sp>
      <p:sp>
        <p:nvSpPr>
          <p:cNvPr id="3" name="CuadroTexto 2">
            <a:extLst>
              <a:ext uri="{FF2B5EF4-FFF2-40B4-BE49-F238E27FC236}">
                <a16:creationId xmlns:a16="http://schemas.microsoft.com/office/drawing/2014/main" id="{949C7021-3619-122B-4F22-15ED833AD1A7}"/>
              </a:ext>
            </a:extLst>
          </p:cNvPr>
          <p:cNvSpPr txBox="1"/>
          <p:nvPr/>
        </p:nvSpPr>
        <p:spPr>
          <a:xfrm>
            <a:off x="853466" y="1045380"/>
            <a:ext cx="7822222" cy="3139321"/>
          </a:xfrm>
          <a:prstGeom prst="rect">
            <a:avLst/>
          </a:prstGeom>
          <a:noFill/>
        </p:spPr>
        <p:txBody>
          <a:bodyPr wrap="square">
            <a:spAutoFit/>
          </a:bodyPr>
          <a:lstStyle/>
          <a:p>
            <a:pPr algn="just">
              <a:buClr>
                <a:schemeClr val="dk1"/>
              </a:buClr>
              <a:buSzPts val="2000"/>
            </a:pPr>
            <a:r>
              <a:rPr lang="es-ES" sz="2000" i="1" noProof="0" dirty="0">
                <a:solidFill>
                  <a:srgbClr val="0000FF"/>
                </a:solidFill>
                <a:latin typeface="Times New Roman"/>
                <a:ea typeface="Times New Roman"/>
                <a:cs typeface="Times New Roman"/>
                <a:sym typeface="Times New Roman"/>
              </a:rPr>
              <a:t>Ejemplo 3: LCOE ciclo combinado</a:t>
            </a:r>
          </a:p>
          <a:p>
            <a:pPr algn="just">
              <a:buClr>
                <a:schemeClr val="dk1"/>
              </a:buClr>
              <a:buSzPts val="2000"/>
            </a:pPr>
            <a:endParaRPr lang="es-ES" sz="1800" noProof="0" dirty="0">
              <a:solidFill>
                <a:schemeClr val="dk1"/>
              </a:solidFill>
              <a:latin typeface="Times New Roman"/>
              <a:cs typeface="Times New Roman"/>
              <a:sym typeface="Times New Roman"/>
            </a:endParaRPr>
          </a:p>
          <a:p>
            <a:pPr lvl="0" eaLnBrk="0" fontAlgn="base" hangingPunct="0">
              <a:spcBef>
                <a:spcPct val="0"/>
              </a:spcBef>
              <a:spcAft>
                <a:spcPct val="0"/>
              </a:spcAft>
              <a:buClrTx/>
            </a:pPr>
            <a:r>
              <a:rPr lang="es-ES" sz="1600" noProof="0" dirty="0">
                <a:solidFill>
                  <a:schemeClr val="dk1"/>
                </a:solidFill>
                <a:latin typeface="Times New Roman"/>
                <a:cs typeface="Times New Roman"/>
              </a:rPr>
              <a:t>Una empresa planea construir una planta de ciclo combinado con una capacidad de 500 MW. El proyecto tiene las siguientes características:</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Inversión inicial (ICC): 1100 millones de euros</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Costes de operación y mantenimiento anuales (O&amp;M): 10 millones de euros</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Coste anual de combustible (gas natural): 50 millones de euros (F)</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Vida útil estimada (n): 25 años</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Factor de capacidad: 60%</a:t>
            </a:r>
          </a:p>
          <a:p>
            <a:pPr marL="542925" lvl="0"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Tasa de descuento (r): 6%</a:t>
            </a:r>
          </a:p>
          <a:p>
            <a:pPr lvl="0" eaLnBrk="0" fontAlgn="base" hangingPunct="0">
              <a:spcBef>
                <a:spcPct val="0"/>
              </a:spcBef>
              <a:spcAft>
                <a:spcPct val="0"/>
              </a:spcAft>
              <a:buClrTx/>
            </a:pPr>
            <a:r>
              <a:rPr lang="es-ES" sz="1600" noProof="0" dirty="0">
                <a:solidFill>
                  <a:schemeClr val="dk1"/>
                </a:solidFill>
                <a:latin typeface="Times New Roman"/>
                <a:cs typeface="Times New Roman"/>
              </a:rPr>
              <a:t>Calcula el LCOE en €/</a:t>
            </a:r>
            <a:r>
              <a:rPr lang="es-ES" sz="1600" noProof="0" dirty="0" err="1">
                <a:solidFill>
                  <a:schemeClr val="dk1"/>
                </a:solidFill>
                <a:latin typeface="Times New Roman"/>
                <a:cs typeface="Times New Roman"/>
              </a:rPr>
              <a:t>MWh</a:t>
            </a:r>
            <a:r>
              <a:rPr lang="es-ES" sz="1600" noProof="0" dirty="0">
                <a:solidFill>
                  <a:schemeClr val="dk1"/>
                </a:solidFill>
                <a:latin typeface="Times New Roman"/>
                <a:cs typeface="Times New Roman"/>
              </a:rPr>
              <a:t>, considerando la siguiente forma del FCR</a:t>
            </a:r>
          </a:p>
          <a:p>
            <a:r>
              <a:rPr lang="es-ES" sz="1600" noProof="0" dirty="0">
                <a:solidFill>
                  <a:schemeClr val="dk1"/>
                </a:solidFill>
                <a:latin typeface="Times New Roman"/>
                <a:cs typeface="Times New Roman"/>
              </a:rPr>
              <a:t> </a:t>
            </a:r>
            <a:endParaRPr lang="es-ES" sz="2000" noProof="0" dirty="0"/>
          </a:p>
        </p:txBody>
      </p:sp>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0B2C4698-8FA7-BFEB-3656-80C4FA0F5572}"/>
                  </a:ext>
                </a:extLst>
              </p:cNvPr>
              <p:cNvSpPr txBox="1"/>
              <p:nvPr/>
            </p:nvSpPr>
            <p:spPr>
              <a:xfrm>
                <a:off x="1840938" y="4184701"/>
                <a:ext cx="4572000" cy="558102"/>
              </a:xfrm>
              <a:prstGeom prst="rect">
                <a:avLst/>
              </a:prstGeom>
              <a:noFill/>
            </p:spPr>
            <p:txBody>
              <a:bodyPr wrap="square">
                <a:spAutoFit/>
              </a:bodyPr>
              <a:lstStyle/>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s-ES" sz="1400" b="0" i="1" noProof="0" smtClean="0">
                          <a:solidFill>
                            <a:schemeClr val="dk1"/>
                          </a:solidFill>
                          <a:latin typeface="Cambria Math" panose="02040503050406030204" pitchFamily="18" charset="0"/>
                          <a:cs typeface="Times New Roman"/>
                        </a:rPr>
                        <m:t>𝐹𝐶𝑅</m:t>
                      </m:r>
                      <m:r>
                        <a:rPr lang="es-ES" sz="1400" b="0" i="1" noProof="0" smtClean="0">
                          <a:solidFill>
                            <a:schemeClr val="dk1"/>
                          </a:solidFill>
                          <a:latin typeface="Cambria Math" panose="02040503050406030204" pitchFamily="18" charset="0"/>
                          <a:cs typeface="Times New Roman"/>
                        </a:rPr>
                        <m:t>=</m:t>
                      </m:r>
                      <m:f>
                        <m:fPr>
                          <m:ctrlPr>
                            <a:rPr lang="es-ES" sz="1400" b="0" i="1" noProof="0" smtClean="0">
                              <a:solidFill>
                                <a:schemeClr val="dk1"/>
                              </a:solidFill>
                              <a:latin typeface="Cambria Math" panose="02040503050406030204" pitchFamily="18" charset="0"/>
                              <a:cs typeface="Times New Roman"/>
                            </a:rPr>
                          </m:ctrlPr>
                        </m:fPr>
                        <m:num>
                          <m:r>
                            <a:rPr lang="es-ES" sz="1400" b="0" i="1" noProof="0" smtClean="0">
                              <a:solidFill>
                                <a:schemeClr val="dk1"/>
                              </a:solidFill>
                              <a:latin typeface="Cambria Math" panose="02040503050406030204" pitchFamily="18" charset="0"/>
                              <a:cs typeface="Times New Roman"/>
                            </a:rPr>
                            <m:t>𝑟</m:t>
                          </m:r>
                          <m:sSup>
                            <m:sSupPr>
                              <m:ctrlPr>
                                <a:rPr lang="es-ES" sz="1400" b="0" i="1" noProof="0" smtClean="0">
                                  <a:solidFill>
                                    <a:schemeClr val="dk1"/>
                                  </a:solidFill>
                                  <a:latin typeface="Cambria Math" panose="02040503050406030204" pitchFamily="18" charset="0"/>
                                  <a:cs typeface="Times New Roman"/>
                                </a:rPr>
                              </m:ctrlPr>
                            </m:sSupPr>
                            <m:e>
                              <m:d>
                                <m:dPr>
                                  <m:ctrlPr>
                                    <a:rPr lang="es-ES" sz="1400" b="0" i="1" noProof="0" smtClean="0">
                                      <a:solidFill>
                                        <a:schemeClr val="dk1"/>
                                      </a:solidFill>
                                      <a:latin typeface="Cambria Math" panose="02040503050406030204" pitchFamily="18" charset="0"/>
                                      <a:cs typeface="Times New Roman"/>
                                    </a:rPr>
                                  </m:ctrlPr>
                                </m:dPr>
                                <m:e>
                                  <m:r>
                                    <a:rPr lang="es-ES" sz="1400" b="0" i="1" noProof="0" smtClean="0">
                                      <a:solidFill>
                                        <a:schemeClr val="dk1"/>
                                      </a:solidFill>
                                      <a:latin typeface="Cambria Math" panose="02040503050406030204" pitchFamily="18" charset="0"/>
                                      <a:cs typeface="Times New Roman"/>
                                    </a:rPr>
                                    <m:t>1+</m:t>
                                  </m:r>
                                  <m:r>
                                    <a:rPr lang="es-ES" sz="1400" b="0" i="1" noProof="0" smtClean="0">
                                      <a:solidFill>
                                        <a:schemeClr val="dk1"/>
                                      </a:solidFill>
                                      <a:latin typeface="Cambria Math" panose="02040503050406030204" pitchFamily="18" charset="0"/>
                                      <a:cs typeface="Times New Roman"/>
                                    </a:rPr>
                                    <m:t>𝑟</m:t>
                                  </m:r>
                                </m:e>
                              </m:d>
                            </m:e>
                            <m:sup>
                              <m:r>
                                <a:rPr lang="es-ES" sz="1400" b="0" i="1" noProof="0" smtClean="0">
                                  <a:solidFill>
                                    <a:schemeClr val="dk1"/>
                                  </a:solidFill>
                                  <a:latin typeface="Cambria Math" panose="02040503050406030204" pitchFamily="18" charset="0"/>
                                  <a:cs typeface="Times New Roman"/>
                                </a:rPr>
                                <m:t>𝑛</m:t>
                              </m:r>
                            </m:sup>
                          </m:sSup>
                        </m:num>
                        <m:den>
                          <m:sSup>
                            <m:sSupPr>
                              <m:ctrlPr>
                                <a:rPr lang="es-ES" sz="1400" b="0" i="1" noProof="0" smtClean="0">
                                  <a:solidFill>
                                    <a:schemeClr val="dk1"/>
                                  </a:solidFill>
                                  <a:latin typeface="Cambria Math" panose="02040503050406030204" pitchFamily="18" charset="0"/>
                                  <a:cs typeface="Times New Roman"/>
                                </a:rPr>
                              </m:ctrlPr>
                            </m:sSupPr>
                            <m:e>
                              <m:d>
                                <m:dPr>
                                  <m:ctrlPr>
                                    <a:rPr lang="es-ES" sz="1400" b="0" i="1" noProof="0" smtClean="0">
                                      <a:solidFill>
                                        <a:schemeClr val="dk1"/>
                                      </a:solidFill>
                                      <a:latin typeface="Cambria Math" panose="02040503050406030204" pitchFamily="18" charset="0"/>
                                      <a:cs typeface="Times New Roman"/>
                                    </a:rPr>
                                  </m:ctrlPr>
                                </m:dPr>
                                <m:e>
                                  <m:r>
                                    <a:rPr lang="es-ES" sz="1400" b="0" i="1" noProof="0" smtClean="0">
                                      <a:solidFill>
                                        <a:schemeClr val="dk1"/>
                                      </a:solidFill>
                                      <a:latin typeface="Cambria Math" panose="02040503050406030204" pitchFamily="18" charset="0"/>
                                      <a:cs typeface="Times New Roman"/>
                                    </a:rPr>
                                    <m:t>1+</m:t>
                                  </m:r>
                                  <m:r>
                                    <a:rPr lang="es-ES" sz="1400" b="0" i="1" noProof="0" smtClean="0">
                                      <a:solidFill>
                                        <a:schemeClr val="dk1"/>
                                      </a:solidFill>
                                      <a:latin typeface="Cambria Math" panose="02040503050406030204" pitchFamily="18" charset="0"/>
                                      <a:cs typeface="Times New Roman"/>
                                    </a:rPr>
                                    <m:t>𝑟</m:t>
                                  </m:r>
                                </m:e>
                              </m:d>
                            </m:e>
                            <m:sup>
                              <m:r>
                                <a:rPr lang="es-ES" sz="1400" b="0" i="1" noProof="0" smtClean="0">
                                  <a:solidFill>
                                    <a:schemeClr val="dk1"/>
                                  </a:solidFill>
                                  <a:latin typeface="Cambria Math" panose="02040503050406030204" pitchFamily="18" charset="0"/>
                                  <a:cs typeface="Times New Roman"/>
                                </a:rPr>
                                <m:t>𝑛</m:t>
                              </m:r>
                            </m:sup>
                          </m:sSup>
                          <m:r>
                            <a:rPr lang="es-ES" sz="1400" b="0" i="1" noProof="0" smtClean="0">
                              <a:solidFill>
                                <a:schemeClr val="dk1"/>
                              </a:solidFill>
                              <a:latin typeface="Cambria Math" panose="02040503050406030204" pitchFamily="18" charset="0"/>
                              <a:cs typeface="Times New Roman"/>
                            </a:rPr>
                            <m:t>−1</m:t>
                          </m:r>
                        </m:den>
                      </m:f>
                      <m:r>
                        <a:rPr lang="es-ES" sz="1400" b="0" i="1" noProof="0" smtClean="0">
                          <a:solidFill>
                            <a:schemeClr val="dk1"/>
                          </a:solidFill>
                          <a:latin typeface="Cambria Math" panose="02040503050406030204" pitchFamily="18" charset="0"/>
                          <a:cs typeface="Times New Roman"/>
                        </a:rPr>
                        <m:t>=</m:t>
                      </m:r>
                      <m:f>
                        <m:fPr>
                          <m:ctrlPr>
                            <a:rPr lang="es-ES" sz="1400" b="0" i="1" noProof="0" smtClean="0">
                              <a:solidFill>
                                <a:schemeClr val="dk1"/>
                              </a:solidFill>
                              <a:latin typeface="Cambria Math" panose="02040503050406030204" pitchFamily="18" charset="0"/>
                              <a:cs typeface="Times New Roman"/>
                            </a:rPr>
                          </m:ctrlPr>
                        </m:fPr>
                        <m:num>
                          <m:r>
                            <a:rPr lang="es-ES" sz="1400" b="0" i="1" noProof="0" smtClean="0">
                              <a:solidFill>
                                <a:schemeClr val="dk1"/>
                              </a:solidFill>
                              <a:latin typeface="Cambria Math" panose="02040503050406030204" pitchFamily="18" charset="0"/>
                              <a:cs typeface="Times New Roman"/>
                            </a:rPr>
                            <m:t>0,06</m:t>
                          </m:r>
                          <m:sSup>
                            <m:sSupPr>
                              <m:ctrlPr>
                                <a:rPr lang="es-ES" sz="1400" b="0" i="1" noProof="0" smtClean="0">
                                  <a:solidFill>
                                    <a:schemeClr val="dk1"/>
                                  </a:solidFill>
                                  <a:latin typeface="Cambria Math" panose="02040503050406030204" pitchFamily="18" charset="0"/>
                                  <a:cs typeface="Times New Roman"/>
                                </a:rPr>
                              </m:ctrlPr>
                            </m:sSupPr>
                            <m:e>
                              <m:d>
                                <m:dPr>
                                  <m:ctrlPr>
                                    <a:rPr lang="es-ES" sz="1400" b="0" i="1" noProof="0" smtClean="0">
                                      <a:solidFill>
                                        <a:schemeClr val="dk1"/>
                                      </a:solidFill>
                                      <a:latin typeface="Cambria Math" panose="02040503050406030204" pitchFamily="18" charset="0"/>
                                      <a:cs typeface="Times New Roman"/>
                                    </a:rPr>
                                  </m:ctrlPr>
                                </m:dPr>
                                <m:e>
                                  <m:r>
                                    <a:rPr lang="es-ES" sz="1400" b="0" i="1" noProof="0" smtClean="0">
                                      <a:solidFill>
                                        <a:schemeClr val="dk1"/>
                                      </a:solidFill>
                                      <a:latin typeface="Cambria Math" panose="02040503050406030204" pitchFamily="18" charset="0"/>
                                      <a:cs typeface="Times New Roman"/>
                                    </a:rPr>
                                    <m:t>1,06</m:t>
                                  </m:r>
                                </m:e>
                              </m:d>
                            </m:e>
                            <m:sup>
                              <m:r>
                                <a:rPr lang="es-ES" sz="1400" b="0" i="1" noProof="0" smtClean="0">
                                  <a:solidFill>
                                    <a:schemeClr val="dk1"/>
                                  </a:solidFill>
                                  <a:latin typeface="Cambria Math" panose="02040503050406030204" pitchFamily="18" charset="0"/>
                                  <a:cs typeface="Times New Roman"/>
                                </a:rPr>
                                <m:t>25</m:t>
                              </m:r>
                            </m:sup>
                          </m:sSup>
                        </m:num>
                        <m:den>
                          <m:sSup>
                            <m:sSupPr>
                              <m:ctrlPr>
                                <a:rPr lang="es-ES" sz="1400" b="0" i="1" noProof="0" smtClean="0">
                                  <a:solidFill>
                                    <a:schemeClr val="dk1"/>
                                  </a:solidFill>
                                  <a:latin typeface="Cambria Math" panose="02040503050406030204" pitchFamily="18" charset="0"/>
                                  <a:cs typeface="Times New Roman"/>
                                </a:rPr>
                              </m:ctrlPr>
                            </m:sSupPr>
                            <m:e>
                              <m:r>
                                <a:rPr lang="es-ES" sz="1400" b="0" i="1" noProof="0" smtClean="0">
                                  <a:solidFill>
                                    <a:schemeClr val="dk1"/>
                                  </a:solidFill>
                                  <a:latin typeface="Cambria Math" panose="02040503050406030204" pitchFamily="18" charset="0"/>
                                  <a:cs typeface="Times New Roman"/>
                                </a:rPr>
                                <m:t>1,06</m:t>
                              </m:r>
                            </m:e>
                            <m:sup>
                              <m:r>
                                <a:rPr lang="es-ES" sz="1400" b="0" i="1" noProof="0" smtClean="0">
                                  <a:solidFill>
                                    <a:schemeClr val="dk1"/>
                                  </a:solidFill>
                                  <a:latin typeface="Cambria Math" panose="02040503050406030204" pitchFamily="18" charset="0"/>
                                  <a:cs typeface="Times New Roman"/>
                                </a:rPr>
                                <m:t>25</m:t>
                              </m:r>
                            </m:sup>
                          </m:sSup>
                          <m:r>
                            <a:rPr lang="es-ES" sz="1400" b="0" i="1" noProof="0" smtClean="0">
                              <a:solidFill>
                                <a:schemeClr val="dk1"/>
                              </a:solidFill>
                              <a:latin typeface="Cambria Math" panose="02040503050406030204" pitchFamily="18" charset="0"/>
                              <a:cs typeface="Times New Roman"/>
                            </a:rPr>
                            <m:t>−1</m:t>
                          </m:r>
                        </m:den>
                      </m:f>
                      <m:r>
                        <a:rPr lang="es-ES" sz="1400" b="0" i="1" noProof="0" smtClean="0">
                          <a:solidFill>
                            <a:schemeClr val="dk1"/>
                          </a:solidFill>
                          <a:latin typeface="Cambria Math" panose="02040503050406030204" pitchFamily="18" charset="0"/>
                          <a:cs typeface="Times New Roman"/>
                        </a:rPr>
                        <m:t>=0,078</m:t>
                      </m:r>
                    </m:oMath>
                  </m:oMathPara>
                </a14:m>
                <a:endParaRPr lang="es-ES" sz="1400" noProof="0" dirty="0">
                  <a:solidFill>
                    <a:schemeClr val="dk1"/>
                  </a:solidFill>
                  <a:latin typeface="Times New Roman"/>
                  <a:cs typeface="Times New Roman"/>
                </a:endParaRPr>
              </a:p>
            </p:txBody>
          </p:sp>
        </mc:Choice>
        <mc:Fallback>
          <p:sp>
            <p:nvSpPr>
              <p:cNvPr id="4" name="CuadroTexto 3">
                <a:extLst>
                  <a:ext uri="{FF2B5EF4-FFF2-40B4-BE49-F238E27FC236}">
                    <a16:creationId xmlns:a16="http://schemas.microsoft.com/office/drawing/2014/main" id="{0B2C4698-8FA7-BFEB-3656-80C4FA0F5572}"/>
                  </a:ext>
                </a:extLst>
              </p:cNvPr>
              <p:cNvSpPr txBox="1">
                <a:spLocks noRot="1" noChangeAspect="1" noMove="1" noResize="1" noEditPoints="1" noAdjustHandles="1" noChangeArrowheads="1" noChangeShapeType="1" noTextEdit="1"/>
              </p:cNvSpPr>
              <p:nvPr/>
            </p:nvSpPr>
            <p:spPr>
              <a:xfrm>
                <a:off x="1840938" y="4184701"/>
                <a:ext cx="4572000" cy="55810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D86E1F69-B72A-4342-020D-C988946D9357}"/>
                  </a:ext>
                </a:extLst>
              </p:cNvPr>
              <p:cNvSpPr txBox="1"/>
              <p:nvPr/>
            </p:nvSpPr>
            <p:spPr>
              <a:xfrm>
                <a:off x="654206" y="5746005"/>
                <a:ext cx="8266770" cy="5864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1600" b="0" i="1" noProof="0" smtClean="0">
                          <a:latin typeface="Cambria Math" panose="02040503050406030204" pitchFamily="18" charset="0"/>
                        </a:rPr>
                        <m:t>𝐿𝐶𝑂𝐸</m:t>
                      </m:r>
                      <m:r>
                        <a:rPr lang="es-ES" sz="1600" b="0" i="1" noProof="0" smtClean="0">
                          <a:latin typeface="Cambria Math" panose="02040503050406030204" pitchFamily="18" charset="0"/>
                        </a:rPr>
                        <m:t>=</m:t>
                      </m:r>
                      <m:f>
                        <m:fPr>
                          <m:ctrlPr>
                            <a:rPr lang="es-ES" sz="1600" b="0" i="1" noProof="0" smtClean="0">
                              <a:latin typeface="Cambria Math" panose="02040503050406030204" pitchFamily="18" charset="0"/>
                            </a:rPr>
                          </m:ctrlPr>
                        </m:fPr>
                        <m:num>
                          <m:r>
                            <a:rPr lang="es-ES" sz="1600" b="0" i="1" noProof="0" smtClean="0">
                              <a:latin typeface="Cambria Math" panose="02040503050406030204" pitchFamily="18" charset="0"/>
                            </a:rPr>
                            <m:t>𝐹𝐶𝑅</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𝐼𝐶𝐶</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𝑂</m:t>
                          </m:r>
                          <m:r>
                            <a:rPr lang="es-ES" sz="1600" b="0" i="1" noProof="0" smtClean="0">
                              <a:latin typeface="Cambria Math" panose="02040503050406030204" pitchFamily="18" charset="0"/>
                            </a:rPr>
                            <m:t>&amp;</m:t>
                          </m:r>
                          <m:r>
                            <a:rPr lang="es-ES" sz="1600" b="0" i="1" noProof="0" smtClean="0">
                              <a:latin typeface="Cambria Math" panose="02040503050406030204" pitchFamily="18" charset="0"/>
                            </a:rPr>
                            <m:t>𝑀</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𝐹</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𝑇𝐶𝑅</m:t>
                          </m:r>
                        </m:num>
                        <m:den>
                          <m:r>
                            <a:rPr lang="es-ES" sz="1600" b="0" i="1" noProof="0" smtClean="0">
                              <a:latin typeface="Cambria Math" panose="02040503050406030204" pitchFamily="18" charset="0"/>
                            </a:rPr>
                            <m:t>𝐴𝐸𝑃</m:t>
                          </m:r>
                        </m:den>
                      </m:f>
                      <m:r>
                        <a:rPr lang="es-ES" sz="1600" b="0" i="1" noProof="0" smtClean="0">
                          <a:latin typeface="Cambria Math" panose="02040503050406030204" pitchFamily="18" charset="0"/>
                        </a:rPr>
                        <m:t>=</m:t>
                      </m:r>
                      <m:f>
                        <m:fPr>
                          <m:ctrlPr>
                            <a:rPr lang="es-ES" sz="1600" b="0" i="1" noProof="0" smtClean="0">
                              <a:latin typeface="Cambria Math" panose="02040503050406030204" pitchFamily="18" charset="0"/>
                            </a:rPr>
                          </m:ctrlPr>
                        </m:fPr>
                        <m:num>
                          <m:d>
                            <m:dPr>
                              <m:ctrlPr>
                                <a:rPr lang="es-ES" sz="1600" b="0" i="1" noProof="0" smtClean="0">
                                  <a:latin typeface="Cambria Math" panose="02040503050406030204" pitchFamily="18" charset="0"/>
                                </a:rPr>
                              </m:ctrlPr>
                            </m:dPr>
                            <m:e>
                              <m:r>
                                <a:rPr lang="es-ES" sz="1600" b="0" i="1" noProof="0" smtClean="0">
                                  <a:latin typeface="Cambria Math" panose="02040503050406030204" pitchFamily="18" charset="0"/>
                                </a:rPr>
                                <m:t>0,078</m:t>
                              </m:r>
                              <m:r>
                                <a:rPr lang="es-ES" sz="1600" i="1">
                                  <a:latin typeface="Cambria Math" panose="02040503050406030204" pitchFamily="18" charset="0"/>
                                </a:rPr>
                                <m:t>·</m:t>
                              </m:r>
                              <m:r>
                                <a:rPr lang="es-ES" sz="1600" b="0" i="1" noProof="0" smtClean="0">
                                  <a:latin typeface="Cambria Math" panose="02040503050406030204" pitchFamily="18" charset="0"/>
                                </a:rPr>
                                <m:t>11</m:t>
                              </m:r>
                              <m:r>
                                <a:rPr lang="es-ES" sz="1600" b="0" i="1" noProof="0" smtClean="0">
                                  <a:latin typeface="Cambria Math" panose="02040503050406030204" pitchFamily="18" charset="0"/>
                                </a:rPr>
                                <m:t>00+10+50</m:t>
                              </m:r>
                            </m:e>
                          </m:d>
                          <m:r>
                            <a:rPr lang="es-ES" sz="1600" b="0" i="1" noProof="0" smtClean="0">
                              <a:latin typeface="Cambria Math" panose="02040503050406030204" pitchFamily="18" charset="0"/>
                            </a:rPr>
                            <m:t>·</m:t>
                          </m:r>
                          <m:sSup>
                            <m:sSupPr>
                              <m:ctrlPr>
                                <a:rPr lang="es-ES" sz="1600" b="0" i="1" noProof="0" smtClean="0">
                                  <a:latin typeface="Cambria Math" panose="02040503050406030204" pitchFamily="18" charset="0"/>
                                </a:rPr>
                              </m:ctrlPr>
                            </m:sSupPr>
                            <m:e>
                              <m:r>
                                <a:rPr lang="es-ES" sz="1600" b="0" i="1" noProof="0" smtClean="0">
                                  <a:latin typeface="Cambria Math" panose="02040503050406030204" pitchFamily="18" charset="0"/>
                                </a:rPr>
                                <m:t>10</m:t>
                              </m:r>
                            </m:e>
                            <m:sup>
                              <m:r>
                                <a:rPr lang="es-ES" sz="1600" b="0" i="1" noProof="0" smtClean="0">
                                  <a:latin typeface="Cambria Math" panose="02040503050406030204" pitchFamily="18" charset="0"/>
                                </a:rPr>
                                <m:t>6</m:t>
                              </m:r>
                            </m:sup>
                          </m:sSup>
                          <m:r>
                            <a:rPr lang="es-ES" sz="1600" b="0" i="1" noProof="0" smtClean="0">
                              <a:latin typeface="Cambria Math" panose="02040503050406030204" pitchFamily="18" charset="0"/>
                            </a:rPr>
                            <m:t> €</m:t>
                          </m:r>
                        </m:num>
                        <m:den>
                          <m:r>
                            <a:rPr lang="es-ES" sz="1600" i="1">
                              <a:solidFill>
                                <a:schemeClr val="dk1"/>
                              </a:solidFill>
                              <a:latin typeface="Cambria Math" panose="02040503050406030204" pitchFamily="18" charset="0"/>
                              <a:cs typeface="Times New Roman"/>
                            </a:rPr>
                            <m:t>2628000</m:t>
                          </m:r>
                          <m:r>
                            <a:rPr lang="es-ES" sz="1600" b="0" i="1" smtClean="0">
                              <a:solidFill>
                                <a:schemeClr val="dk1"/>
                              </a:solidFill>
                              <a:latin typeface="Cambria Math" panose="02040503050406030204" pitchFamily="18" charset="0"/>
                              <a:cs typeface="Times New Roman"/>
                            </a:rPr>
                            <m:t> </m:t>
                          </m:r>
                          <m:r>
                            <a:rPr lang="es-ES" sz="1600" b="0" i="1" noProof="0" smtClean="0">
                              <a:latin typeface="Cambria Math" panose="02040503050406030204" pitchFamily="18" charset="0"/>
                            </a:rPr>
                            <m:t>𝑀𝑊h</m:t>
                          </m:r>
                        </m:den>
                      </m:f>
                      <m:r>
                        <a:rPr lang="es-ES" sz="1600" b="0" i="1" noProof="0" smtClean="0">
                          <a:latin typeface="Cambria Math" panose="02040503050406030204" pitchFamily="18" charset="0"/>
                        </a:rPr>
                        <m:t>=</m:t>
                      </m:r>
                      <m:r>
                        <a:rPr lang="es-ES" sz="1600" b="0" i="1" noProof="0" smtClean="0">
                          <a:latin typeface="Cambria Math" panose="02040503050406030204" pitchFamily="18" charset="0"/>
                        </a:rPr>
                        <m:t>55</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48 </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𝑀𝑊h</m:t>
                      </m:r>
                    </m:oMath>
                  </m:oMathPara>
                </a14:m>
                <a:endParaRPr lang="es-ES" sz="1600" noProof="0" dirty="0"/>
              </a:p>
            </p:txBody>
          </p:sp>
        </mc:Choice>
        <mc:Fallback>
          <p:sp>
            <p:nvSpPr>
              <p:cNvPr id="5" name="CuadroTexto 4">
                <a:extLst>
                  <a:ext uri="{FF2B5EF4-FFF2-40B4-BE49-F238E27FC236}">
                    <a16:creationId xmlns:a16="http://schemas.microsoft.com/office/drawing/2014/main" id="{D86E1F69-B72A-4342-020D-C988946D9357}"/>
                  </a:ext>
                </a:extLst>
              </p:cNvPr>
              <p:cNvSpPr txBox="1">
                <a:spLocks noRot="1" noChangeAspect="1" noMove="1" noResize="1" noEditPoints="1" noAdjustHandles="1" noChangeArrowheads="1" noChangeShapeType="1" noTextEdit="1"/>
              </p:cNvSpPr>
              <p:nvPr/>
            </p:nvSpPr>
            <p:spPr>
              <a:xfrm>
                <a:off x="654206" y="5746005"/>
                <a:ext cx="8266770" cy="58644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615E5D56-2555-FB15-85B5-12BFFCB534FB}"/>
                  </a:ext>
                </a:extLst>
              </p:cNvPr>
              <p:cNvSpPr txBox="1"/>
              <p:nvPr/>
            </p:nvSpPr>
            <p:spPr>
              <a:xfrm>
                <a:off x="1986595" y="5041446"/>
                <a:ext cx="4572000" cy="307777"/>
              </a:xfrm>
              <a:prstGeom prst="rect">
                <a:avLst/>
              </a:prstGeom>
              <a:noFill/>
            </p:spPr>
            <p:txBody>
              <a:bodyPr wrap="square">
                <a:spAutoFit/>
              </a:bodyPr>
              <a:lstStyle/>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s-ES" sz="1400" b="0" i="1" noProof="0" smtClean="0">
                          <a:solidFill>
                            <a:schemeClr val="dk1"/>
                          </a:solidFill>
                          <a:latin typeface="Cambria Math" panose="02040503050406030204" pitchFamily="18" charset="0"/>
                          <a:cs typeface="Times New Roman"/>
                        </a:rPr>
                        <m:t>𝐴𝐸𝑃</m:t>
                      </m:r>
                      <m:r>
                        <a:rPr lang="es-ES" sz="1400" b="0" i="1" noProof="0" smtClean="0">
                          <a:solidFill>
                            <a:schemeClr val="dk1"/>
                          </a:solidFill>
                          <a:latin typeface="Cambria Math" panose="02040503050406030204" pitchFamily="18" charset="0"/>
                          <a:cs typeface="Times New Roman"/>
                        </a:rPr>
                        <m:t>=500 </m:t>
                      </m:r>
                      <m:r>
                        <a:rPr lang="es-ES" sz="1400" b="0" i="1" noProof="0" smtClean="0">
                          <a:solidFill>
                            <a:schemeClr val="dk1"/>
                          </a:solidFill>
                          <a:latin typeface="Cambria Math" panose="02040503050406030204" pitchFamily="18" charset="0"/>
                          <a:cs typeface="Times New Roman"/>
                        </a:rPr>
                        <m:t>𝑀𝑊</m:t>
                      </m:r>
                      <m:r>
                        <a:rPr lang="es-ES" sz="1400" b="0" i="1" noProof="0" smtClean="0">
                          <a:solidFill>
                            <a:schemeClr val="dk1"/>
                          </a:solidFill>
                          <a:latin typeface="Cambria Math" panose="02040503050406030204" pitchFamily="18" charset="0"/>
                          <a:cs typeface="Times New Roman"/>
                        </a:rPr>
                        <m:t>·8760 </m:t>
                      </m:r>
                      <m:r>
                        <a:rPr lang="es-ES" sz="1400" b="0" i="1" noProof="0" smtClean="0">
                          <a:solidFill>
                            <a:schemeClr val="dk1"/>
                          </a:solidFill>
                          <a:latin typeface="Cambria Math" panose="02040503050406030204" pitchFamily="18" charset="0"/>
                          <a:cs typeface="Times New Roman"/>
                        </a:rPr>
                        <m:t>h</m:t>
                      </m:r>
                      <m:r>
                        <a:rPr lang="es-ES" sz="1400" b="0" i="1" noProof="0" smtClean="0">
                          <a:solidFill>
                            <a:schemeClr val="dk1"/>
                          </a:solidFill>
                          <a:latin typeface="Cambria Math" panose="02040503050406030204" pitchFamily="18" charset="0"/>
                          <a:cs typeface="Times New Roman"/>
                        </a:rPr>
                        <m:t>/</m:t>
                      </m:r>
                      <m:r>
                        <a:rPr lang="es-ES" sz="1400" b="0" i="1" noProof="0" smtClean="0">
                          <a:solidFill>
                            <a:schemeClr val="dk1"/>
                          </a:solidFill>
                          <a:latin typeface="Cambria Math" panose="02040503050406030204" pitchFamily="18" charset="0"/>
                          <a:cs typeface="Times New Roman"/>
                        </a:rPr>
                        <m:t>𝑎</m:t>
                      </m:r>
                      <m:r>
                        <a:rPr lang="es-ES" sz="1400" b="0" i="1" noProof="0" smtClean="0">
                          <a:solidFill>
                            <a:schemeClr val="dk1"/>
                          </a:solidFill>
                          <a:latin typeface="Cambria Math" panose="02040503050406030204" pitchFamily="18" charset="0"/>
                          <a:cs typeface="Times New Roman"/>
                        </a:rPr>
                        <m:t>ñ</m:t>
                      </m:r>
                      <m:r>
                        <a:rPr lang="es-ES" sz="1400" b="0" i="1" noProof="0" smtClean="0">
                          <a:solidFill>
                            <a:schemeClr val="dk1"/>
                          </a:solidFill>
                          <a:latin typeface="Cambria Math" panose="02040503050406030204" pitchFamily="18" charset="0"/>
                          <a:cs typeface="Times New Roman"/>
                        </a:rPr>
                        <m:t>𝑜</m:t>
                      </m:r>
                      <m:r>
                        <a:rPr lang="es-ES" sz="1400" b="0" i="1" noProof="0" smtClean="0">
                          <a:solidFill>
                            <a:schemeClr val="dk1"/>
                          </a:solidFill>
                          <a:latin typeface="Cambria Math" panose="02040503050406030204" pitchFamily="18" charset="0"/>
                          <a:cs typeface="Times New Roman"/>
                        </a:rPr>
                        <m:t>·0,6=2628000 </m:t>
                      </m:r>
                      <m:r>
                        <a:rPr lang="es-ES" sz="1400" b="0" i="1" noProof="0" smtClean="0">
                          <a:solidFill>
                            <a:schemeClr val="dk1"/>
                          </a:solidFill>
                          <a:latin typeface="Cambria Math" panose="02040503050406030204" pitchFamily="18" charset="0"/>
                          <a:cs typeface="Times New Roman"/>
                        </a:rPr>
                        <m:t>𝑀𝑊h</m:t>
                      </m:r>
                    </m:oMath>
                  </m:oMathPara>
                </a14:m>
                <a:endParaRPr lang="es-ES" sz="1400" noProof="0" dirty="0">
                  <a:solidFill>
                    <a:schemeClr val="dk1"/>
                  </a:solidFill>
                  <a:latin typeface="Times New Roman"/>
                  <a:cs typeface="Times New Roman"/>
                </a:endParaRPr>
              </a:p>
            </p:txBody>
          </p:sp>
        </mc:Choice>
        <mc:Fallback>
          <p:sp>
            <p:nvSpPr>
              <p:cNvPr id="6" name="CuadroTexto 5">
                <a:extLst>
                  <a:ext uri="{FF2B5EF4-FFF2-40B4-BE49-F238E27FC236}">
                    <a16:creationId xmlns:a16="http://schemas.microsoft.com/office/drawing/2014/main" id="{615E5D56-2555-FB15-85B5-12BFFCB534FB}"/>
                  </a:ext>
                </a:extLst>
              </p:cNvPr>
              <p:cNvSpPr txBox="1">
                <a:spLocks noRot="1" noChangeAspect="1" noMove="1" noResize="1" noEditPoints="1" noAdjustHandles="1" noChangeArrowheads="1" noChangeShapeType="1" noTextEdit="1"/>
              </p:cNvSpPr>
              <p:nvPr/>
            </p:nvSpPr>
            <p:spPr>
              <a:xfrm>
                <a:off x="1986595" y="5041446"/>
                <a:ext cx="4572000" cy="307777"/>
              </a:xfrm>
              <a:prstGeom prst="rect">
                <a:avLst/>
              </a:prstGeom>
              <a:blipFill>
                <a:blip r:embed="rId5"/>
                <a:stretch>
                  <a:fillRect b="-10000"/>
                </a:stretch>
              </a:blipFill>
            </p:spPr>
            <p:txBody>
              <a:bodyPr/>
              <a:lstStyle/>
              <a:p>
                <a:r>
                  <a:rPr lang="en-US">
                    <a:noFill/>
                  </a:rPr>
                  <a:t> </a:t>
                </a:r>
              </a:p>
            </p:txBody>
          </p:sp>
        </mc:Fallback>
      </mc:AlternateContent>
      <p:sp>
        <p:nvSpPr>
          <p:cNvPr id="7" name="Google Shape;406;p35">
            <a:extLst>
              <a:ext uri="{FF2B5EF4-FFF2-40B4-BE49-F238E27FC236}">
                <a16:creationId xmlns:a16="http://schemas.microsoft.com/office/drawing/2014/main" id="{DA9CE8D6-C4C3-B8DF-295E-821C8D2C94E2}"/>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dirty="0"/>
              <a:t>Uso de la energía</a:t>
            </a:r>
          </a:p>
        </p:txBody>
      </p:sp>
    </p:spTree>
    <p:extLst>
      <p:ext uri="{BB962C8B-B14F-4D97-AF65-F5344CB8AC3E}">
        <p14:creationId xmlns:p14="http://schemas.microsoft.com/office/powerpoint/2010/main" val="966877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3">
          <a:extLst>
            <a:ext uri="{FF2B5EF4-FFF2-40B4-BE49-F238E27FC236}">
              <a16:creationId xmlns:a16="http://schemas.microsoft.com/office/drawing/2014/main" id="{477F9611-0F24-0E7A-9604-996F1DE73015}"/>
            </a:ext>
          </a:extLst>
        </p:cNvPr>
        <p:cNvGrpSpPr/>
        <p:nvPr/>
      </p:nvGrpSpPr>
      <p:grpSpPr>
        <a:xfrm>
          <a:off x="0" y="0"/>
          <a:ext cx="0" cy="0"/>
          <a:chOff x="0" y="0"/>
          <a:chExt cx="0" cy="0"/>
        </a:xfrm>
      </p:grpSpPr>
      <p:sp>
        <p:nvSpPr>
          <p:cNvPr id="444" name="Google Shape;444;p39">
            <a:extLst>
              <a:ext uri="{FF2B5EF4-FFF2-40B4-BE49-F238E27FC236}">
                <a16:creationId xmlns:a16="http://schemas.microsoft.com/office/drawing/2014/main" id="{5EE6569C-A870-2252-E436-80DEAB1B7F4E}"/>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40</a:t>
            </a:fld>
            <a:endParaRPr lang="es-ES" noProof="0" dirty="0"/>
          </a:p>
        </p:txBody>
      </p:sp>
      <p:sp>
        <p:nvSpPr>
          <p:cNvPr id="18" name="Google Shape;446;p39">
            <a:extLst>
              <a:ext uri="{FF2B5EF4-FFF2-40B4-BE49-F238E27FC236}">
                <a16:creationId xmlns:a16="http://schemas.microsoft.com/office/drawing/2014/main" id="{FC2DAAAF-D529-287C-8E58-CCC5F4D69650}"/>
              </a:ext>
            </a:extLst>
          </p:cNvPr>
          <p:cNvSpPr txBox="1"/>
          <p:nvPr/>
        </p:nvSpPr>
        <p:spPr>
          <a:xfrm>
            <a:off x="853466" y="470047"/>
            <a:ext cx="797303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cs typeface="Times New Roman"/>
                <a:sym typeface="Times New Roman"/>
              </a:rPr>
              <a:t>Coste de la energía: LCOE</a:t>
            </a:r>
            <a:endParaRPr lang="es-ES" noProof="0" dirty="0"/>
          </a:p>
        </p:txBody>
      </p:sp>
      <p:pic>
        <p:nvPicPr>
          <p:cNvPr id="16" name="Imagen 15" descr="\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garnet}{RGB}{0,14,120}&#10;\definecolor{CyF}{RGB}{178,223,219}&#10;&#10;\pagestyle{empty}&#10;&#10;&#10;\begin{document}&#10;&#10;$\textrm{LCOE}=\frac{FCR\times ICC + O\&amp;M+F+TCR}{AEP}$&#10;&#10;\end{document}&#10;" title="IguanaTex Bitmap Display">
            <a:extLst>
              <a:ext uri="{FF2B5EF4-FFF2-40B4-BE49-F238E27FC236}">
                <a16:creationId xmlns:a16="http://schemas.microsoft.com/office/drawing/2014/main" id="{D8A9A643-9E10-718E-40EB-CB0FCE9F3FB5}"/>
              </a:ext>
            </a:extLst>
          </p:cNvPr>
          <p:cNvPicPr>
            <a:picLocks noChangeAspect="1"/>
          </p:cNvPicPr>
          <p:nvPr>
            <p:custDataLst>
              <p:tags r:id="rId1"/>
            </p:custDataLst>
          </p:nvPr>
        </p:nvPicPr>
        <p:blipFill>
          <a:blip r:embed="rId4"/>
          <a:stretch>
            <a:fillRect/>
          </a:stretch>
        </p:blipFill>
        <p:spPr>
          <a:xfrm>
            <a:off x="1214236" y="5592182"/>
            <a:ext cx="3718753" cy="314208"/>
          </a:xfrm>
          <a:prstGeom prst="rect">
            <a:avLst/>
          </a:prstGeom>
        </p:spPr>
      </p:pic>
      <p:sp>
        <p:nvSpPr>
          <p:cNvPr id="17" name="Google Shape;540;p49">
            <a:extLst>
              <a:ext uri="{FF2B5EF4-FFF2-40B4-BE49-F238E27FC236}">
                <a16:creationId xmlns:a16="http://schemas.microsoft.com/office/drawing/2014/main" id="{E8F0A9EA-EE30-BFD0-9FA3-2DC69B6E0051}"/>
              </a:ext>
            </a:extLst>
          </p:cNvPr>
          <p:cNvSpPr/>
          <p:nvPr/>
        </p:nvSpPr>
        <p:spPr>
          <a:xfrm>
            <a:off x="5269287" y="5206072"/>
            <a:ext cx="3406401" cy="11695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FCR</a:t>
            </a:r>
            <a:r>
              <a:rPr lang="es-ES" sz="1000" noProof="0" dirty="0">
                <a:solidFill>
                  <a:schemeClr val="dk1"/>
                </a:solidFill>
                <a:latin typeface="Times New Roman"/>
                <a:ea typeface="Times New Roman"/>
                <a:cs typeface="Times New Roman"/>
                <a:sym typeface="Times New Roman"/>
              </a:rPr>
              <a:t> Es una tasa de cargo fijo para anualizar los costes iniciales de capital (incluye la depreciación, impuestos, etc.)</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ICC</a:t>
            </a:r>
            <a:r>
              <a:rPr lang="es-ES" sz="1000" noProof="0" dirty="0">
                <a:solidFill>
                  <a:schemeClr val="dk1"/>
                </a:solidFill>
                <a:latin typeface="Times New Roman"/>
                <a:ea typeface="Times New Roman"/>
                <a:cs typeface="Times New Roman"/>
                <a:sym typeface="Times New Roman"/>
              </a:rPr>
              <a:t> son los costes iniciales de capital</a:t>
            </a:r>
            <a:r>
              <a:rPr lang="es-ES" sz="1000" i="1" noProof="0" dirty="0">
                <a:solidFill>
                  <a:schemeClr val="dk1"/>
                </a:solidFill>
                <a:latin typeface="Times New Roman"/>
                <a:ea typeface="Times New Roman"/>
                <a:cs typeface="Times New Roman"/>
                <a:sym typeface="Times New Roman"/>
              </a:rPr>
              <a:t>.</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O&amp;M</a:t>
            </a:r>
            <a:r>
              <a:rPr lang="es-ES" sz="1000" noProof="0" dirty="0">
                <a:solidFill>
                  <a:schemeClr val="dk1"/>
                </a:solidFill>
                <a:latin typeface="Times New Roman"/>
                <a:ea typeface="Times New Roman"/>
                <a:cs typeface="Times New Roman"/>
                <a:sym typeface="Times New Roman"/>
              </a:rPr>
              <a:t> son los costes anuales de operación y mantenimiento</a:t>
            </a:r>
            <a:r>
              <a:rPr lang="es-ES" sz="1000" i="1" noProof="0" dirty="0">
                <a:solidFill>
                  <a:schemeClr val="dk1"/>
                </a:solidFill>
                <a:latin typeface="Times New Roman"/>
                <a:ea typeface="Times New Roman"/>
                <a:cs typeface="Times New Roman"/>
                <a:sym typeface="Times New Roman"/>
              </a:rPr>
              <a:t>.</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F</a:t>
            </a:r>
            <a:r>
              <a:rPr lang="es-ES" sz="1000" noProof="0" dirty="0">
                <a:solidFill>
                  <a:schemeClr val="dk1"/>
                </a:solidFill>
                <a:latin typeface="Times New Roman"/>
                <a:ea typeface="Times New Roman"/>
                <a:cs typeface="Times New Roman"/>
                <a:sym typeface="Times New Roman"/>
              </a:rPr>
              <a:t> son los costes anuales de combustible.</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TCR </a:t>
            </a:r>
            <a:r>
              <a:rPr lang="es-ES" sz="1000" noProof="0" dirty="0">
                <a:solidFill>
                  <a:schemeClr val="dk1"/>
                </a:solidFill>
                <a:latin typeface="Times New Roman"/>
                <a:ea typeface="Times New Roman"/>
                <a:cs typeface="Times New Roman"/>
                <a:sym typeface="Times New Roman"/>
              </a:rPr>
              <a:t>son los costes anuales de impuestos, seguros, etc.</a:t>
            </a:r>
          </a:p>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AEP </a:t>
            </a:r>
            <a:r>
              <a:rPr lang="es-ES" sz="1000" noProof="0" dirty="0">
                <a:solidFill>
                  <a:schemeClr val="dk1"/>
                </a:solidFill>
                <a:latin typeface="Times New Roman"/>
                <a:ea typeface="Times New Roman"/>
                <a:cs typeface="Times New Roman"/>
                <a:sym typeface="Times New Roman"/>
              </a:rPr>
              <a:t>es la energía anual generada.</a:t>
            </a: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0C21BA27-F66D-F45C-A489-07E39A9CDA47}"/>
                  </a:ext>
                </a:extLst>
              </p:cNvPr>
              <p:cNvSpPr txBox="1"/>
              <p:nvPr/>
            </p:nvSpPr>
            <p:spPr>
              <a:xfrm>
                <a:off x="853466" y="1045380"/>
                <a:ext cx="7822222" cy="3652025"/>
              </a:xfrm>
              <a:prstGeom prst="rect">
                <a:avLst/>
              </a:prstGeom>
              <a:noFill/>
            </p:spPr>
            <p:txBody>
              <a:bodyPr wrap="square">
                <a:spAutoFit/>
              </a:bodyPr>
              <a:lstStyle/>
              <a:p>
                <a:pPr algn="just">
                  <a:buClr>
                    <a:schemeClr val="dk1"/>
                  </a:buClr>
                  <a:buSzPts val="2000"/>
                </a:pPr>
                <a:r>
                  <a:rPr lang="es-ES" sz="2000" i="1" noProof="0" dirty="0">
                    <a:solidFill>
                      <a:srgbClr val="0000FF"/>
                    </a:solidFill>
                    <a:latin typeface="Times New Roman"/>
                    <a:ea typeface="Times New Roman"/>
                    <a:cs typeface="Times New Roman"/>
                    <a:sym typeface="Times New Roman"/>
                  </a:rPr>
                  <a:t>Ejemplo 4: LCOE planta eólica</a:t>
                </a:r>
              </a:p>
              <a:p>
                <a:pPr algn="just">
                  <a:buClr>
                    <a:schemeClr val="dk1"/>
                  </a:buClr>
                  <a:buSzPts val="2000"/>
                </a:pPr>
                <a:endParaRPr lang="es-ES" sz="1800" noProof="0" dirty="0">
                  <a:solidFill>
                    <a:schemeClr val="dk1"/>
                  </a:solidFill>
                  <a:latin typeface="Times New Roman"/>
                  <a:cs typeface="Times New Roman"/>
                  <a:sym typeface="Times New Roman"/>
                </a:endParaRPr>
              </a:p>
              <a:p>
                <a:pPr lvl="0" eaLnBrk="0" fontAlgn="base" hangingPunct="0">
                  <a:spcBef>
                    <a:spcPct val="0"/>
                  </a:spcBef>
                  <a:spcAft>
                    <a:spcPct val="0"/>
                  </a:spcAft>
                  <a:buClrTx/>
                </a:pPr>
                <a:r>
                  <a:rPr lang="es-ES" sz="1600" noProof="0" dirty="0">
                    <a:solidFill>
                      <a:schemeClr val="dk1"/>
                    </a:solidFill>
                    <a:latin typeface="Times New Roman"/>
                    <a:cs typeface="Times New Roman"/>
                  </a:rPr>
                  <a:t>Se proyecta una planta eólica </a:t>
                </a:r>
                <a:r>
                  <a:rPr lang="es-ES" sz="1600" noProof="0" dirty="0" err="1">
                    <a:solidFill>
                      <a:schemeClr val="dk1"/>
                    </a:solidFill>
                    <a:latin typeface="Times New Roman"/>
                    <a:cs typeface="Times New Roman"/>
                  </a:rPr>
                  <a:t>onshore</a:t>
                </a:r>
                <a:r>
                  <a:rPr lang="es-ES" sz="1600" noProof="0" dirty="0">
                    <a:solidFill>
                      <a:schemeClr val="dk1"/>
                    </a:solidFill>
                    <a:latin typeface="Times New Roman"/>
                    <a:cs typeface="Times New Roman"/>
                  </a:rPr>
                  <a:t> de 200 MW de capacidad instalada. Se conocen los siguientes datos:</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Inversión inicial (CAPEX): 250 millones de euros</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Costes anuales de operación y mantenimiento (OPEX): 5 millones de euros</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Vida útil estimada: 25 años</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Factor de capacidad: 35%</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No hay costes de combustible.</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Tasa de descuento: 6%</a:t>
                </a:r>
              </a:p>
              <a:p>
                <a:pPr lvl="0" eaLnBrk="0" fontAlgn="base" hangingPunct="0">
                  <a:spcBef>
                    <a:spcPct val="0"/>
                  </a:spcBef>
                  <a:spcAft>
                    <a:spcPct val="0"/>
                  </a:spcAft>
                  <a:buClrTx/>
                </a:pPr>
                <a:r>
                  <a:rPr lang="es-ES" sz="1600" noProof="0" dirty="0">
                    <a:solidFill>
                      <a:schemeClr val="dk1"/>
                    </a:solidFill>
                    <a:latin typeface="Times New Roman"/>
                    <a:cs typeface="Times New Roman"/>
                  </a:rPr>
                  <a:t>Calcula el LCOE en €/</a:t>
                </a:r>
                <a:r>
                  <a:rPr lang="es-ES" sz="1600" noProof="0" dirty="0" err="1">
                    <a:solidFill>
                      <a:schemeClr val="dk1"/>
                    </a:solidFill>
                    <a:latin typeface="Times New Roman"/>
                    <a:cs typeface="Times New Roman"/>
                  </a:rPr>
                  <a:t>MWh</a:t>
                </a:r>
                <a:r>
                  <a:rPr lang="es-ES" sz="1600" noProof="0" dirty="0">
                    <a:solidFill>
                      <a:schemeClr val="dk1"/>
                    </a:solidFill>
                    <a:latin typeface="Times New Roman"/>
                    <a:cs typeface="Times New Roman"/>
                  </a:rPr>
                  <a:t> </a:t>
                </a:r>
              </a:p>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s-ES" sz="1600" b="0" i="1" noProof="0" smtClean="0">
                          <a:solidFill>
                            <a:schemeClr val="dk1"/>
                          </a:solidFill>
                          <a:latin typeface="Cambria Math" panose="02040503050406030204" pitchFamily="18" charset="0"/>
                          <a:cs typeface="Times New Roman"/>
                        </a:rPr>
                        <m:t>𝐹𝐶𝑅</m:t>
                      </m:r>
                      <m:r>
                        <a:rPr lang="es-ES" sz="1600" b="0" i="1" noProof="0" smtClean="0">
                          <a:solidFill>
                            <a:schemeClr val="dk1"/>
                          </a:solidFill>
                          <a:latin typeface="Cambria Math" panose="02040503050406030204" pitchFamily="18" charset="0"/>
                          <a:cs typeface="Times New Roman"/>
                        </a:rPr>
                        <m:t>=</m:t>
                      </m:r>
                      <m:f>
                        <m:fPr>
                          <m:ctrlPr>
                            <a:rPr lang="es-ES" sz="1600" b="0" i="1" noProof="0" smtClean="0">
                              <a:solidFill>
                                <a:schemeClr val="dk1"/>
                              </a:solidFill>
                              <a:latin typeface="Cambria Math" panose="02040503050406030204" pitchFamily="18" charset="0"/>
                              <a:cs typeface="Times New Roman"/>
                            </a:rPr>
                          </m:ctrlPr>
                        </m:fPr>
                        <m:num>
                          <m:r>
                            <a:rPr lang="es-ES" sz="1600" b="0" i="1" noProof="0" smtClean="0">
                              <a:solidFill>
                                <a:schemeClr val="dk1"/>
                              </a:solidFill>
                              <a:latin typeface="Cambria Math" panose="02040503050406030204" pitchFamily="18" charset="0"/>
                              <a:cs typeface="Times New Roman"/>
                            </a:rPr>
                            <m:t>𝑟</m:t>
                          </m:r>
                          <m:sSup>
                            <m:sSupPr>
                              <m:ctrlPr>
                                <a:rPr lang="es-ES" sz="1600" b="0" i="1" noProof="0" smtClean="0">
                                  <a:solidFill>
                                    <a:schemeClr val="dk1"/>
                                  </a:solidFill>
                                  <a:latin typeface="Cambria Math" panose="02040503050406030204" pitchFamily="18" charset="0"/>
                                  <a:cs typeface="Times New Roman"/>
                                </a:rPr>
                              </m:ctrlPr>
                            </m:sSupPr>
                            <m:e>
                              <m:d>
                                <m:dPr>
                                  <m:ctrlPr>
                                    <a:rPr lang="es-ES" sz="1600" b="0" i="1" noProof="0" smtClean="0">
                                      <a:solidFill>
                                        <a:schemeClr val="dk1"/>
                                      </a:solidFill>
                                      <a:latin typeface="Cambria Math" panose="02040503050406030204" pitchFamily="18" charset="0"/>
                                      <a:cs typeface="Times New Roman"/>
                                    </a:rPr>
                                  </m:ctrlPr>
                                </m:dPr>
                                <m:e>
                                  <m:r>
                                    <a:rPr lang="es-ES" sz="1600" b="0" i="1" noProof="0" smtClean="0">
                                      <a:solidFill>
                                        <a:schemeClr val="dk1"/>
                                      </a:solidFill>
                                      <a:latin typeface="Cambria Math" panose="02040503050406030204" pitchFamily="18" charset="0"/>
                                      <a:cs typeface="Times New Roman"/>
                                    </a:rPr>
                                    <m:t>1+</m:t>
                                  </m:r>
                                  <m:r>
                                    <a:rPr lang="es-ES" sz="1600" b="0" i="1" noProof="0" smtClean="0">
                                      <a:solidFill>
                                        <a:schemeClr val="dk1"/>
                                      </a:solidFill>
                                      <a:latin typeface="Cambria Math" panose="02040503050406030204" pitchFamily="18" charset="0"/>
                                      <a:cs typeface="Times New Roman"/>
                                    </a:rPr>
                                    <m:t>𝑟</m:t>
                                  </m:r>
                                </m:e>
                              </m:d>
                            </m:e>
                            <m:sup>
                              <m:r>
                                <a:rPr lang="es-ES" sz="1600" b="0" i="1" noProof="0" smtClean="0">
                                  <a:solidFill>
                                    <a:schemeClr val="dk1"/>
                                  </a:solidFill>
                                  <a:latin typeface="Cambria Math" panose="02040503050406030204" pitchFamily="18" charset="0"/>
                                  <a:cs typeface="Times New Roman"/>
                                </a:rPr>
                                <m:t>𝑛</m:t>
                              </m:r>
                            </m:sup>
                          </m:sSup>
                        </m:num>
                        <m:den>
                          <m:sSup>
                            <m:sSupPr>
                              <m:ctrlPr>
                                <a:rPr lang="es-ES" sz="1600" b="0" i="1" noProof="0" smtClean="0">
                                  <a:solidFill>
                                    <a:schemeClr val="dk1"/>
                                  </a:solidFill>
                                  <a:latin typeface="Cambria Math" panose="02040503050406030204" pitchFamily="18" charset="0"/>
                                  <a:cs typeface="Times New Roman"/>
                                </a:rPr>
                              </m:ctrlPr>
                            </m:sSupPr>
                            <m:e>
                              <m:d>
                                <m:dPr>
                                  <m:ctrlPr>
                                    <a:rPr lang="es-ES" sz="1600" b="0" i="1" noProof="0" smtClean="0">
                                      <a:solidFill>
                                        <a:schemeClr val="dk1"/>
                                      </a:solidFill>
                                      <a:latin typeface="Cambria Math" panose="02040503050406030204" pitchFamily="18" charset="0"/>
                                      <a:cs typeface="Times New Roman"/>
                                    </a:rPr>
                                  </m:ctrlPr>
                                </m:dPr>
                                <m:e>
                                  <m:r>
                                    <a:rPr lang="es-ES" sz="1600" b="0" i="1" noProof="0" smtClean="0">
                                      <a:solidFill>
                                        <a:schemeClr val="dk1"/>
                                      </a:solidFill>
                                      <a:latin typeface="Cambria Math" panose="02040503050406030204" pitchFamily="18" charset="0"/>
                                      <a:cs typeface="Times New Roman"/>
                                    </a:rPr>
                                    <m:t>1+</m:t>
                                  </m:r>
                                  <m:r>
                                    <a:rPr lang="es-ES" sz="1600" b="0" i="1" noProof="0" smtClean="0">
                                      <a:solidFill>
                                        <a:schemeClr val="dk1"/>
                                      </a:solidFill>
                                      <a:latin typeface="Cambria Math" panose="02040503050406030204" pitchFamily="18" charset="0"/>
                                      <a:cs typeface="Times New Roman"/>
                                    </a:rPr>
                                    <m:t>𝑟</m:t>
                                  </m:r>
                                </m:e>
                              </m:d>
                            </m:e>
                            <m:sup>
                              <m:r>
                                <a:rPr lang="es-ES" sz="1600" b="0" i="1" noProof="0" smtClean="0">
                                  <a:solidFill>
                                    <a:schemeClr val="dk1"/>
                                  </a:solidFill>
                                  <a:latin typeface="Cambria Math" panose="02040503050406030204" pitchFamily="18" charset="0"/>
                                  <a:cs typeface="Times New Roman"/>
                                </a:rPr>
                                <m:t>𝑛</m:t>
                              </m:r>
                            </m:sup>
                          </m:sSup>
                          <m:r>
                            <a:rPr lang="es-ES" sz="1600" b="0" i="1" noProof="0" smtClean="0">
                              <a:solidFill>
                                <a:schemeClr val="dk1"/>
                              </a:solidFill>
                              <a:latin typeface="Cambria Math" panose="02040503050406030204" pitchFamily="18" charset="0"/>
                              <a:cs typeface="Times New Roman"/>
                            </a:rPr>
                            <m:t>−1</m:t>
                          </m:r>
                        </m:den>
                      </m:f>
                    </m:oMath>
                  </m:oMathPara>
                </a14:m>
                <a:endParaRPr lang="es-ES" sz="1600" noProof="0" dirty="0">
                  <a:solidFill>
                    <a:schemeClr val="dk1"/>
                  </a:solidFill>
                  <a:latin typeface="Times New Roman"/>
                  <a:cs typeface="Times New Roman"/>
                </a:endParaRPr>
              </a:p>
              <a:p>
                <a:r>
                  <a:rPr lang="es-ES" sz="1600" noProof="0" dirty="0">
                    <a:solidFill>
                      <a:schemeClr val="dk1"/>
                    </a:solidFill>
                    <a:latin typeface="Times New Roman"/>
                    <a:cs typeface="Times New Roman"/>
                  </a:rPr>
                  <a:t> </a:t>
                </a:r>
                <a:endParaRPr lang="es-ES" sz="2000" noProof="0" dirty="0"/>
              </a:p>
            </p:txBody>
          </p:sp>
        </mc:Choice>
        <mc:Fallback>
          <p:sp>
            <p:nvSpPr>
              <p:cNvPr id="3" name="CuadroTexto 2">
                <a:extLst>
                  <a:ext uri="{FF2B5EF4-FFF2-40B4-BE49-F238E27FC236}">
                    <a16:creationId xmlns:a16="http://schemas.microsoft.com/office/drawing/2014/main" id="{0C21BA27-F66D-F45C-A489-07E39A9CDA47}"/>
                  </a:ext>
                </a:extLst>
              </p:cNvPr>
              <p:cNvSpPr txBox="1">
                <a:spLocks noRot="1" noChangeAspect="1" noMove="1" noResize="1" noEditPoints="1" noAdjustHandles="1" noChangeArrowheads="1" noChangeShapeType="1" noTextEdit="1"/>
              </p:cNvSpPr>
              <p:nvPr/>
            </p:nvSpPr>
            <p:spPr>
              <a:xfrm>
                <a:off x="853466" y="1045380"/>
                <a:ext cx="7822222" cy="3652025"/>
              </a:xfrm>
              <a:prstGeom prst="rect">
                <a:avLst/>
              </a:prstGeom>
              <a:blipFill>
                <a:blip r:embed="rId5"/>
                <a:stretch>
                  <a:fillRect l="-779" t="-833"/>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C49EAEB0-345E-D4F4-023F-40034DAF128E}"/>
              </a:ext>
            </a:extLst>
          </p:cNvPr>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noProof="0" dirty="0">
                <a:ln>
                  <a:noFill/>
                </a:ln>
                <a:solidFill>
                  <a:schemeClr val="tx1"/>
                </a:solidFill>
                <a:effectLst/>
                <a:latin typeface="Arial" panose="020B0604020202020204" pitchFamily="34" charset="0"/>
              </a:rPr>
              <a:t>.</a:t>
            </a:r>
          </a:p>
        </p:txBody>
      </p:sp>
      <p:sp>
        <p:nvSpPr>
          <p:cNvPr id="7" name="Google Shape;406;p35">
            <a:extLst>
              <a:ext uri="{FF2B5EF4-FFF2-40B4-BE49-F238E27FC236}">
                <a16:creationId xmlns:a16="http://schemas.microsoft.com/office/drawing/2014/main" id="{C4A28756-55DF-1B6B-E0E3-A27F16181AAD}"/>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dirty="0"/>
              <a:t>Uso de la energía</a:t>
            </a:r>
          </a:p>
        </p:txBody>
      </p:sp>
    </p:spTree>
    <p:extLst>
      <p:ext uri="{BB962C8B-B14F-4D97-AF65-F5344CB8AC3E}">
        <p14:creationId xmlns:p14="http://schemas.microsoft.com/office/powerpoint/2010/main" val="1563034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3">
          <a:extLst>
            <a:ext uri="{FF2B5EF4-FFF2-40B4-BE49-F238E27FC236}">
              <a16:creationId xmlns:a16="http://schemas.microsoft.com/office/drawing/2014/main" id="{76888B05-4963-944B-8BD2-D0B87D2DEB07}"/>
            </a:ext>
          </a:extLst>
        </p:cNvPr>
        <p:cNvGrpSpPr/>
        <p:nvPr/>
      </p:nvGrpSpPr>
      <p:grpSpPr>
        <a:xfrm>
          <a:off x="0" y="0"/>
          <a:ext cx="0" cy="0"/>
          <a:chOff x="0" y="0"/>
          <a:chExt cx="0" cy="0"/>
        </a:xfrm>
      </p:grpSpPr>
      <p:sp>
        <p:nvSpPr>
          <p:cNvPr id="444" name="Google Shape;444;p39">
            <a:extLst>
              <a:ext uri="{FF2B5EF4-FFF2-40B4-BE49-F238E27FC236}">
                <a16:creationId xmlns:a16="http://schemas.microsoft.com/office/drawing/2014/main" id="{BE3E8880-293E-16E4-6D5D-F6C2714EE903}"/>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41</a:t>
            </a:fld>
            <a:endParaRPr lang="es-ES" noProof="0" dirty="0"/>
          </a:p>
        </p:txBody>
      </p:sp>
      <p:sp>
        <p:nvSpPr>
          <p:cNvPr id="18" name="Google Shape;446;p39">
            <a:extLst>
              <a:ext uri="{FF2B5EF4-FFF2-40B4-BE49-F238E27FC236}">
                <a16:creationId xmlns:a16="http://schemas.microsoft.com/office/drawing/2014/main" id="{B45164B9-2695-D422-9E9A-2A0CA8345976}"/>
              </a:ext>
            </a:extLst>
          </p:cNvPr>
          <p:cNvSpPr txBox="1"/>
          <p:nvPr/>
        </p:nvSpPr>
        <p:spPr>
          <a:xfrm>
            <a:off x="853466" y="470047"/>
            <a:ext cx="797303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cs typeface="Times New Roman"/>
                <a:sym typeface="Times New Roman"/>
              </a:rPr>
              <a:t>Coste de la energía: LCOE</a:t>
            </a:r>
            <a:endParaRPr lang="es-ES" noProof="0" dirty="0"/>
          </a:p>
        </p:txBody>
      </p:sp>
      <p:sp>
        <p:nvSpPr>
          <p:cNvPr id="3" name="CuadroTexto 2">
            <a:extLst>
              <a:ext uri="{FF2B5EF4-FFF2-40B4-BE49-F238E27FC236}">
                <a16:creationId xmlns:a16="http://schemas.microsoft.com/office/drawing/2014/main" id="{2B0DCD32-1803-C094-680A-DB3B20F9182E}"/>
              </a:ext>
            </a:extLst>
          </p:cNvPr>
          <p:cNvSpPr txBox="1"/>
          <p:nvPr/>
        </p:nvSpPr>
        <p:spPr>
          <a:xfrm>
            <a:off x="853466" y="1045380"/>
            <a:ext cx="7822222" cy="2893100"/>
          </a:xfrm>
          <a:prstGeom prst="rect">
            <a:avLst/>
          </a:prstGeom>
          <a:noFill/>
        </p:spPr>
        <p:txBody>
          <a:bodyPr wrap="square">
            <a:spAutoFit/>
          </a:bodyPr>
          <a:lstStyle/>
          <a:p>
            <a:pPr algn="just">
              <a:buClr>
                <a:schemeClr val="dk1"/>
              </a:buClr>
              <a:buSzPts val="2000"/>
            </a:pPr>
            <a:r>
              <a:rPr lang="es-ES" sz="2000" i="1" noProof="0" dirty="0">
                <a:solidFill>
                  <a:srgbClr val="0000FF"/>
                </a:solidFill>
                <a:latin typeface="Times New Roman"/>
                <a:ea typeface="Times New Roman"/>
                <a:cs typeface="Times New Roman"/>
                <a:sym typeface="Times New Roman"/>
              </a:rPr>
              <a:t>Ejemplo 4: LCOE planta eólica</a:t>
            </a:r>
          </a:p>
          <a:p>
            <a:pPr algn="just">
              <a:buClr>
                <a:schemeClr val="dk1"/>
              </a:buClr>
              <a:buSzPts val="2000"/>
            </a:pPr>
            <a:endParaRPr lang="es-ES" sz="1800" noProof="0" dirty="0">
              <a:solidFill>
                <a:schemeClr val="dk1"/>
              </a:solidFill>
              <a:latin typeface="Times New Roman"/>
              <a:cs typeface="Times New Roman"/>
              <a:sym typeface="Times New Roman"/>
            </a:endParaRPr>
          </a:p>
          <a:p>
            <a:pPr lvl="0" eaLnBrk="0" fontAlgn="base" hangingPunct="0">
              <a:spcBef>
                <a:spcPct val="0"/>
              </a:spcBef>
              <a:spcAft>
                <a:spcPct val="0"/>
              </a:spcAft>
              <a:buClrTx/>
            </a:pPr>
            <a:r>
              <a:rPr lang="es-ES" sz="1600" noProof="0" dirty="0">
                <a:solidFill>
                  <a:schemeClr val="dk1"/>
                </a:solidFill>
                <a:latin typeface="Times New Roman"/>
                <a:cs typeface="Times New Roman"/>
              </a:rPr>
              <a:t>Se proyecta una planta eólica </a:t>
            </a:r>
            <a:r>
              <a:rPr lang="es-ES" sz="1600" noProof="0" dirty="0" err="1">
                <a:solidFill>
                  <a:schemeClr val="dk1"/>
                </a:solidFill>
                <a:latin typeface="Times New Roman"/>
                <a:cs typeface="Times New Roman"/>
              </a:rPr>
              <a:t>onshore</a:t>
            </a:r>
            <a:r>
              <a:rPr lang="es-ES" sz="1600" noProof="0" dirty="0">
                <a:solidFill>
                  <a:schemeClr val="dk1"/>
                </a:solidFill>
                <a:latin typeface="Times New Roman"/>
                <a:cs typeface="Times New Roman"/>
              </a:rPr>
              <a:t> de 200 MW de capacidad instalada. Se conocen los siguientes datos:</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Inversión inicial (CAPEX): 250 millones de euros</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Costes anuales de operación y mantenimiento (OPEX): 5 millones de euros</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Vida útil estimada: 25 años</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Factor de capacidad: 35%</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No hay costes de combustible.</a:t>
            </a:r>
          </a:p>
          <a:p>
            <a:pPr marL="542925" indent="-276225" eaLnBrk="0" fontAlgn="base" hangingPunct="0">
              <a:spcBef>
                <a:spcPct val="0"/>
              </a:spcBef>
              <a:spcAft>
                <a:spcPct val="0"/>
              </a:spcAft>
              <a:buClrTx/>
              <a:buFontTx/>
              <a:buChar char="•"/>
            </a:pPr>
            <a:r>
              <a:rPr lang="es-ES" sz="1600" noProof="0" dirty="0">
                <a:solidFill>
                  <a:schemeClr val="dk1"/>
                </a:solidFill>
                <a:latin typeface="Times New Roman"/>
                <a:cs typeface="Times New Roman"/>
              </a:rPr>
              <a:t>Tasa de descuento: 6%</a:t>
            </a:r>
          </a:p>
          <a:p>
            <a:pPr lvl="0" eaLnBrk="0" fontAlgn="base" hangingPunct="0">
              <a:spcBef>
                <a:spcPct val="0"/>
              </a:spcBef>
              <a:spcAft>
                <a:spcPct val="0"/>
              </a:spcAft>
              <a:buClrTx/>
            </a:pPr>
            <a:r>
              <a:rPr lang="es-ES" sz="1600" noProof="0" dirty="0">
                <a:solidFill>
                  <a:schemeClr val="dk1"/>
                </a:solidFill>
                <a:latin typeface="Times New Roman"/>
                <a:cs typeface="Times New Roman"/>
              </a:rPr>
              <a:t>Calcula el LCOE en €/</a:t>
            </a:r>
            <a:r>
              <a:rPr lang="es-ES" sz="1600" noProof="0" dirty="0" err="1">
                <a:solidFill>
                  <a:schemeClr val="dk1"/>
                </a:solidFill>
                <a:latin typeface="Times New Roman"/>
                <a:cs typeface="Times New Roman"/>
              </a:rPr>
              <a:t>MWh</a:t>
            </a:r>
            <a:r>
              <a:rPr lang="es-ES" sz="1600" noProof="0" dirty="0">
                <a:solidFill>
                  <a:schemeClr val="dk1"/>
                </a:solidFill>
                <a:latin typeface="Times New Roman"/>
                <a:cs typeface="Times New Roman"/>
              </a:rPr>
              <a:t>  </a:t>
            </a:r>
            <a:endParaRPr lang="es-ES" sz="2000" noProof="0" dirty="0"/>
          </a:p>
        </p:txBody>
      </p:sp>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35F8A742-B3FB-C5BA-EAD9-9CF58E51AEEF}"/>
                  </a:ext>
                </a:extLst>
              </p:cNvPr>
              <p:cNvSpPr txBox="1"/>
              <p:nvPr/>
            </p:nvSpPr>
            <p:spPr>
              <a:xfrm>
                <a:off x="1840938" y="4184701"/>
                <a:ext cx="4572000" cy="558102"/>
              </a:xfrm>
              <a:prstGeom prst="rect">
                <a:avLst/>
              </a:prstGeom>
              <a:noFill/>
            </p:spPr>
            <p:txBody>
              <a:bodyPr wrap="square">
                <a:spAutoFit/>
              </a:bodyPr>
              <a:lstStyle/>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s-ES" sz="1400" b="0" i="1" noProof="0" smtClean="0">
                          <a:solidFill>
                            <a:schemeClr val="dk1"/>
                          </a:solidFill>
                          <a:latin typeface="Cambria Math" panose="02040503050406030204" pitchFamily="18" charset="0"/>
                          <a:cs typeface="Times New Roman"/>
                        </a:rPr>
                        <m:t>𝐹𝐶𝑅</m:t>
                      </m:r>
                      <m:r>
                        <a:rPr lang="es-ES" sz="1400" b="0" i="1" noProof="0" smtClean="0">
                          <a:solidFill>
                            <a:schemeClr val="dk1"/>
                          </a:solidFill>
                          <a:latin typeface="Cambria Math" panose="02040503050406030204" pitchFamily="18" charset="0"/>
                          <a:cs typeface="Times New Roman"/>
                        </a:rPr>
                        <m:t>=</m:t>
                      </m:r>
                      <m:f>
                        <m:fPr>
                          <m:ctrlPr>
                            <a:rPr lang="es-ES" sz="1400" b="0" i="1" noProof="0" smtClean="0">
                              <a:solidFill>
                                <a:schemeClr val="dk1"/>
                              </a:solidFill>
                              <a:latin typeface="Cambria Math" panose="02040503050406030204" pitchFamily="18" charset="0"/>
                              <a:cs typeface="Times New Roman"/>
                            </a:rPr>
                          </m:ctrlPr>
                        </m:fPr>
                        <m:num>
                          <m:r>
                            <a:rPr lang="es-ES" sz="1400" b="0" i="1" noProof="0" smtClean="0">
                              <a:solidFill>
                                <a:schemeClr val="dk1"/>
                              </a:solidFill>
                              <a:latin typeface="Cambria Math" panose="02040503050406030204" pitchFamily="18" charset="0"/>
                              <a:cs typeface="Times New Roman"/>
                            </a:rPr>
                            <m:t>𝑟</m:t>
                          </m:r>
                          <m:sSup>
                            <m:sSupPr>
                              <m:ctrlPr>
                                <a:rPr lang="es-ES" sz="1400" b="0" i="1" noProof="0" smtClean="0">
                                  <a:solidFill>
                                    <a:schemeClr val="dk1"/>
                                  </a:solidFill>
                                  <a:latin typeface="Cambria Math" panose="02040503050406030204" pitchFamily="18" charset="0"/>
                                  <a:cs typeface="Times New Roman"/>
                                </a:rPr>
                              </m:ctrlPr>
                            </m:sSupPr>
                            <m:e>
                              <m:d>
                                <m:dPr>
                                  <m:ctrlPr>
                                    <a:rPr lang="es-ES" sz="1400" b="0" i="1" noProof="0" smtClean="0">
                                      <a:solidFill>
                                        <a:schemeClr val="dk1"/>
                                      </a:solidFill>
                                      <a:latin typeface="Cambria Math" panose="02040503050406030204" pitchFamily="18" charset="0"/>
                                      <a:cs typeface="Times New Roman"/>
                                    </a:rPr>
                                  </m:ctrlPr>
                                </m:dPr>
                                <m:e>
                                  <m:r>
                                    <a:rPr lang="es-ES" sz="1400" b="0" i="1" noProof="0" smtClean="0">
                                      <a:solidFill>
                                        <a:schemeClr val="dk1"/>
                                      </a:solidFill>
                                      <a:latin typeface="Cambria Math" panose="02040503050406030204" pitchFamily="18" charset="0"/>
                                      <a:cs typeface="Times New Roman"/>
                                    </a:rPr>
                                    <m:t>1+</m:t>
                                  </m:r>
                                  <m:r>
                                    <a:rPr lang="es-ES" sz="1400" b="0" i="1" noProof="0" smtClean="0">
                                      <a:solidFill>
                                        <a:schemeClr val="dk1"/>
                                      </a:solidFill>
                                      <a:latin typeface="Cambria Math" panose="02040503050406030204" pitchFamily="18" charset="0"/>
                                      <a:cs typeface="Times New Roman"/>
                                    </a:rPr>
                                    <m:t>𝑟</m:t>
                                  </m:r>
                                </m:e>
                              </m:d>
                            </m:e>
                            <m:sup>
                              <m:r>
                                <a:rPr lang="es-ES" sz="1400" b="0" i="1" noProof="0" smtClean="0">
                                  <a:solidFill>
                                    <a:schemeClr val="dk1"/>
                                  </a:solidFill>
                                  <a:latin typeface="Cambria Math" panose="02040503050406030204" pitchFamily="18" charset="0"/>
                                  <a:cs typeface="Times New Roman"/>
                                </a:rPr>
                                <m:t>𝑛</m:t>
                              </m:r>
                            </m:sup>
                          </m:sSup>
                        </m:num>
                        <m:den>
                          <m:sSup>
                            <m:sSupPr>
                              <m:ctrlPr>
                                <a:rPr lang="es-ES" sz="1400" b="0" i="1" noProof="0" smtClean="0">
                                  <a:solidFill>
                                    <a:schemeClr val="dk1"/>
                                  </a:solidFill>
                                  <a:latin typeface="Cambria Math" panose="02040503050406030204" pitchFamily="18" charset="0"/>
                                  <a:cs typeface="Times New Roman"/>
                                </a:rPr>
                              </m:ctrlPr>
                            </m:sSupPr>
                            <m:e>
                              <m:d>
                                <m:dPr>
                                  <m:ctrlPr>
                                    <a:rPr lang="es-ES" sz="1400" b="0" i="1" noProof="0" smtClean="0">
                                      <a:solidFill>
                                        <a:schemeClr val="dk1"/>
                                      </a:solidFill>
                                      <a:latin typeface="Cambria Math" panose="02040503050406030204" pitchFamily="18" charset="0"/>
                                      <a:cs typeface="Times New Roman"/>
                                    </a:rPr>
                                  </m:ctrlPr>
                                </m:dPr>
                                <m:e>
                                  <m:r>
                                    <a:rPr lang="es-ES" sz="1400" b="0" i="1" noProof="0" smtClean="0">
                                      <a:solidFill>
                                        <a:schemeClr val="dk1"/>
                                      </a:solidFill>
                                      <a:latin typeface="Cambria Math" panose="02040503050406030204" pitchFamily="18" charset="0"/>
                                      <a:cs typeface="Times New Roman"/>
                                    </a:rPr>
                                    <m:t>1+</m:t>
                                  </m:r>
                                  <m:r>
                                    <a:rPr lang="es-ES" sz="1400" b="0" i="1" noProof="0" smtClean="0">
                                      <a:solidFill>
                                        <a:schemeClr val="dk1"/>
                                      </a:solidFill>
                                      <a:latin typeface="Cambria Math" panose="02040503050406030204" pitchFamily="18" charset="0"/>
                                      <a:cs typeface="Times New Roman"/>
                                    </a:rPr>
                                    <m:t>𝑟</m:t>
                                  </m:r>
                                </m:e>
                              </m:d>
                            </m:e>
                            <m:sup>
                              <m:r>
                                <a:rPr lang="es-ES" sz="1400" b="0" i="1" noProof="0" smtClean="0">
                                  <a:solidFill>
                                    <a:schemeClr val="dk1"/>
                                  </a:solidFill>
                                  <a:latin typeface="Cambria Math" panose="02040503050406030204" pitchFamily="18" charset="0"/>
                                  <a:cs typeface="Times New Roman"/>
                                </a:rPr>
                                <m:t>𝑛</m:t>
                              </m:r>
                            </m:sup>
                          </m:sSup>
                          <m:r>
                            <a:rPr lang="es-ES" sz="1400" b="0" i="1" noProof="0" smtClean="0">
                              <a:solidFill>
                                <a:schemeClr val="dk1"/>
                              </a:solidFill>
                              <a:latin typeface="Cambria Math" panose="02040503050406030204" pitchFamily="18" charset="0"/>
                              <a:cs typeface="Times New Roman"/>
                            </a:rPr>
                            <m:t>−1</m:t>
                          </m:r>
                        </m:den>
                      </m:f>
                      <m:r>
                        <a:rPr lang="es-ES" sz="1400" b="0" i="1" noProof="0" smtClean="0">
                          <a:solidFill>
                            <a:schemeClr val="dk1"/>
                          </a:solidFill>
                          <a:latin typeface="Cambria Math" panose="02040503050406030204" pitchFamily="18" charset="0"/>
                          <a:cs typeface="Times New Roman"/>
                        </a:rPr>
                        <m:t>=</m:t>
                      </m:r>
                      <m:f>
                        <m:fPr>
                          <m:ctrlPr>
                            <a:rPr lang="es-ES" sz="1400" b="0" i="1" noProof="0" smtClean="0">
                              <a:solidFill>
                                <a:schemeClr val="dk1"/>
                              </a:solidFill>
                              <a:latin typeface="Cambria Math" panose="02040503050406030204" pitchFamily="18" charset="0"/>
                              <a:cs typeface="Times New Roman"/>
                            </a:rPr>
                          </m:ctrlPr>
                        </m:fPr>
                        <m:num>
                          <m:r>
                            <a:rPr lang="es-ES" sz="1400" b="0" i="1" noProof="0" smtClean="0">
                              <a:solidFill>
                                <a:schemeClr val="dk1"/>
                              </a:solidFill>
                              <a:latin typeface="Cambria Math" panose="02040503050406030204" pitchFamily="18" charset="0"/>
                              <a:cs typeface="Times New Roman"/>
                            </a:rPr>
                            <m:t>0,06</m:t>
                          </m:r>
                          <m:sSup>
                            <m:sSupPr>
                              <m:ctrlPr>
                                <a:rPr lang="es-ES" sz="1400" b="0" i="1" noProof="0" smtClean="0">
                                  <a:solidFill>
                                    <a:schemeClr val="dk1"/>
                                  </a:solidFill>
                                  <a:latin typeface="Cambria Math" panose="02040503050406030204" pitchFamily="18" charset="0"/>
                                  <a:cs typeface="Times New Roman"/>
                                </a:rPr>
                              </m:ctrlPr>
                            </m:sSupPr>
                            <m:e>
                              <m:d>
                                <m:dPr>
                                  <m:ctrlPr>
                                    <a:rPr lang="es-ES" sz="1400" b="0" i="1" noProof="0" smtClean="0">
                                      <a:solidFill>
                                        <a:schemeClr val="dk1"/>
                                      </a:solidFill>
                                      <a:latin typeface="Cambria Math" panose="02040503050406030204" pitchFamily="18" charset="0"/>
                                      <a:cs typeface="Times New Roman"/>
                                    </a:rPr>
                                  </m:ctrlPr>
                                </m:dPr>
                                <m:e>
                                  <m:r>
                                    <a:rPr lang="es-ES" sz="1400" b="0" i="1" noProof="0" smtClean="0">
                                      <a:solidFill>
                                        <a:schemeClr val="dk1"/>
                                      </a:solidFill>
                                      <a:latin typeface="Cambria Math" panose="02040503050406030204" pitchFamily="18" charset="0"/>
                                      <a:cs typeface="Times New Roman"/>
                                    </a:rPr>
                                    <m:t>1,06</m:t>
                                  </m:r>
                                </m:e>
                              </m:d>
                            </m:e>
                            <m:sup>
                              <m:r>
                                <a:rPr lang="es-ES" sz="1400" b="0" i="1" noProof="0" smtClean="0">
                                  <a:solidFill>
                                    <a:schemeClr val="dk1"/>
                                  </a:solidFill>
                                  <a:latin typeface="Cambria Math" panose="02040503050406030204" pitchFamily="18" charset="0"/>
                                  <a:cs typeface="Times New Roman"/>
                                </a:rPr>
                                <m:t>25</m:t>
                              </m:r>
                            </m:sup>
                          </m:sSup>
                        </m:num>
                        <m:den>
                          <m:sSup>
                            <m:sSupPr>
                              <m:ctrlPr>
                                <a:rPr lang="es-ES" sz="1400" b="0" i="1" noProof="0" smtClean="0">
                                  <a:solidFill>
                                    <a:schemeClr val="dk1"/>
                                  </a:solidFill>
                                  <a:latin typeface="Cambria Math" panose="02040503050406030204" pitchFamily="18" charset="0"/>
                                  <a:cs typeface="Times New Roman"/>
                                </a:rPr>
                              </m:ctrlPr>
                            </m:sSupPr>
                            <m:e>
                              <m:r>
                                <a:rPr lang="es-ES" sz="1400" b="0" i="1" noProof="0" smtClean="0">
                                  <a:solidFill>
                                    <a:schemeClr val="dk1"/>
                                  </a:solidFill>
                                  <a:latin typeface="Cambria Math" panose="02040503050406030204" pitchFamily="18" charset="0"/>
                                  <a:cs typeface="Times New Roman"/>
                                </a:rPr>
                                <m:t>1,06</m:t>
                              </m:r>
                            </m:e>
                            <m:sup>
                              <m:r>
                                <a:rPr lang="es-ES" sz="1400" b="0" i="1" noProof="0" smtClean="0">
                                  <a:solidFill>
                                    <a:schemeClr val="dk1"/>
                                  </a:solidFill>
                                  <a:latin typeface="Cambria Math" panose="02040503050406030204" pitchFamily="18" charset="0"/>
                                  <a:cs typeface="Times New Roman"/>
                                </a:rPr>
                                <m:t>25</m:t>
                              </m:r>
                            </m:sup>
                          </m:sSup>
                          <m:r>
                            <a:rPr lang="es-ES" sz="1400" b="0" i="1" noProof="0" smtClean="0">
                              <a:solidFill>
                                <a:schemeClr val="dk1"/>
                              </a:solidFill>
                              <a:latin typeface="Cambria Math" panose="02040503050406030204" pitchFamily="18" charset="0"/>
                              <a:cs typeface="Times New Roman"/>
                            </a:rPr>
                            <m:t>−1</m:t>
                          </m:r>
                        </m:den>
                      </m:f>
                      <m:r>
                        <a:rPr lang="es-ES" sz="1400" b="0" i="1" noProof="0" smtClean="0">
                          <a:solidFill>
                            <a:schemeClr val="dk1"/>
                          </a:solidFill>
                          <a:latin typeface="Cambria Math" panose="02040503050406030204" pitchFamily="18" charset="0"/>
                          <a:cs typeface="Times New Roman"/>
                        </a:rPr>
                        <m:t>=0,078</m:t>
                      </m:r>
                    </m:oMath>
                  </m:oMathPara>
                </a14:m>
                <a:endParaRPr lang="es-ES" sz="1400" noProof="0" dirty="0">
                  <a:solidFill>
                    <a:schemeClr val="dk1"/>
                  </a:solidFill>
                  <a:latin typeface="Times New Roman"/>
                  <a:cs typeface="Times New Roman"/>
                </a:endParaRPr>
              </a:p>
            </p:txBody>
          </p:sp>
        </mc:Choice>
        <mc:Fallback>
          <p:sp>
            <p:nvSpPr>
              <p:cNvPr id="4" name="CuadroTexto 3">
                <a:extLst>
                  <a:ext uri="{FF2B5EF4-FFF2-40B4-BE49-F238E27FC236}">
                    <a16:creationId xmlns:a16="http://schemas.microsoft.com/office/drawing/2014/main" id="{35F8A742-B3FB-C5BA-EAD9-9CF58E51AEEF}"/>
                  </a:ext>
                </a:extLst>
              </p:cNvPr>
              <p:cNvSpPr txBox="1">
                <a:spLocks noRot="1" noChangeAspect="1" noMove="1" noResize="1" noEditPoints="1" noAdjustHandles="1" noChangeArrowheads="1" noChangeShapeType="1" noTextEdit="1"/>
              </p:cNvSpPr>
              <p:nvPr/>
            </p:nvSpPr>
            <p:spPr>
              <a:xfrm>
                <a:off x="1840938" y="4184701"/>
                <a:ext cx="4572000" cy="55810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48F28646-2393-B9A0-31B1-FDCEF41477E2}"/>
                  </a:ext>
                </a:extLst>
              </p:cNvPr>
              <p:cNvSpPr txBox="1"/>
              <p:nvPr/>
            </p:nvSpPr>
            <p:spPr>
              <a:xfrm>
                <a:off x="617770" y="5753437"/>
                <a:ext cx="8057917" cy="5864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1600" b="0" i="1" noProof="0" smtClean="0">
                          <a:latin typeface="Cambria Math" panose="02040503050406030204" pitchFamily="18" charset="0"/>
                        </a:rPr>
                        <m:t>𝐿𝐶𝑂𝐸</m:t>
                      </m:r>
                      <m:r>
                        <a:rPr lang="es-ES" sz="1600" b="0" i="1" noProof="0" smtClean="0">
                          <a:latin typeface="Cambria Math" panose="02040503050406030204" pitchFamily="18" charset="0"/>
                        </a:rPr>
                        <m:t>=</m:t>
                      </m:r>
                      <m:f>
                        <m:fPr>
                          <m:ctrlPr>
                            <a:rPr lang="es-ES" sz="1600" b="0" i="1" noProof="0" smtClean="0">
                              <a:latin typeface="Cambria Math" panose="02040503050406030204" pitchFamily="18" charset="0"/>
                            </a:rPr>
                          </m:ctrlPr>
                        </m:fPr>
                        <m:num>
                          <m:r>
                            <a:rPr lang="es-ES" sz="1600" b="0" i="1" noProof="0" smtClean="0">
                              <a:latin typeface="Cambria Math" panose="02040503050406030204" pitchFamily="18" charset="0"/>
                            </a:rPr>
                            <m:t>𝐹𝐶𝑅</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𝐼𝐶𝐶</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𝑂</m:t>
                          </m:r>
                          <m:r>
                            <a:rPr lang="es-ES" sz="1600" b="0" i="1" noProof="0" smtClean="0">
                              <a:latin typeface="Cambria Math" panose="02040503050406030204" pitchFamily="18" charset="0"/>
                            </a:rPr>
                            <m:t>&amp;</m:t>
                          </m:r>
                          <m:r>
                            <a:rPr lang="es-ES" sz="1600" b="0" i="1" noProof="0" smtClean="0">
                              <a:latin typeface="Cambria Math" panose="02040503050406030204" pitchFamily="18" charset="0"/>
                            </a:rPr>
                            <m:t>𝑀</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𝐹</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𝑇𝐶𝑅</m:t>
                          </m:r>
                        </m:num>
                        <m:den>
                          <m:r>
                            <a:rPr lang="es-ES" sz="1600" b="0" i="1" noProof="0" smtClean="0">
                              <a:latin typeface="Cambria Math" panose="02040503050406030204" pitchFamily="18" charset="0"/>
                            </a:rPr>
                            <m:t>𝐴𝐸𝑃</m:t>
                          </m:r>
                        </m:den>
                      </m:f>
                      <m:r>
                        <a:rPr lang="es-ES" sz="1600" b="0" i="1" noProof="0" smtClean="0">
                          <a:latin typeface="Cambria Math" panose="02040503050406030204" pitchFamily="18" charset="0"/>
                        </a:rPr>
                        <m:t>=</m:t>
                      </m:r>
                      <m:f>
                        <m:fPr>
                          <m:ctrlPr>
                            <a:rPr lang="es-ES" sz="1600" b="0" i="1" noProof="0" smtClean="0">
                              <a:latin typeface="Cambria Math" panose="02040503050406030204" pitchFamily="18" charset="0"/>
                            </a:rPr>
                          </m:ctrlPr>
                        </m:fPr>
                        <m:num>
                          <m:d>
                            <m:dPr>
                              <m:ctrlPr>
                                <a:rPr lang="es-ES" sz="1600" b="0" i="1" noProof="0" smtClean="0">
                                  <a:latin typeface="Cambria Math" panose="02040503050406030204" pitchFamily="18" charset="0"/>
                                </a:rPr>
                              </m:ctrlPr>
                            </m:dPr>
                            <m:e>
                              <m:r>
                                <a:rPr lang="es-ES" sz="1600" b="0" i="1" noProof="0" smtClean="0">
                                  <a:latin typeface="Cambria Math" panose="02040503050406030204" pitchFamily="18" charset="0"/>
                                </a:rPr>
                                <m:t>0,078</m:t>
                              </m:r>
                              <m:r>
                                <a:rPr lang="es-ES" sz="1600" b="0" i="1" noProof="0" smtClean="0">
                                  <a:latin typeface="Cambria Math" panose="02040503050406030204" pitchFamily="18" charset="0"/>
                                </a:rPr>
                                <m:t>·25</m:t>
                              </m:r>
                              <m:r>
                                <a:rPr lang="es-ES" sz="1600" b="0" i="1" noProof="0" smtClean="0">
                                  <a:latin typeface="Cambria Math" panose="02040503050406030204" pitchFamily="18" charset="0"/>
                                </a:rPr>
                                <m:t>0+5</m:t>
                              </m:r>
                            </m:e>
                          </m:d>
                          <m:r>
                            <a:rPr lang="es-ES" sz="1600" b="0" i="1" noProof="0" smtClean="0">
                              <a:latin typeface="Cambria Math" panose="02040503050406030204" pitchFamily="18" charset="0"/>
                            </a:rPr>
                            <m:t>·</m:t>
                          </m:r>
                          <m:sSup>
                            <m:sSupPr>
                              <m:ctrlPr>
                                <a:rPr lang="es-ES" sz="1600" b="0" i="1" noProof="0" smtClean="0">
                                  <a:latin typeface="Cambria Math" panose="02040503050406030204" pitchFamily="18" charset="0"/>
                                </a:rPr>
                              </m:ctrlPr>
                            </m:sSupPr>
                            <m:e>
                              <m:r>
                                <a:rPr lang="es-ES" sz="1600" b="0" i="1" noProof="0" smtClean="0">
                                  <a:latin typeface="Cambria Math" panose="02040503050406030204" pitchFamily="18" charset="0"/>
                                </a:rPr>
                                <m:t>10</m:t>
                              </m:r>
                            </m:e>
                            <m:sup>
                              <m:r>
                                <a:rPr lang="es-ES" sz="1600" b="0" i="1" noProof="0" smtClean="0">
                                  <a:latin typeface="Cambria Math" panose="02040503050406030204" pitchFamily="18" charset="0"/>
                                </a:rPr>
                                <m:t>6</m:t>
                              </m:r>
                            </m:sup>
                          </m:sSup>
                        </m:num>
                        <m:den>
                          <m:r>
                            <a:rPr lang="es-ES" sz="1600" i="1" noProof="0" smtClean="0">
                              <a:solidFill>
                                <a:schemeClr val="dk1"/>
                              </a:solidFill>
                              <a:latin typeface="Cambria Math" panose="02040503050406030204" pitchFamily="18" charset="0"/>
                              <a:cs typeface="Times New Roman"/>
                            </a:rPr>
                            <m:t>6132</m:t>
                          </m:r>
                          <m:r>
                            <a:rPr lang="es-ES" sz="1600" b="0" i="1" noProof="0" smtClean="0">
                              <a:latin typeface="Cambria Math" panose="02040503050406030204" pitchFamily="18" charset="0"/>
                            </a:rPr>
                            <m:t>00</m:t>
                          </m:r>
                        </m:den>
                      </m:f>
                      <m:r>
                        <a:rPr lang="es-ES" sz="1600" b="0" i="1" noProof="0" smtClean="0">
                          <a:latin typeface="Cambria Math" panose="02040503050406030204" pitchFamily="18" charset="0"/>
                        </a:rPr>
                        <m:t>=</m:t>
                      </m:r>
                      <m:r>
                        <a:rPr lang="es-ES" sz="1600" b="0" i="1" noProof="0" smtClean="0">
                          <a:latin typeface="Cambria Math" panose="02040503050406030204" pitchFamily="18" charset="0"/>
                        </a:rPr>
                        <m:t>39</m:t>
                      </m:r>
                      <m:r>
                        <a:rPr lang="es-ES" sz="1600" b="0" i="1" noProof="0" smtClean="0">
                          <a:latin typeface="Cambria Math" panose="02040503050406030204" pitchFamily="18" charset="0"/>
                        </a:rPr>
                        <m:t>,</m:t>
                      </m:r>
                      <m:r>
                        <a:rPr lang="es-ES" sz="1600" b="0" i="1" noProof="0" smtClean="0">
                          <a:latin typeface="Cambria Math" panose="02040503050406030204" pitchFamily="18" charset="0"/>
                        </a:rPr>
                        <m:t>95</m:t>
                      </m:r>
                      <m:r>
                        <a:rPr lang="es-ES" sz="1600" b="0" i="1" noProof="0" smtClean="0">
                          <a:latin typeface="Cambria Math" panose="02040503050406030204" pitchFamily="18" charset="0"/>
                        </a:rPr>
                        <m:t> €/</m:t>
                      </m:r>
                      <m:r>
                        <a:rPr lang="es-ES" sz="1600" b="0" i="1" noProof="0" smtClean="0">
                          <a:latin typeface="Cambria Math" panose="02040503050406030204" pitchFamily="18" charset="0"/>
                        </a:rPr>
                        <m:t>𝑀𝑊h</m:t>
                      </m:r>
                    </m:oMath>
                  </m:oMathPara>
                </a14:m>
                <a:endParaRPr lang="es-ES" sz="1600" noProof="0" dirty="0"/>
              </a:p>
            </p:txBody>
          </p:sp>
        </mc:Choice>
        <mc:Fallback>
          <p:sp>
            <p:nvSpPr>
              <p:cNvPr id="5" name="CuadroTexto 4">
                <a:extLst>
                  <a:ext uri="{FF2B5EF4-FFF2-40B4-BE49-F238E27FC236}">
                    <a16:creationId xmlns:a16="http://schemas.microsoft.com/office/drawing/2014/main" id="{48F28646-2393-B9A0-31B1-FDCEF41477E2}"/>
                  </a:ext>
                </a:extLst>
              </p:cNvPr>
              <p:cNvSpPr txBox="1">
                <a:spLocks noRot="1" noChangeAspect="1" noMove="1" noResize="1" noEditPoints="1" noAdjustHandles="1" noChangeArrowheads="1" noChangeShapeType="1" noTextEdit="1"/>
              </p:cNvSpPr>
              <p:nvPr/>
            </p:nvSpPr>
            <p:spPr>
              <a:xfrm>
                <a:off x="617770" y="5753437"/>
                <a:ext cx="8057917" cy="58644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A90957F3-6669-7E57-8623-3D1B7E5D5078}"/>
                  </a:ext>
                </a:extLst>
              </p:cNvPr>
              <p:cNvSpPr txBox="1"/>
              <p:nvPr/>
            </p:nvSpPr>
            <p:spPr>
              <a:xfrm>
                <a:off x="1986595" y="5041446"/>
                <a:ext cx="4572000" cy="307777"/>
              </a:xfrm>
              <a:prstGeom prst="rect">
                <a:avLst/>
              </a:prstGeom>
              <a:noFill/>
            </p:spPr>
            <p:txBody>
              <a:bodyPr wrap="square">
                <a:spAutoFit/>
              </a:bodyPr>
              <a:lstStyle/>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s-ES" sz="1400" b="0" i="1" noProof="0" smtClean="0">
                          <a:solidFill>
                            <a:schemeClr val="dk1"/>
                          </a:solidFill>
                          <a:latin typeface="Cambria Math" panose="02040503050406030204" pitchFamily="18" charset="0"/>
                          <a:cs typeface="Times New Roman"/>
                        </a:rPr>
                        <m:t>𝐴𝐸𝑃</m:t>
                      </m:r>
                      <m:r>
                        <a:rPr lang="es-ES" sz="1400" b="0" i="1" noProof="0" smtClean="0">
                          <a:solidFill>
                            <a:schemeClr val="dk1"/>
                          </a:solidFill>
                          <a:latin typeface="Cambria Math" panose="02040503050406030204" pitchFamily="18" charset="0"/>
                          <a:cs typeface="Times New Roman"/>
                        </a:rPr>
                        <m:t>=200 </m:t>
                      </m:r>
                      <m:r>
                        <a:rPr lang="es-ES" sz="1400" b="0" i="1" noProof="0" smtClean="0">
                          <a:solidFill>
                            <a:schemeClr val="dk1"/>
                          </a:solidFill>
                          <a:latin typeface="Cambria Math" panose="02040503050406030204" pitchFamily="18" charset="0"/>
                          <a:cs typeface="Times New Roman"/>
                        </a:rPr>
                        <m:t>𝑀𝑊</m:t>
                      </m:r>
                      <m:r>
                        <a:rPr lang="es-ES" sz="1400" b="0" i="1" noProof="0" smtClean="0">
                          <a:solidFill>
                            <a:schemeClr val="dk1"/>
                          </a:solidFill>
                          <a:latin typeface="Cambria Math" panose="02040503050406030204" pitchFamily="18" charset="0"/>
                          <a:cs typeface="Times New Roman"/>
                        </a:rPr>
                        <m:t>·8760 </m:t>
                      </m:r>
                      <m:r>
                        <a:rPr lang="es-ES" sz="1400" b="0" i="1" noProof="0" smtClean="0">
                          <a:solidFill>
                            <a:schemeClr val="dk1"/>
                          </a:solidFill>
                          <a:latin typeface="Cambria Math" panose="02040503050406030204" pitchFamily="18" charset="0"/>
                          <a:cs typeface="Times New Roman"/>
                        </a:rPr>
                        <m:t>h</m:t>
                      </m:r>
                      <m:r>
                        <a:rPr lang="es-ES" sz="1400" b="0" i="1" noProof="0" smtClean="0">
                          <a:solidFill>
                            <a:schemeClr val="dk1"/>
                          </a:solidFill>
                          <a:latin typeface="Cambria Math" panose="02040503050406030204" pitchFamily="18" charset="0"/>
                          <a:cs typeface="Times New Roman"/>
                        </a:rPr>
                        <m:t>/</m:t>
                      </m:r>
                      <m:r>
                        <a:rPr lang="es-ES" sz="1400" b="0" i="1" noProof="0" smtClean="0">
                          <a:solidFill>
                            <a:schemeClr val="dk1"/>
                          </a:solidFill>
                          <a:latin typeface="Cambria Math" panose="02040503050406030204" pitchFamily="18" charset="0"/>
                          <a:cs typeface="Times New Roman"/>
                        </a:rPr>
                        <m:t>𝑎</m:t>
                      </m:r>
                      <m:r>
                        <a:rPr lang="es-ES" sz="1400" b="0" i="1" noProof="0" smtClean="0">
                          <a:solidFill>
                            <a:schemeClr val="dk1"/>
                          </a:solidFill>
                          <a:latin typeface="Cambria Math" panose="02040503050406030204" pitchFamily="18" charset="0"/>
                          <a:cs typeface="Times New Roman"/>
                        </a:rPr>
                        <m:t>ñ</m:t>
                      </m:r>
                      <m:r>
                        <a:rPr lang="es-ES" sz="1400" b="0" i="1" noProof="0" smtClean="0">
                          <a:solidFill>
                            <a:schemeClr val="dk1"/>
                          </a:solidFill>
                          <a:latin typeface="Cambria Math" panose="02040503050406030204" pitchFamily="18" charset="0"/>
                          <a:cs typeface="Times New Roman"/>
                        </a:rPr>
                        <m:t>𝑜</m:t>
                      </m:r>
                      <m:r>
                        <a:rPr lang="es-ES" sz="1400" b="0" i="1" noProof="0" smtClean="0">
                          <a:solidFill>
                            <a:schemeClr val="dk1"/>
                          </a:solidFill>
                          <a:latin typeface="Cambria Math" panose="02040503050406030204" pitchFamily="18" charset="0"/>
                          <a:cs typeface="Times New Roman"/>
                        </a:rPr>
                        <m:t>·0,35=613200 </m:t>
                      </m:r>
                      <m:r>
                        <a:rPr lang="es-ES" sz="1400" b="0" i="1" noProof="0" smtClean="0">
                          <a:solidFill>
                            <a:schemeClr val="dk1"/>
                          </a:solidFill>
                          <a:latin typeface="Cambria Math" panose="02040503050406030204" pitchFamily="18" charset="0"/>
                          <a:cs typeface="Times New Roman"/>
                        </a:rPr>
                        <m:t>𝑀𝑊h</m:t>
                      </m:r>
                    </m:oMath>
                  </m:oMathPara>
                </a14:m>
                <a:endParaRPr lang="es-ES" sz="1400" noProof="0" dirty="0">
                  <a:solidFill>
                    <a:schemeClr val="dk1"/>
                  </a:solidFill>
                  <a:latin typeface="Times New Roman"/>
                  <a:cs typeface="Times New Roman"/>
                </a:endParaRPr>
              </a:p>
            </p:txBody>
          </p:sp>
        </mc:Choice>
        <mc:Fallback>
          <p:sp>
            <p:nvSpPr>
              <p:cNvPr id="6" name="CuadroTexto 5">
                <a:extLst>
                  <a:ext uri="{FF2B5EF4-FFF2-40B4-BE49-F238E27FC236}">
                    <a16:creationId xmlns:a16="http://schemas.microsoft.com/office/drawing/2014/main" id="{A90957F3-6669-7E57-8623-3D1B7E5D5078}"/>
                  </a:ext>
                </a:extLst>
              </p:cNvPr>
              <p:cNvSpPr txBox="1">
                <a:spLocks noRot="1" noChangeAspect="1" noMove="1" noResize="1" noEditPoints="1" noAdjustHandles="1" noChangeArrowheads="1" noChangeShapeType="1" noTextEdit="1"/>
              </p:cNvSpPr>
              <p:nvPr/>
            </p:nvSpPr>
            <p:spPr>
              <a:xfrm>
                <a:off x="1986595" y="5041446"/>
                <a:ext cx="4572000" cy="307777"/>
              </a:xfrm>
              <a:prstGeom prst="rect">
                <a:avLst/>
              </a:prstGeom>
              <a:blipFill>
                <a:blip r:embed="rId5"/>
                <a:stretch>
                  <a:fillRect b="-10000"/>
                </a:stretch>
              </a:blipFill>
            </p:spPr>
            <p:txBody>
              <a:bodyPr/>
              <a:lstStyle/>
              <a:p>
                <a:r>
                  <a:rPr lang="en-US">
                    <a:noFill/>
                  </a:rPr>
                  <a:t> </a:t>
                </a:r>
              </a:p>
            </p:txBody>
          </p:sp>
        </mc:Fallback>
      </mc:AlternateContent>
      <p:sp>
        <p:nvSpPr>
          <p:cNvPr id="7" name="Google Shape;406;p35">
            <a:extLst>
              <a:ext uri="{FF2B5EF4-FFF2-40B4-BE49-F238E27FC236}">
                <a16:creationId xmlns:a16="http://schemas.microsoft.com/office/drawing/2014/main" id="{64F1F9E7-37FF-78F3-DA0F-6B1010C88763}"/>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dirty="0"/>
              <a:t>Uso de la energía</a:t>
            </a:r>
          </a:p>
        </p:txBody>
      </p:sp>
    </p:spTree>
    <p:extLst>
      <p:ext uri="{BB962C8B-B14F-4D97-AF65-F5344CB8AC3E}">
        <p14:creationId xmlns:p14="http://schemas.microsoft.com/office/powerpoint/2010/main" val="42222918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3200"/>
              <a:buFont typeface="Times New Roman"/>
              <a:buNone/>
            </a:pPr>
            <a:r>
              <a:rPr lang="es-ES" noProof="0" dirty="0"/>
              <a:t>Conceptos y definiciones</a:t>
            </a:r>
          </a:p>
          <a:p>
            <a:pPr marL="0" lvl="0" indent="0" algn="just" rtl="0">
              <a:lnSpc>
                <a:spcPct val="150000"/>
              </a:lnSpc>
              <a:spcBef>
                <a:spcPts val="600"/>
              </a:spcBef>
              <a:spcAft>
                <a:spcPts val="0"/>
              </a:spcAft>
              <a:buClr>
                <a:schemeClr val="dk1"/>
              </a:buClr>
              <a:buSzPts val="3200"/>
              <a:buFont typeface="Times New Roman"/>
              <a:buNone/>
            </a:pPr>
            <a:r>
              <a:rPr lang="es-ES" noProof="0" dirty="0"/>
              <a:t>Balance energético</a:t>
            </a:r>
          </a:p>
          <a:p>
            <a:pPr marL="0" lvl="0" indent="0" algn="just" rtl="0">
              <a:lnSpc>
                <a:spcPct val="150000"/>
              </a:lnSpc>
              <a:spcBef>
                <a:spcPts val="600"/>
              </a:spcBef>
              <a:spcAft>
                <a:spcPts val="0"/>
              </a:spcAft>
              <a:buClr>
                <a:schemeClr val="dk1"/>
              </a:buClr>
              <a:buSzPts val="3200"/>
              <a:buFont typeface="Times New Roman"/>
              <a:buNone/>
            </a:pPr>
            <a:r>
              <a:rPr lang="es-ES" noProof="0" dirty="0"/>
              <a:t>Uso de la energía</a:t>
            </a:r>
          </a:p>
          <a:p>
            <a:pPr marL="0" lvl="0" indent="0" algn="just" rtl="0">
              <a:lnSpc>
                <a:spcPct val="150000"/>
              </a:lnSpc>
              <a:spcBef>
                <a:spcPts val="600"/>
              </a:spcBef>
              <a:spcAft>
                <a:spcPts val="0"/>
              </a:spcAft>
              <a:buClr>
                <a:schemeClr val="dk1"/>
              </a:buClr>
              <a:buSzPts val="3200"/>
              <a:buFont typeface="Times New Roman"/>
              <a:buNone/>
            </a:pPr>
            <a:r>
              <a:rPr lang="es-ES" b="1" noProof="0" dirty="0"/>
              <a:t>Emisiones de GEI</a:t>
            </a:r>
            <a:endParaRPr lang="es-ES" b="1" baseline="-25000" noProof="0" dirty="0"/>
          </a:p>
          <a:p>
            <a:pPr marL="0" lvl="0" indent="0" algn="just" rtl="0">
              <a:lnSpc>
                <a:spcPct val="150000"/>
              </a:lnSpc>
              <a:spcBef>
                <a:spcPts val="600"/>
              </a:spcBef>
              <a:spcAft>
                <a:spcPts val="0"/>
              </a:spcAft>
              <a:buClr>
                <a:schemeClr val="dk1"/>
              </a:buClr>
              <a:buSzPts val="3200"/>
              <a:buFont typeface="Times New Roman"/>
              <a:buNone/>
            </a:pPr>
            <a:r>
              <a:rPr lang="es-ES" noProof="0" dirty="0"/>
              <a:t>Escenarios</a:t>
            </a:r>
          </a:p>
          <a:p>
            <a:pPr marL="0" lvl="0" indent="0" algn="just" rtl="0">
              <a:lnSpc>
                <a:spcPct val="150000"/>
              </a:lnSpc>
              <a:spcBef>
                <a:spcPts val="600"/>
              </a:spcBef>
              <a:spcAft>
                <a:spcPts val="0"/>
              </a:spcAft>
              <a:buClr>
                <a:schemeClr val="dk1"/>
              </a:buClr>
              <a:buSzPts val="3200"/>
              <a:buFont typeface="Times New Roman"/>
              <a:buNone/>
            </a:pPr>
            <a:endParaRPr lang="es-ES" noProof="0" dirty="0"/>
          </a:p>
        </p:txBody>
      </p:sp>
      <p:sp>
        <p:nvSpPr>
          <p:cNvPr id="458" name="Google Shape;458;p40"/>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42</a:t>
            </a:fld>
            <a:endParaRPr lang="es-ES" noProof="0" dirty="0"/>
          </a:p>
        </p:txBody>
      </p:sp>
      <p:sp>
        <p:nvSpPr>
          <p:cNvPr id="459" name="Google Shape;459;p40"/>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Índice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1"/>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43</a:t>
            </a:fld>
            <a:endParaRPr lang="es-ES" noProof="0" dirty="0"/>
          </a:p>
        </p:txBody>
      </p:sp>
      <p:sp>
        <p:nvSpPr>
          <p:cNvPr id="466" name="Google Shape;466;p41"/>
          <p:cNvSpPr txBox="1"/>
          <p:nvPr/>
        </p:nvSpPr>
        <p:spPr>
          <a:xfrm>
            <a:off x="906042" y="431987"/>
            <a:ext cx="7835154" cy="5139828"/>
          </a:xfrm>
          <a:prstGeom prst="rect">
            <a:avLst/>
          </a:prstGeom>
          <a:noFill/>
          <a:ln>
            <a:noFill/>
          </a:ln>
        </p:spPr>
        <p:txBody>
          <a:bodyPr spcFirstLastPara="1" wrap="square" lIns="91425" tIns="45700" rIns="91425" bIns="45700" anchor="t" anchorCtr="0">
            <a:spAutoFit/>
          </a:bodyPr>
          <a:lstStyle/>
          <a:p>
            <a:pPr marL="0" marR="0" lvl="0" indent="0" algn="just" rtl="0">
              <a:spcBef>
                <a:spcPts val="600"/>
              </a:spcBef>
              <a:spcAft>
                <a:spcPts val="600"/>
              </a:spcAft>
              <a:buNone/>
            </a:pPr>
            <a:r>
              <a:rPr lang="es-ES" sz="1800" noProof="0" dirty="0">
                <a:solidFill>
                  <a:schemeClr val="dk1"/>
                </a:solidFill>
                <a:latin typeface="Times New Roman"/>
                <a:ea typeface="Times New Roman"/>
                <a:cs typeface="Times New Roman"/>
                <a:sym typeface="Times New Roman"/>
              </a:rPr>
              <a:t>Los gases de efecto invernadero (GEI) son los máximos responsables del calentamiento global y el cambio climático según se dispone en el Protocolo de Kioto. </a:t>
            </a:r>
          </a:p>
          <a:p>
            <a:pPr marL="0" marR="0" lvl="0" indent="0" algn="just" rtl="0">
              <a:spcBef>
                <a:spcPts val="600"/>
              </a:spcBef>
              <a:spcAft>
                <a:spcPts val="600"/>
              </a:spcAft>
              <a:buNone/>
            </a:pPr>
            <a:r>
              <a:rPr lang="es-ES" sz="1800" noProof="0" dirty="0">
                <a:solidFill>
                  <a:schemeClr val="dk1"/>
                </a:solidFill>
                <a:latin typeface="Times New Roman"/>
                <a:ea typeface="Times New Roman"/>
                <a:cs typeface="Times New Roman"/>
                <a:sym typeface="Times New Roman"/>
              </a:rPr>
              <a:t>Estos gases son: </a:t>
            </a:r>
            <a:r>
              <a:rPr lang="es-ES" sz="1800" b="1" noProof="0" dirty="0">
                <a:solidFill>
                  <a:schemeClr val="dk1"/>
                </a:solidFill>
                <a:latin typeface="Times New Roman"/>
                <a:ea typeface="Times New Roman"/>
                <a:cs typeface="Times New Roman"/>
                <a:sym typeface="Times New Roman"/>
              </a:rPr>
              <a:t>el dióxido de carbono (CO</a:t>
            </a:r>
            <a:r>
              <a:rPr lang="es-ES" sz="1800" b="1" baseline="-25000" noProof="0" dirty="0">
                <a:solidFill>
                  <a:schemeClr val="dk1"/>
                </a:solidFill>
                <a:latin typeface="Times New Roman"/>
                <a:ea typeface="Times New Roman"/>
                <a:cs typeface="Times New Roman"/>
                <a:sym typeface="Times New Roman"/>
              </a:rPr>
              <a:t>2</a:t>
            </a:r>
            <a:r>
              <a:rPr lang="es-ES" sz="1800" b="1" noProof="0" dirty="0">
                <a:solidFill>
                  <a:schemeClr val="dk1"/>
                </a:solidFill>
                <a:latin typeface="Times New Roman"/>
                <a:ea typeface="Times New Roman"/>
                <a:cs typeface="Times New Roman"/>
                <a:sym typeface="Times New Roman"/>
              </a:rPr>
              <a:t>), el metano (CH</a:t>
            </a:r>
            <a:r>
              <a:rPr lang="es-ES" sz="1800" b="1" baseline="-25000" noProof="0" dirty="0">
                <a:solidFill>
                  <a:schemeClr val="dk1"/>
                </a:solidFill>
                <a:latin typeface="Times New Roman"/>
                <a:ea typeface="Times New Roman"/>
                <a:cs typeface="Times New Roman"/>
                <a:sym typeface="Times New Roman"/>
              </a:rPr>
              <a:t>4</a:t>
            </a:r>
            <a:r>
              <a:rPr lang="es-ES" sz="1800" b="1" noProof="0" dirty="0">
                <a:solidFill>
                  <a:schemeClr val="dk1"/>
                </a:solidFill>
                <a:latin typeface="Times New Roman"/>
                <a:ea typeface="Times New Roman"/>
                <a:cs typeface="Times New Roman"/>
                <a:sym typeface="Times New Roman"/>
              </a:rPr>
              <a:t>), el óxido de nitrógeno (N</a:t>
            </a:r>
            <a:r>
              <a:rPr lang="es-ES" sz="1800" b="1" baseline="-25000" noProof="0" dirty="0">
                <a:solidFill>
                  <a:schemeClr val="dk1"/>
                </a:solidFill>
                <a:latin typeface="Times New Roman"/>
                <a:ea typeface="Times New Roman"/>
                <a:cs typeface="Times New Roman"/>
                <a:sym typeface="Times New Roman"/>
              </a:rPr>
              <a:t>2</a:t>
            </a:r>
            <a:r>
              <a:rPr lang="es-ES" sz="1800" b="1" noProof="0" dirty="0">
                <a:solidFill>
                  <a:schemeClr val="dk1"/>
                </a:solidFill>
                <a:latin typeface="Times New Roman"/>
                <a:ea typeface="Times New Roman"/>
                <a:cs typeface="Times New Roman"/>
                <a:sym typeface="Times New Roman"/>
              </a:rPr>
              <a:t>O)</a:t>
            </a:r>
            <a:r>
              <a:rPr lang="es-ES" sz="1800" noProof="0" dirty="0">
                <a:solidFill>
                  <a:schemeClr val="dk1"/>
                </a:solidFill>
                <a:latin typeface="Times New Roman"/>
                <a:ea typeface="Times New Roman"/>
                <a:cs typeface="Times New Roman"/>
                <a:sym typeface="Times New Roman"/>
              </a:rPr>
              <a:t>, los hidrofluorocarbonos (</a:t>
            </a:r>
            <a:r>
              <a:rPr lang="es-ES" sz="1800" noProof="0" dirty="0" err="1">
                <a:solidFill>
                  <a:schemeClr val="dk1"/>
                </a:solidFill>
                <a:latin typeface="Times New Roman"/>
                <a:ea typeface="Times New Roman"/>
                <a:cs typeface="Times New Roman"/>
                <a:sym typeface="Times New Roman"/>
              </a:rPr>
              <a:t>HFCs</a:t>
            </a:r>
            <a:r>
              <a:rPr lang="es-ES" sz="1800" noProof="0" dirty="0">
                <a:solidFill>
                  <a:schemeClr val="dk1"/>
                </a:solidFill>
                <a:latin typeface="Times New Roman"/>
                <a:ea typeface="Times New Roman"/>
                <a:cs typeface="Times New Roman"/>
                <a:sym typeface="Times New Roman"/>
              </a:rPr>
              <a:t>), los perfluorocarbonos (</a:t>
            </a:r>
            <a:r>
              <a:rPr lang="es-ES" sz="1800" noProof="0" dirty="0" err="1">
                <a:solidFill>
                  <a:schemeClr val="dk1"/>
                </a:solidFill>
                <a:latin typeface="Times New Roman"/>
                <a:ea typeface="Times New Roman"/>
                <a:cs typeface="Times New Roman"/>
                <a:sym typeface="Times New Roman"/>
              </a:rPr>
              <a:t>PFCs</a:t>
            </a:r>
            <a:r>
              <a:rPr lang="es-ES" sz="1800" noProof="0" dirty="0">
                <a:solidFill>
                  <a:schemeClr val="dk1"/>
                </a:solidFill>
                <a:latin typeface="Times New Roman"/>
                <a:ea typeface="Times New Roman"/>
                <a:cs typeface="Times New Roman"/>
                <a:sym typeface="Times New Roman"/>
              </a:rPr>
              <a:t>), el hexafluoruro de azufre (SF</a:t>
            </a:r>
            <a:r>
              <a:rPr lang="es-ES" sz="1800" baseline="-25000" noProof="0" dirty="0">
                <a:solidFill>
                  <a:schemeClr val="dk1"/>
                </a:solidFill>
                <a:latin typeface="Times New Roman"/>
                <a:ea typeface="Times New Roman"/>
                <a:cs typeface="Times New Roman"/>
                <a:sym typeface="Times New Roman"/>
              </a:rPr>
              <a:t>6</a:t>
            </a:r>
            <a:r>
              <a:rPr lang="es-ES" sz="1800" noProof="0" dirty="0">
                <a:solidFill>
                  <a:schemeClr val="dk1"/>
                </a:solidFill>
                <a:latin typeface="Times New Roman"/>
                <a:ea typeface="Times New Roman"/>
                <a:cs typeface="Times New Roman"/>
                <a:sym typeface="Times New Roman"/>
              </a:rPr>
              <a:t>) y el </a:t>
            </a:r>
            <a:r>
              <a:rPr lang="es-ES" sz="1800" noProof="0" dirty="0" err="1">
                <a:solidFill>
                  <a:schemeClr val="dk1"/>
                </a:solidFill>
                <a:latin typeface="Times New Roman"/>
                <a:ea typeface="Times New Roman"/>
                <a:cs typeface="Times New Roman"/>
                <a:sym typeface="Times New Roman"/>
              </a:rPr>
              <a:t>trifluoruro</a:t>
            </a:r>
            <a:r>
              <a:rPr lang="es-ES" sz="1800" noProof="0" dirty="0">
                <a:solidFill>
                  <a:schemeClr val="dk1"/>
                </a:solidFill>
                <a:latin typeface="Times New Roman"/>
                <a:ea typeface="Times New Roman"/>
                <a:cs typeface="Times New Roman"/>
                <a:sym typeface="Times New Roman"/>
              </a:rPr>
              <a:t> de nitrógeno (NF</a:t>
            </a:r>
            <a:r>
              <a:rPr lang="es-ES" sz="1800" baseline="-25000" noProof="0" dirty="0">
                <a:solidFill>
                  <a:schemeClr val="dk1"/>
                </a:solidFill>
                <a:latin typeface="Times New Roman"/>
                <a:ea typeface="Times New Roman"/>
                <a:cs typeface="Times New Roman"/>
                <a:sym typeface="Times New Roman"/>
              </a:rPr>
              <a:t>3</a:t>
            </a:r>
            <a:r>
              <a:rPr lang="es-ES" sz="1800" noProof="0" dirty="0">
                <a:solidFill>
                  <a:schemeClr val="dk1"/>
                </a:solidFill>
                <a:latin typeface="Times New Roman"/>
                <a:ea typeface="Times New Roman"/>
                <a:cs typeface="Times New Roman"/>
                <a:sym typeface="Times New Roman"/>
              </a:rPr>
              <a:t>). A su vez, hay otros gases que son precursores, tales como los óxidos de nitrógeno (NOx), amoniaco (NH</a:t>
            </a:r>
            <a:r>
              <a:rPr lang="es-ES" sz="1800" baseline="-25000" noProof="0" dirty="0">
                <a:solidFill>
                  <a:schemeClr val="dk1"/>
                </a:solidFill>
                <a:latin typeface="Times New Roman"/>
                <a:ea typeface="Times New Roman"/>
                <a:cs typeface="Times New Roman"/>
                <a:sym typeface="Times New Roman"/>
              </a:rPr>
              <a:t>3</a:t>
            </a:r>
            <a:r>
              <a:rPr lang="es-ES" sz="1800" noProof="0" dirty="0">
                <a:solidFill>
                  <a:schemeClr val="dk1"/>
                </a:solidFill>
                <a:latin typeface="Times New Roman"/>
                <a:ea typeface="Times New Roman"/>
                <a:cs typeface="Times New Roman"/>
                <a:sym typeface="Times New Roman"/>
              </a:rPr>
              <a:t>), monóxido de carbono (CO), compuestos volátiles no metánicos (COVNM) y óxidos de azufre (SOx).</a:t>
            </a:r>
            <a:endParaRPr lang="es-ES" noProof="0" dirty="0"/>
          </a:p>
          <a:p>
            <a:pPr marL="0" marR="0" lvl="0" indent="0" algn="just" rtl="0">
              <a:spcBef>
                <a:spcPts val="600"/>
              </a:spcBef>
              <a:spcAft>
                <a:spcPts val="600"/>
              </a:spcAft>
              <a:buNone/>
            </a:pPr>
            <a:r>
              <a:rPr lang="es-ES" sz="1800" noProof="0" dirty="0">
                <a:solidFill>
                  <a:schemeClr val="dk1"/>
                </a:solidFill>
                <a:latin typeface="Times New Roman"/>
                <a:ea typeface="Times New Roman"/>
                <a:cs typeface="Times New Roman"/>
                <a:sym typeface="Times New Roman"/>
              </a:rPr>
              <a:t>Los </a:t>
            </a:r>
            <a:r>
              <a:rPr lang="es-ES" sz="1800" i="1" noProof="0" dirty="0">
                <a:solidFill>
                  <a:schemeClr val="dk1"/>
                </a:solidFill>
                <a:latin typeface="Times New Roman"/>
                <a:ea typeface="Times New Roman"/>
                <a:cs typeface="Times New Roman"/>
                <a:sym typeface="Times New Roman"/>
              </a:rPr>
              <a:t>principales gases que contribuyen al calentamiento global y el cambio climático</a:t>
            </a:r>
            <a:r>
              <a:rPr lang="es-ES" sz="1800" noProof="0" dirty="0">
                <a:solidFill>
                  <a:schemeClr val="dk1"/>
                </a:solidFill>
                <a:latin typeface="Times New Roman"/>
                <a:ea typeface="Times New Roman"/>
                <a:cs typeface="Times New Roman"/>
                <a:sym typeface="Times New Roman"/>
              </a:rPr>
              <a:t> asociado a las emisiones antropogénicas son el CO</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 el CH</a:t>
            </a:r>
            <a:r>
              <a:rPr lang="es-ES" sz="1800" baseline="-25000" noProof="0" dirty="0">
                <a:solidFill>
                  <a:schemeClr val="dk1"/>
                </a:solidFill>
                <a:latin typeface="Times New Roman"/>
                <a:ea typeface="Times New Roman"/>
                <a:cs typeface="Times New Roman"/>
                <a:sym typeface="Times New Roman"/>
              </a:rPr>
              <a:t>4</a:t>
            </a:r>
            <a:r>
              <a:rPr lang="es-ES" sz="1800" noProof="0" dirty="0">
                <a:solidFill>
                  <a:schemeClr val="dk1"/>
                </a:solidFill>
                <a:latin typeface="Times New Roman"/>
                <a:ea typeface="Times New Roman"/>
                <a:cs typeface="Times New Roman"/>
                <a:sym typeface="Times New Roman"/>
              </a:rPr>
              <a:t> y el N</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O.</a:t>
            </a:r>
            <a:endParaRPr lang="es-ES" noProof="0" dirty="0"/>
          </a:p>
          <a:p>
            <a:pPr marL="0" marR="0" lvl="0" indent="0" algn="just" rtl="0">
              <a:spcBef>
                <a:spcPts val="600"/>
              </a:spcBef>
              <a:spcAft>
                <a:spcPts val="600"/>
              </a:spcAft>
              <a:buNone/>
            </a:pPr>
            <a:r>
              <a:rPr lang="es-ES" sz="1800" noProof="0" dirty="0">
                <a:solidFill>
                  <a:schemeClr val="dk1"/>
                </a:solidFill>
                <a:latin typeface="Times New Roman"/>
                <a:ea typeface="Times New Roman"/>
                <a:cs typeface="Times New Roman"/>
                <a:sym typeface="Times New Roman"/>
              </a:rPr>
              <a:t>Sin embargo, el CO</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 es el GEI que influye en mayor medida al calentamiento del planeta, y es por ello que las emisiones de GEI se miden en función de este gas. La tonelada de CO</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 equivalente (t CO</a:t>
            </a:r>
            <a:r>
              <a:rPr lang="es-ES" sz="1800" baseline="-25000" noProof="0" dirty="0">
                <a:solidFill>
                  <a:schemeClr val="dk1"/>
                </a:solidFill>
                <a:latin typeface="Times New Roman"/>
                <a:ea typeface="Times New Roman"/>
                <a:cs typeface="Times New Roman"/>
                <a:sym typeface="Times New Roman"/>
              </a:rPr>
              <a:t>2 </a:t>
            </a:r>
            <a:r>
              <a:rPr lang="es-ES" sz="1800" noProof="0" dirty="0" err="1">
                <a:solidFill>
                  <a:schemeClr val="dk1"/>
                </a:solidFill>
                <a:latin typeface="Times New Roman"/>
                <a:ea typeface="Times New Roman"/>
                <a:cs typeface="Times New Roman"/>
                <a:sym typeface="Times New Roman"/>
              </a:rPr>
              <a:t>eq</a:t>
            </a:r>
            <a:r>
              <a:rPr lang="es-ES" sz="1800" noProof="0" dirty="0">
                <a:solidFill>
                  <a:schemeClr val="dk1"/>
                </a:solidFill>
                <a:latin typeface="Times New Roman"/>
                <a:ea typeface="Times New Roman"/>
                <a:cs typeface="Times New Roman"/>
                <a:sym typeface="Times New Roman"/>
              </a:rPr>
              <a:t>) es la unidad universal de medida que indica el potencial de calentamiento atmosférico. A efectos prácticos la IEA considera la siguiente equivalencia:</a:t>
            </a:r>
            <a:endParaRPr lang="es-ES" noProof="0" dirty="0"/>
          </a:p>
        </p:txBody>
      </p:sp>
      <p:sp>
        <p:nvSpPr>
          <p:cNvPr id="467" name="Google Shape;467;p41"/>
          <p:cNvSpPr/>
          <p:nvPr/>
        </p:nvSpPr>
        <p:spPr>
          <a:xfrm>
            <a:off x="3504239" y="5571815"/>
            <a:ext cx="213552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1 gCH</a:t>
            </a:r>
            <a:r>
              <a:rPr lang="es-ES" sz="1800" baseline="-25000" noProof="0" dirty="0">
                <a:solidFill>
                  <a:schemeClr val="dk1"/>
                </a:solidFill>
                <a:latin typeface="Times New Roman"/>
                <a:ea typeface="Times New Roman"/>
                <a:cs typeface="Times New Roman"/>
                <a:sym typeface="Times New Roman"/>
              </a:rPr>
              <a:t>4</a:t>
            </a:r>
            <a:r>
              <a:rPr lang="es-ES" sz="1800" noProof="0" dirty="0">
                <a:solidFill>
                  <a:schemeClr val="dk1"/>
                </a:solidFill>
                <a:latin typeface="Times New Roman"/>
                <a:ea typeface="Times New Roman"/>
                <a:cs typeface="Times New Roman"/>
                <a:sym typeface="Times New Roman"/>
              </a:rPr>
              <a:t> = 30 gCO</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eq</a:t>
            </a:r>
            <a:endParaRPr lang="es-ES" noProof="0" dirty="0"/>
          </a:p>
        </p:txBody>
      </p:sp>
      <p:sp>
        <p:nvSpPr>
          <p:cNvPr id="468" name="Google Shape;468;p41"/>
          <p:cNvSpPr/>
          <p:nvPr/>
        </p:nvSpPr>
        <p:spPr>
          <a:xfrm>
            <a:off x="3504239" y="6056681"/>
            <a:ext cx="226376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1 gN</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O = 273 gCO</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eq</a:t>
            </a:r>
            <a:endParaRPr lang="es-ES" noProof="0" dirty="0"/>
          </a:p>
        </p:txBody>
      </p:sp>
      <p:sp>
        <p:nvSpPr>
          <p:cNvPr id="2" name="Google Shape;459;p40">
            <a:extLst>
              <a:ext uri="{FF2B5EF4-FFF2-40B4-BE49-F238E27FC236}">
                <a16:creationId xmlns:a16="http://schemas.microsoft.com/office/drawing/2014/main" id="{27E5499A-EDF2-E212-5843-5B3CEEB94858}"/>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Emisiones de GEI</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2"/>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44</a:t>
            </a:fld>
            <a:endParaRPr lang="es-ES" noProof="0" dirty="0"/>
          </a:p>
        </p:txBody>
      </p:sp>
      <p:sp>
        <p:nvSpPr>
          <p:cNvPr id="475" name="Google Shape;475;p42"/>
          <p:cNvSpPr txBox="1"/>
          <p:nvPr/>
        </p:nvSpPr>
        <p:spPr>
          <a:xfrm>
            <a:off x="906042" y="431987"/>
            <a:ext cx="7769646" cy="470898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Las emisiones de CO</a:t>
            </a:r>
            <a:r>
              <a:rPr lang="es-ES" sz="2000" baseline="-25000" noProof="0" dirty="0">
                <a:solidFill>
                  <a:schemeClr val="dk1"/>
                </a:solidFill>
                <a:latin typeface="Times New Roman"/>
                <a:ea typeface="Times New Roman"/>
                <a:cs typeface="Times New Roman"/>
                <a:sym typeface="Times New Roman"/>
              </a:rPr>
              <a:t>2, </a:t>
            </a:r>
            <a:r>
              <a:rPr lang="es-ES" sz="2000" noProof="0" dirty="0">
                <a:solidFill>
                  <a:schemeClr val="dk1"/>
                </a:solidFill>
                <a:latin typeface="Times New Roman"/>
                <a:ea typeface="Times New Roman"/>
                <a:cs typeface="Times New Roman"/>
                <a:sym typeface="Times New Roman"/>
              </a:rPr>
              <a:t>CH</a:t>
            </a:r>
            <a:r>
              <a:rPr lang="es-ES" sz="2000" baseline="-25000" noProof="0" dirty="0">
                <a:solidFill>
                  <a:schemeClr val="dk1"/>
                </a:solidFill>
                <a:latin typeface="Times New Roman"/>
                <a:ea typeface="Times New Roman"/>
                <a:cs typeface="Times New Roman"/>
                <a:sym typeface="Times New Roman"/>
              </a:rPr>
              <a:t>4</a:t>
            </a:r>
            <a:r>
              <a:rPr lang="es-ES" sz="2000" noProof="0" dirty="0">
                <a:solidFill>
                  <a:schemeClr val="dk1"/>
                </a:solidFill>
                <a:latin typeface="Times New Roman"/>
                <a:ea typeface="Times New Roman"/>
                <a:cs typeface="Times New Roman"/>
                <a:sym typeface="Times New Roman"/>
              </a:rPr>
              <a:t> y N</a:t>
            </a:r>
            <a:r>
              <a:rPr lang="es-ES" sz="2000" baseline="-25000" noProof="0" dirty="0">
                <a:solidFill>
                  <a:schemeClr val="dk1"/>
                </a:solidFill>
                <a:latin typeface="Times New Roman"/>
                <a:ea typeface="Times New Roman"/>
                <a:cs typeface="Times New Roman"/>
                <a:sym typeface="Times New Roman"/>
              </a:rPr>
              <a:t>2</a:t>
            </a:r>
            <a:r>
              <a:rPr lang="es-ES" sz="2000" noProof="0" dirty="0">
                <a:solidFill>
                  <a:schemeClr val="dk1"/>
                </a:solidFill>
                <a:latin typeface="Times New Roman"/>
                <a:ea typeface="Times New Roman"/>
                <a:cs typeface="Times New Roman"/>
                <a:sym typeface="Times New Roman"/>
              </a:rPr>
              <a:t>O asociadas con la energía generalmente están relacionadas con los combustibles fósiles (carbón, petróleo y gas natural) y con la basura no procedente de fuentes renovables. Se clasifican en dos grandes grupos:</a:t>
            </a:r>
            <a:endParaRPr lang="es-ES" noProof="0" dirty="0"/>
          </a:p>
          <a:p>
            <a:pPr marL="0" marR="0" lvl="0" indent="0" algn="just" rtl="0">
              <a:spcBef>
                <a:spcPts val="0"/>
              </a:spcBef>
              <a:spcAft>
                <a:spcPts val="0"/>
              </a:spcAft>
              <a:buNone/>
            </a:pPr>
            <a:endParaRPr lang="es-ES" sz="2000" noProof="0" dirty="0">
              <a:solidFill>
                <a:schemeClr val="dk1"/>
              </a:solidFill>
              <a:latin typeface="Times New Roman"/>
              <a:ea typeface="Times New Roman"/>
              <a:cs typeface="Times New Roman"/>
              <a:sym typeface="Times New Roman"/>
            </a:endParaRPr>
          </a:p>
          <a:p>
            <a:pPr marL="457200" marR="0" lvl="1" indent="0" algn="just" rtl="0">
              <a:spcBef>
                <a:spcPts val="0"/>
              </a:spcBef>
              <a:spcAft>
                <a:spcPts val="0"/>
              </a:spcAft>
              <a:buNone/>
            </a:pPr>
            <a:r>
              <a:rPr lang="es-ES" sz="2000" b="0" i="0" u="sng" strike="noStrike" cap="none" noProof="0" dirty="0">
                <a:solidFill>
                  <a:schemeClr val="dk1"/>
                </a:solidFill>
                <a:latin typeface="Times New Roman"/>
                <a:ea typeface="Times New Roman"/>
                <a:cs typeface="Times New Roman"/>
                <a:sym typeface="Times New Roman"/>
              </a:rPr>
              <a:t>Emisiones directas de procesos de combustión</a:t>
            </a:r>
            <a:r>
              <a:rPr lang="es-ES" sz="2000" b="0" i="0" u="none" strike="noStrike" cap="none" noProof="0" dirty="0">
                <a:solidFill>
                  <a:schemeClr val="dk1"/>
                </a:solidFill>
                <a:latin typeface="Times New Roman"/>
                <a:ea typeface="Times New Roman"/>
                <a:cs typeface="Times New Roman"/>
                <a:sym typeface="Times New Roman"/>
              </a:rPr>
              <a:t>: son aquellas relacionadas con la quema del combustible fósil para suministrar calor o trabajo mecánico en un proceso.</a:t>
            </a:r>
            <a:endParaRPr lang="es-ES" noProof="0" dirty="0"/>
          </a:p>
          <a:p>
            <a:pPr marL="0" marR="0" lvl="0" indent="0" algn="just" rtl="0">
              <a:spcBef>
                <a:spcPts val="0"/>
              </a:spcBef>
              <a:spcAft>
                <a:spcPts val="0"/>
              </a:spcAft>
              <a:buNone/>
            </a:pPr>
            <a:endParaRPr lang="es-ES" sz="2000" noProof="0" dirty="0">
              <a:solidFill>
                <a:schemeClr val="dk1"/>
              </a:solidFill>
              <a:latin typeface="Times New Roman"/>
              <a:ea typeface="Times New Roman"/>
              <a:cs typeface="Times New Roman"/>
              <a:sym typeface="Times New Roman"/>
            </a:endParaRPr>
          </a:p>
          <a:p>
            <a:pPr marL="457200" marR="0" lvl="1" indent="0" algn="just" rtl="0">
              <a:spcBef>
                <a:spcPts val="0"/>
              </a:spcBef>
              <a:spcAft>
                <a:spcPts val="0"/>
              </a:spcAft>
              <a:buNone/>
            </a:pPr>
            <a:r>
              <a:rPr lang="es-ES" sz="2000" b="0" i="0" u="sng" strike="noStrike" cap="none" noProof="0" dirty="0">
                <a:solidFill>
                  <a:schemeClr val="dk1"/>
                </a:solidFill>
                <a:latin typeface="Times New Roman"/>
                <a:ea typeface="Times New Roman"/>
                <a:cs typeface="Times New Roman"/>
                <a:sym typeface="Times New Roman"/>
              </a:rPr>
              <a:t>Emisiones fugitivas</a:t>
            </a:r>
            <a:r>
              <a:rPr lang="es-ES" sz="2000" b="0" i="0" u="none" strike="noStrike" cap="none" noProof="0" dirty="0">
                <a:solidFill>
                  <a:schemeClr val="dk1"/>
                </a:solidFill>
                <a:latin typeface="Times New Roman"/>
                <a:ea typeface="Times New Roman"/>
                <a:cs typeface="Times New Roman"/>
                <a:sym typeface="Times New Roman"/>
              </a:rPr>
              <a:t>: correspondientes a la extracción, la transformación y el transporte de energía primaria. Un ejemplo de emisión fugitiva es la quema de gas durante el proceso de extracción de petróleo.</a:t>
            </a:r>
            <a:endParaRPr lang="es-ES" noProof="0" dirty="0"/>
          </a:p>
          <a:p>
            <a:pPr marL="457200" marR="0" lvl="1" indent="0" algn="just" rtl="0">
              <a:spcBef>
                <a:spcPts val="0"/>
              </a:spcBef>
              <a:spcAft>
                <a:spcPts val="0"/>
              </a:spcAft>
              <a:buNone/>
            </a:pPr>
            <a:endParaRPr lang="es-ES" sz="2000" b="0" i="0" u="none" strike="noStrike" cap="none" noProof="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lang="es-ES" sz="2000" noProof="0" dirty="0">
              <a:solidFill>
                <a:schemeClr val="dk1"/>
              </a:solidFill>
              <a:latin typeface="Times New Roman"/>
              <a:ea typeface="Times New Roman"/>
              <a:cs typeface="Times New Roman"/>
              <a:sym typeface="Times New Roman"/>
            </a:endParaRPr>
          </a:p>
        </p:txBody>
      </p:sp>
      <p:sp>
        <p:nvSpPr>
          <p:cNvPr id="476" name="Google Shape;476;p42"/>
          <p:cNvSpPr/>
          <p:nvPr/>
        </p:nvSpPr>
        <p:spPr>
          <a:xfrm>
            <a:off x="906042" y="4672270"/>
            <a:ext cx="7835154" cy="70788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Las emisiones fugitivas suelen ser un porcentaje pequeño respecto a las emisiones directas de los procesos de combustión.</a:t>
            </a:r>
            <a:endParaRPr lang="es-ES" noProof="0" dirty="0"/>
          </a:p>
        </p:txBody>
      </p:sp>
      <p:sp>
        <p:nvSpPr>
          <p:cNvPr id="2" name="Google Shape;459;p40">
            <a:extLst>
              <a:ext uri="{FF2B5EF4-FFF2-40B4-BE49-F238E27FC236}">
                <a16:creationId xmlns:a16="http://schemas.microsoft.com/office/drawing/2014/main" id="{B28170A3-347B-9830-3D82-53DE86B423FC}"/>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Emisiones de GEI</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43"/>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45</a:t>
            </a:fld>
            <a:endParaRPr lang="es-ES" noProof="0" dirty="0"/>
          </a:p>
        </p:txBody>
      </p:sp>
      <p:sp>
        <p:nvSpPr>
          <p:cNvPr id="483" name="Google Shape;483;p43"/>
          <p:cNvSpPr txBox="1"/>
          <p:nvPr/>
        </p:nvSpPr>
        <p:spPr>
          <a:xfrm>
            <a:off x="826305" y="429177"/>
            <a:ext cx="839917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Emisiones de CO</a:t>
            </a:r>
            <a:r>
              <a:rPr lang="es-ES" sz="2000" baseline="-25000" noProof="0" dirty="0">
                <a:solidFill>
                  <a:schemeClr val="dk1"/>
                </a:solidFill>
                <a:latin typeface="Times New Roman"/>
                <a:ea typeface="Times New Roman"/>
                <a:cs typeface="Times New Roman"/>
                <a:sym typeface="Times New Roman"/>
              </a:rPr>
              <a:t>2</a:t>
            </a:r>
            <a:r>
              <a:rPr lang="es-ES" sz="2000" noProof="0" dirty="0">
                <a:solidFill>
                  <a:schemeClr val="dk1"/>
                </a:solidFill>
                <a:latin typeface="Times New Roman"/>
                <a:ea typeface="Times New Roman"/>
                <a:cs typeface="Times New Roman"/>
                <a:sym typeface="Times New Roman"/>
              </a:rPr>
              <a:t> a nivel mundial procedente de energía primaria</a:t>
            </a:r>
            <a:endParaRPr lang="es-ES" noProof="0" dirty="0"/>
          </a:p>
        </p:txBody>
      </p:sp>
      <p:sp>
        <p:nvSpPr>
          <p:cNvPr id="484" name="Google Shape;484;p43"/>
          <p:cNvSpPr txBox="1"/>
          <p:nvPr/>
        </p:nvSpPr>
        <p:spPr>
          <a:xfrm>
            <a:off x="2462209" y="5427785"/>
            <a:ext cx="512736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Fuente:“</a:t>
            </a:r>
            <a:r>
              <a:rPr lang="es-ES" sz="1400" i="1" noProof="0" dirty="0" err="1">
                <a:solidFill>
                  <a:schemeClr val="dk1"/>
                </a:solidFill>
                <a:latin typeface="Times New Roman"/>
                <a:ea typeface="Times New Roman"/>
                <a:cs typeface="Times New Roman"/>
                <a:sym typeface="Times New Roman"/>
              </a:rPr>
              <a:t>Statistical</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Review</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of</a:t>
            </a:r>
            <a:r>
              <a:rPr lang="es-ES" sz="1400" i="1" noProof="0" dirty="0">
                <a:solidFill>
                  <a:schemeClr val="dk1"/>
                </a:solidFill>
                <a:latin typeface="Times New Roman"/>
                <a:ea typeface="Times New Roman"/>
                <a:cs typeface="Times New Roman"/>
                <a:sym typeface="Times New Roman"/>
              </a:rPr>
              <a:t> World Energy 2023. Energy </a:t>
            </a:r>
            <a:r>
              <a:rPr lang="es-ES" sz="1400" i="1" noProof="0" dirty="0" err="1">
                <a:solidFill>
                  <a:schemeClr val="dk1"/>
                </a:solidFill>
                <a:latin typeface="Times New Roman"/>
                <a:ea typeface="Times New Roman"/>
                <a:cs typeface="Times New Roman"/>
                <a:sym typeface="Times New Roman"/>
              </a:rPr>
              <a:t>Institute</a:t>
            </a:r>
            <a:r>
              <a:rPr lang="es-ES" sz="1400" i="1" noProof="0" dirty="0">
                <a:solidFill>
                  <a:schemeClr val="dk1"/>
                </a:solidFill>
                <a:latin typeface="Times New Roman"/>
                <a:ea typeface="Times New Roman"/>
                <a:cs typeface="Times New Roman"/>
                <a:sym typeface="Times New Roman"/>
              </a:rPr>
              <a:t>”.</a:t>
            </a:r>
            <a:endParaRPr lang="es-ES" noProof="0" dirty="0"/>
          </a:p>
        </p:txBody>
      </p:sp>
      <p:sp>
        <p:nvSpPr>
          <p:cNvPr id="2" name="Google Shape;459;p40">
            <a:extLst>
              <a:ext uri="{FF2B5EF4-FFF2-40B4-BE49-F238E27FC236}">
                <a16:creationId xmlns:a16="http://schemas.microsoft.com/office/drawing/2014/main" id="{FE6EAC88-7FBB-D899-82FA-48556313C794}"/>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Emisiones de GEI</a:t>
            </a:r>
          </a:p>
        </p:txBody>
      </p:sp>
      <p:sp>
        <p:nvSpPr>
          <p:cNvPr id="6" name="Google Shape;452;p39">
            <a:extLst>
              <a:ext uri="{FF2B5EF4-FFF2-40B4-BE49-F238E27FC236}">
                <a16:creationId xmlns:a16="http://schemas.microsoft.com/office/drawing/2014/main" id="{930F769E-FCF5-C48D-A2AF-7273A2037292}"/>
              </a:ext>
            </a:extLst>
          </p:cNvPr>
          <p:cNvSpPr txBox="1"/>
          <p:nvPr/>
        </p:nvSpPr>
        <p:spPr>
          <a:xfrm>
            <a:off x="2300868" y="6059532"/>
            <a:ext cx="4542264" cy="369291"/>
          </a:xfrm>
          <a:prstGeom prst="rect">
            <a:avLst/>
          </a:prstGeom>
          <a:noFill/>
          <a:ln w="2857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 2025, se emitieron en el mundo 35,8 GtCO</a:t>
            </a:r>
            <a:r>
              <a:rPr lang="es-ES" sz="1800" baseline="-25000" noProof="0" dirty="0">
                <a:solidFill>
                  <a:schemeClr val="dk1"/>
                </a:solidFill>
                <a:latin typeface="Times New Roman"/>
                <a:ea typeface="Times New Roman"/>
                <a:cs typeface="Times New Roman"/>
                <a:sym typeface="Times New Roman"/>
              </a:rPr>
              <a:t>2</a:t>
            </a:r>
            <a:endParaRPr lang="es-ES" baseline="-25000" noProof="0" dirty="0"/>
          </a:p>
        </p:txBody>
      </p:sp>
      <p:graphicFrame>
        <p:nvGraphicFramePr>
          <p:cNvPr id="7" name="Gráfico 6">
            <a:extLst>
              <a:ext uri="{FF2B5EF4-FFF2-40B4-BE49-F238E27FC236}">
                <a16:creationId xmlns:a16="http://schemas.microsoft.com/office/drawing/2014/main" id="{DA7270E9-24EC-4AA1-9524-81AB934D9201}"/>
              </a:ext>
            </a:extLst>
          </p:cNvPr>
          <p:cNvGraphicFramePr>
            <a:graphicFrameLocks noChangeAspect="1"/>
          </p:cNvGraphicFramePr>
          <p:nvPr>
            <p:extLst>
              <p:ext uri="{D42A27DB-BD31-4B8C-83A1-F6EECF244321}">
                <p14:modId xmlns:p14="http://schemas.microsoft.com/office/powerpoint/2010/main" val="2749976500"/>
              </p:ext>
            </p:extLst>
          </p:nvPr>
        </p:nvGraphicFramePr>
        <p:xfrm>
          <a:off x="1143208" y="1045896"/>
          <a:ext cx="7200000" cy="4320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4"/>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46</a:t>
            </a:fld>
            <a:endParaRPr lang="es-ES" noProof="0" dirty="0"/>
          </a:p>
        </p:txBody>
      </p:sp>
      <p:sp>
        <p:nvSpPr>
          <p:cNvPr id="492" name="Google Shape;492;p44"/>
          <p:cNvSpPr txBox="1"/>
          <p:nvPr/>
        </p:nvSpPr>
        <p:spPr>
          <a:xfrm>
            <a:off x="826305" y="429177"/>
            <a:ext cx="839917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Emisiones de CO</a:t>
            </a:r>
            <a:r>
              <a:rPr lang="es-ES" sz="2000" baseline="-25000" noProof="0" dirty="0">
                <a:solidFill>
                  <a:schemeClr val="dk1"/>
                </a:solidFill>
                <a:latin typeface="Times New Roman"/>
                <a:ea typeface="Times New Roman"/>
                <a:cs typeface="Times New Roman"/>
                <a:sym typeface="Times New Roman"/>
              </a:rPr>
              <a:t>2</a:t>
            </a:r>
            <a:r>
              <a:rPr lang="es-ES" sz="2000" noProof="0" dirty="0">
                <a:solidFill>
                  <a:schemeClr val="dk1"/>
                </a:solidFill>
                <a:latin typeface="Times New Roman"/>
                <a:ea typeface="Times New Roman"/>
                <a:cs typeface="Times New Roman"/>
                <a:sym typeface="Times New Roman"/>
              </a:rPr>
              <a:t> procedente de energía primaria. España</a:t>
            </a:r>
            <a:endParaRPr lang="es-ES" noProof="0" dirty="0"/>
          </a:p>
        </p:txBody>
      </p:sp>
      <p:sp>
        <p:nvSpPr>
          <p:cNvPr id="493" name="Google Shape;493;p44"/>
          <p:cNvSpPr txBox="1"/>
          <p:nvPr/>
        </p:nvSpPr>
        <p:spPr>
          <a:xfrm>
            <a:off x="2409455" y="5594169"/>
            <a:ext cx="512736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Fuente:“</a:t>
            </a:r>
            <a:r>
              <a:rPr lang="es-ES" sz="1400" i="1" noProof="0" dirty="0" err="1">
                <a:solidFill>
                  <a:schemeClr val="dk1"/>
                </a:solidFill>
                <a:latin typeface="Times New Roman"/>
                <a:ea typeface="Times New Roman"/>
                <a:cs typeface="Times New Roman"/>
                <a:sym typeface="Times New Roman"/>
              </a:rPr>
              <a:t>Statistical</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Review</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of</a:t>
            </a:r>
            <a:r>
              <a:rPr lang="es-ES" sz="1400" i="1" noProof="0" dirty="0">
                <a:solidFill>
                  <a:schemeClr val="dk1"/>
                </a:solidFill>
                <a:latin typeface="Times New Roman"/>
                <a:ea typeface="Times New Roman"/>
                <a:cs typeface="Times New Roman"/>
                <a:sym typeface="Times New Roman"/>
              </a:rPr>
              <a:t> World Energy 2023. Energy </a:t>
            </a:r>
            <a:r>
              <a:rPr lang="es-ES" sz="1400" i="1" noProof="0" dirty="0" err="1">
                <a:solidFill>
                  <a:schemeClr val="dk1"/>
                </a:solidFill>
                <a:latin typeface="Times New Roman"/>
                <a:ea typeface="Times New Roman"/>
                <a:cs typeface="Times New Roman"/>
                <a:sym typeface="Times New Roman"/>
              </a:rPr>
              <a:t>Institute</a:t>
            </a:r>
            <a:r>
              <a:rPr lang="es-ES" sz="1400" i="1" noProof="0" dirty="0">
                <a:solidFill>
                  <a:schemeClr val="dk1"/>
                </a:solidFill>
                <a:latin typeface="Times New Roman"/>
                <a:ea typeface="Times New Roman"/>
                <a:cs typeface="Times New Roman"/>
                <a:sym typeface="Times New Roman"/>
              </a:rPr>
              <a:t>”.</a:t>
            </a:r>
            <a:endParaRPr lang="es-ES" noProof="0" dirty="0"/>
          </a:p>
        </p:txBody>
      </p:sp>
      <p:sp>
        <p:nvSpPr>
          <p:cNvPr id="2" name="Google Shape;459;p40">
            <a:extLst>
              <a:ext uri="{FF2B5EF4-FFF2-40B4-BE49-F238E27FC236}">
                <a16:creationId xmlns:a16="http://schemas.microsoft.com/office/drawing/2014/main" id="{22EB311E-64AC-9D69-4661-67DB4703D168}"/>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Emisiones de GEI</a:t>
            </a:r>
          </a:p>
        </p:txBody>
      </p:sp>
      <p:graphicFrame>
        <p:nvGraphicFramePr>
          <p:cNvPr id="5" name="Gráfico 4">
            <a:extLst>
              <a:ext uri="{FF2B5EF4-FFF2-40B4-BE49-F238E27FC236}">
                <a16:creationId xmlns:a16="http://schemas.microsoft.com/office/drawing/2014/main" id="{4E998B7B-7DB7-4811-85E0-298887E151FF}"/>
              </a:ext>
            </a:extLst>
          </p:cNvPr>
          <p:cNvGraphicFramePr>
            <a:graphicFrameLocks noChangeAspect="1"/>
          </p:cNvGraphicFramePr>
          <p:nvPr>
            <p:extLst>
              <p:ext uri="{D42A27DB-BD31-4B8C-83A1-F6EECF244321}">
                <p14:modId xmlns:p14="http://schemas.microsoft.com/office/powerpoint/2010/main" val="183769635"/>
              </p:ext>
            </p:extLst>
          </p:nvPr>
        </p:nvGraphicFramePr>
        <p:xfrm>
          <a:off x="972000" y="1143862"/>
          <a:ext cx="7200000" cy="4320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5"/>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47</a:t>
            </a:fld>
            <a:endParaRPr lang="es-ES" noProof="0" dirty="0"/>
          </a:p>
        </p:txBody>
      </p:sp>
      <p:sp>
        <p:nvSpPr>
          <p:cNvPr id="501" name="Google Shape;501;p45"/>
          <p:cNvSpPr txBox="1"/>
          <p:nvPr/>
        </p:nvSpPr>
        <p:spPr>
          <a:xfrm>
            <a:off x="826305" y="429177"/>
            <a:ext cx="839917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Variación de las emisiones de CO</a:t>
            </a:r>
            <a:r>
              <a:rPr lang="es-ES" sz="2000" baseline="-25000" noProof="0" dirty="0">
                <a:solidFill>
                  <a:schemeClr val="dk1"/>
                </a:solidFill>
                <a:latin typeface="Times New Roman"/>
                <a:ea typeface="Times New Roman"/>
                <a:cs typeface="Times New Roman"/>
                <a:sym typeface="Times New Roman"/>
              </a:rPr>
              <a:t>2</a:t>
            </a:r>
            <a:r>
              <a:rPr lang="es-ES" sz="2000" noProof="0" dirty="0">
                <a:solidFill>
                  <a:schemeClr val="dk1"/>
                </a:solidFill>
                <a:latin typeface="Times New Roman"/>
                <a:ea typeface="Times New Roman"/>
                <a:cs typeface="Times New Roman"/>
                <a:sym typeface="Times New Roman"/>
              </a:rPr>
              <a:t> a nivel mundial por tipo de combustible</a:t>
            </a:r>
            <a:endParaRPr lang="es-ES" noProof="0" dirty="0"/>
          </a:p>
        </p:txBody>
      </p:sp>
      <p:pic>
        <p:nvPicPr>
          <p:cNvPr id="502" name="Google Shape;502;p45"/>
          <p:cNvPicPr preferRelativeResize="0"/>
          <p:nvPr/>
        </p:nvPicPr>
        <p:blipFill rotWithShape="1">
          <a:blip r:embed="rId3">
            <a:alphaModFix/>
          </a:blip>
          <a:srcRect/>
          <a:stretch/>
        </p:blipFill>
        <p:spPr>
          <a:xfrm>
            <a:off x="971550" y="1073303"/>
            <a:ext cx="7567908" cy="4062900"/>
          </a:xfrm>
          <a:prstGeom prst="rect">
            <a:avLst/>
          </a:prstGeom>
          <a:noFill/>
          <a:ln>
            <a:noFill/>
          </a:ln>
        </p:spPr>
      </p:pic>
      <p:sp>
        <p:nvSpPr>
          <p:cNvPr id="503" name="Google Shape;503;p45"/>
          <p:cNvSpPr txBox="1"/>
          <p:nvPr/>
        </p:nvSpPr>
        <p:spPr>
          <a:xfrm>
            <a:off x="2625338" y="5225515"/>
            <a:ext cx="389332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“CO</a:t>
            </a:r>
            <a:r>
              <a:rPr lang="es-ES" sz="1400" i="1" baseline="-25000" noProof="0" dirty="0">
                <a:solidFill>
                  <a:schemeClr val="dk1"/>
                </a:solidFill>
                <a:latin typeface="Times New Roman"/>
                <a:ea typeface="Times New Roman"/>
                <a:cs typeface="Times New Roman"/>
                <a:sym typeface="Times New Roman"/>
              </a:rPr>
              <a:t>2</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Emissions</a:t>
            </a:r>
            <a:r>
              <a:rPr lang="es-ES" sz="1400" i="1" noProof="0" dirty="0">
                <a:solidFill>
                  <a:schemeClr val="dk1"/>
                </a:solidFill>
                <a:latin typeface="Times New Roman"/>
                <a:ea typeface="Times New Roman"/>
                <a:cs typeface="Times New Roman"/>
                <a:sym typeface="Times New Roman"/>
              </a:rPr>
              <a:t> in 2022. IEA”.</a:t>
            </a:r>
            <a:endParaRPr lang="es-ES" noProof="0" dirty="0"/>
          </a:p>
        </p:txBody>
      </p:sp>
      <p:sp>
        <p:nvSpPr>
          <p:cNvPr id="2" name="Google Shape;459;p40">
            <a:extLst>
              <a:ext uri="{FF2B5EF4-FFF2-40B4-BE49-F238E27FC236}">
                <a16:creationId xmlns:a16="http://schemas.microsoft.com/office/drawing/2014/main" id="{2269EB97-A8B2-7E9C-782A-DEAD9586FAEB}"/>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Emisiones de GEI</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6"/>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48</a:t>
            </a:fld>
            <a:endParaRPr lang="es-ES" noProof="0" dirty="0"/>
          </a:p>
        </p:txBody>
      </p:sp>
      <p:sp>
        <p:nvSpPr>
          <p:cNvPr id="510" name="Google Shape;510;p46"/>
          <p:cNvSpPr txBox="1"/>
          <p:nvPr/>
        </p:nvSpPr>
        <p:spPr>
          <a:xfrm>
            <a:off x="826305" y="429177"/>
            <a:ext cx="839917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Emisiones de CO</a:t>
            </a:r>
            <a:r>
              <a:rPr lang="es-ES" sz="2000" baseline="-25000" noProof="0" dirty="0">
                <a:solidFill>
                  <a:schemeClr val="dk1"/>
                </a:solidFill>
                <a:latin typeface="Times New Roman"/>
                <a:ea typeface="Times New Roman"/>
                <a:cs typeface="Times New Roman"/>
                <a:sym typeface="Times New Roman"/>
              </a:rPr>
              <a:t>2</a:t>
            </a:r>
            <a:r>
              <a:rPr lang="es-ES" sz="2000" noProof="0" dirty="0">
                <a:solidFill>
                  <a:schemeClr val="dk1"/>
                </a:solidFill>
                <a:latin typeface="Times New Roman"/>
                <a:ea typeface="Times New Roman"/>
                <a:cs typeface="Times New Roman"/>
                <a:sym typeface="Times New Roman"/>
              </a:rPr>
              <a:t> a nivel mundial por sector</a:t>
            </a:r>
            <a:endParaRPr lang="es-ES" noProof="0" dirty="0"/>
          </a:p>
        </p:txBody>
      </p:sp>
      <p:pic>
        <p:nvPicPr>
          <p:cNvPr id="511" name="Google Shape;511;p46"/>
          <p:cNvPicPr preferRelativeResize="0"/>
          <p:nvPr/>
        </p:nvPicPr>
        <p:blipFill rotWithShape="1">
          <a:blip r:embed="rId3">
            <a:alphaModFix/>
          </a:blip>
          <a:srcRect/>
          <a:stretch/>
        </p:blipFill>
        <p:spPr>
          <a:xfrm>
            <a:off x="674969" y="1273535"/>
            <a:ext cx="8297299" cy="3977475"/>
          </a:xfrm>
          <a:prstGeom prst="rect">
            <a:avLst/>
          </a:prstGeom>
          <a:noFill/>
          <a:ln>
            <a:noFill/>
          </a:ln>
        </p:spPr>
      </p:pic>
      <p:sp>
        <p:nvSpPr>
          <p:cNvPr id="512" name="Google Shape;512;p46"/>
          <p:cNvSpPr txBox="1"/>
          <p:nvPr/>
        </p:nvSpPr>
        <p:spPr>
          <a:xfrm>
            <a:off x="2625338" y="5225515"/>
            <a:ext cx="389332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“CO</a:t>
            </a:r>
            <a:r>
              <a:rPr lang="es-ES" sz="1400" i="1" baseline="-25000" noProof="0" dirty="0">
                <a:solidFill>
                  <a:schemeClr val="dk1"/>
                </a:solidFill>
                <a:latin typeface="Times New Roman"/>
                <a:ea typeface="Times New Roman"/>
                <a:cs typeface="Times New Roman"/>
                <a:sym typeface="Times New Roman"/>
              </a:rPr>
              <a:t>2</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Emissions</a:t>
            </a:r>
            <a:r>
              <a:rPr lang="es-ES" sz="1400" i="1" noProof="0" dirty="0">
                <a:solidFill>
                  <a:schemeClr val="dk1"/>
                </a:solidFill>
                <a:latin typeface="Times New Roman"/>
                <a:ea typeface="Times New Roman"/>
                <a:cs typeface="Times New Roman"/>
                <a:sym typeface="Times New Roman"/>
              </a:rPr>
              <a:t> in 2022. IEA”.</a:t>
            </a:r>
            <a:endParaRPr lang="es-ES" noProof="0" dirty="0"/>
          </a:p>
        </p:txBody>
      </p:sp>
      <p:sp>
        <p:nvSpPr>
          <p:cNvPr id="2" name="Google Shape;459;p40">
            <a:extLst>
              <a:ext uri="{FF2B5EF4-FFF2-40B4-BE49-F238E27FC236}">
                <a16:creationId xmlns:a16="http://schemas.microsoft.com/office/drawing/2014/main" id="{B39E3348-A0E9-2E77-039A-2D5716746C36}"/>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Emisiones de GEI</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4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49</a:t>
            </a:fld>
            <a:endParaRPr lang="es-ES" noProof="0" dirty="0"/>
          </a:p>
        </p:txBody>
      </p:sp>
      <p:sp>
        <p:nvSpPr>
          <p:cNvPr id="519" name="Google Shape;519;p47"/>
          <p:cNvSpPr txBox="1"/>
          <p:nvPr/>
        </p:nvSpPr>
        <p:spPr>
          <a:xfrm>
            <a:off x="826305" y="429177"/>
            <a:ext cx="839917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noProof="0" dirty="0">
                <a:solidFill>
                  <a:schemeClr val="dk1"/>
                </a:solidFill>
                <a:latin typeface="Times New Roman"/>
                <a:ea typeface="Times New Roman"/>
                <a:cs typeface="Times New Roman"/>
                <a:sym typeface="Times New Roman"/>
              </a:rPr>
              <a:t>Emisiones totales de CO</a:t>
            </a:r>
            <a:r>
              <a:rPr lang="es-ES" sz="2000" baseline="-25000" noProof="0" dirty="0">
                <a:solidFill>
                  <a:schemeClr val="dk1"/>
                </a:solidFill>
                <a:latin typeface="Times New Roman"/>
                <a:ea typeface="Times New Roman"/>
                <a:cs typeface="Times New Roman"/>
                <a:sym typeface="Times New Roman"/>
              </a:rPr>
              <a:t>2, </a:t>
            </a:r>
            <a:r>
              <a:rPr lang="es-ES" sz="2000" noProof="0" dirty="0">
                <a:solidFill>
                  <a:schemeClr val="dk1"/>
                </a:solidFill>
                <a:latin typeface="Times New Roman"/>
                <a:ea typeface="Times New Roman"/>
                <a:cs typeface="Times New Roman"/>
                <a:sym typeface="Times New Roman"/>
              </a:rPr>
              <a:t>CH</a:t>
            </a:r>
            <a:r>
              <a:rPr lang="es-ES" sz="2000" baseline="-25000" noProof="0" dirty="0">
                <a:solidFill>
                  <a:schemeClr val="dk1"/>
                </a:solidFill>
                <a:latin typeface="Times New Roman"/>
                <a:ea typeface="Times New Roman"/>
                <a:cs typeface="Times New Roman"/>
                <a:sym typeface="Times New Roman"/>
              </a:rPr>
              <a:t>4</a:t>
            </a:r>
            <a:r>
              <a:rPr lang="es-ES" sz="2000" noProof="0" dirty="0">
                <a:solidFill>
                  <a:schemeClr val="dk1"/>
                </a:solidFill>
                <a:latin typeface="Times New Roman"/>
                <a:ea typeface="Times New Roman"/>
                <a:cs typeface="Times New Roman"/>
                <a:sym typeface="Times New Roman"/>
              </a:rPr>
              <a:t> y N</a:t>
            </a:r>
            <a:r>
              <a:rPr lang="es-ES" sz="2000" baseline="-25000" noProof="0" dirty="0">
                <a:solidFill>
                  <a:schemeClr val="dk1"/>
                </a:solidFill>
                <a:latin typeface="Times New Roman"/>
                <a:ea typeface="Times New Roman"/>
                <a:cs typeface="Times New Roman"/>
                <a:sym typeface="Times New Roman"/>
              </a:rPr>
              <a:t>2</a:t>
            </a:r>
            <a:r>
              <a:rPr lang="es-ES" sz="2000" noProof="0" dirty="0">
                <a:solidFill>
                  <a:schemeClr val="dk1"/>
                </a:solidFill>
                <a:latin typeface="Times New Roman"/>
                <a:ea typeface="Times New Roman"/>
                <a:cs typeface="Times New Roman"/>
                <a:sym typeface="Times New Roman"/>
              </a:rPr>
              <a:t>O a nivel mundial</a:t>
            </a:r>
            <a:endParaRPr lang="es-ES" noProof="0" dirty="0"/>
          </a:p>
        </p:txBody>
      </p:sp>
      <p:sp>
        <p:nvSpPr>
          <p:cNvPr id="520" name="Google Shape;520;p47"/>
          <p:cNvSpPr txBox="1"/>
          <p:nvPr/>
        </p:nvSpPr>
        <p:spPr>
          <a:xfrm>
            <a:off x="2625338" y="5225515"/>
            <a:ext cx="389332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“CO</a:t>
            </a:r>
            <a:r>
              <a:rPr lang="es-ES" sz="1400" i="1" baseline="-25000" noProof="0" dirty="0">
                <a:solidFill>
                  <a:schemeClr val="dk1"/>
                </a:solidFill>
                <a:latin typeface="Times New Roman"/>
                <a:ea typeface="Times New Roman"/>
                <a:cs typeface="Times New Roman"/>
                <a:sym typeface="Times New Roman"/>
              </a:rPr>
              <a:t>2</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Emissions</a:t>
            </a:r>
            <a:r>
              <a:rPr lang="es-ES" sz="1400" i="1" noProof="0" dirty="0">
                <a:solidFill>
                  <a:schemeClr val="dk1"/>
                </a:solidFill>
                <a:latin typeface="Times New Roman"/>
                <a:ea typeface="Times New Roman"/>
                <a:cs typeface="Times New Roman"/>
                <a:sym typeface="Times New Roman"/>
              </a:rPr>
              <a:t> in 2022. IEA”.</a:t>
            </a:r>
            <a:endParaRPr lang="es-ES" noProof="0" dirty="0"/>
          </a:p>
        </p:txBody>
      </p:sp>
      <p:pic>
        <p:nvPicPr>
          <p:cNvPr id="521" name="Google Shape;521;p47"/>
          <p:cNvPicPr preferRelativeResize="0"/>
          <p:nvPr/>
        </p:nvPicPr>
        <p:blipFill rotWithShape="1">
          <a:blip r:embed="rId3">
            <a:alphaModFix/>
          </a:blip>
          <a:srcRect/>
          <a:stretch/>
        </p:blipFill>
        <p:spPr>
          <a:xfrm>
            <a:off x="971550" y="1239424"/>
            <a:ext cx="7933119" cy="3883731"/>
          </a:xfrm>
          <a:prstGeom prst="rect">
            <a:avLst/>
          </a:prstGeom>
          <a:noFill/>
          <a:ln>
            <a:noFill/>
          </a:ln>
        </p:spPr>
      </p:pic>
      <p:sp>
        <p:nvSpPr>
          <p:cNvPr id="2" name="Google Shape;459;p40">
            <a:extLst>
              <a:ext uri="{FF2B5EF4-FFF2-40B4-BE49-F238E27FC236}">
                <a16:creationId xmlns:a16="http://schemas.microsoft.com/office/drawing/2014/main" id="{A64E2BC5-2A41-3FA5-9CF3-7C80871596E8}"/>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Emisiones de GEI</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48"/>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50</a:t>
            </a:fld>
            <a:endParaRPr lang="es-ES" noProof="0" dirty="0"/>
          </a:p>
        </p:txBody>
      </p:sp>
      <p:sp>
        <p:nvSpPr>
          <p:cNvPr id="528" name="Google Shape;528;p48"/>
          <p:cNvSpPr/>
          <p:nvPr/>
        </p:nvSpPr>
        <p:spPr>
          <a:xfrm>
            <a:off x="826305" y="613117"/>
            <a:ext cx="7912805" cy="14773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1800" noProof="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El Grupo Intergubernamental de Expertos de la ONU sobre el Cambio Climático (IPCC) señala que el aumento de las concentraciones atmosféricas de CO</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 CH</a:t>
            </a:r>
            <a:r>
              <a:rPr lang="es-ES" sz="1800" baseline="-25000" noProof="0" dirty="0">
                <a:solidFill>
                  <a:schemeClr val="dk1"/>
                </a:solidFill>
                <a:latin typeface="Times New Roman"/>
                <a:ea typeface="Times New Roman"/>
                <a:cs typeface="Times New Roman"/>
                <a:sym typeface="Times New Roman"/>
              </a:rPr>
              <a:t>4</a:t>
            </a:r>
            <a:r>
              <a:rPr lang="es-ES" sz="1800" noProof="0" dirty="0">
                <a:solidFill>
                  <a:schemeClr val="dk1"/>
                </a:solidFill>
                <a:latin typeface="Times New Roman"/>
                <a:ea typeface="Times New Roman"/>
                <a:cs typeface="Times New Roman"/>
                <a:sym typeface="Times New Roman"/>
              </a:rPr>
              <a:t> y N</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O provocan un aumento de la Temperatura de la Superficie Media Global del planeta (GMST).</a:t>
            </a:r>
            <a:endParaRPr lang="es-ES" noProof="0" dirty="0"/>
          </a:p>
        </p:txBody>
      </p:sp>
      <p:sp>
        <p:nvSpPr>
          <p:cNvPr id="529" name="Google Shape;529;p48"/>
          <p:cNvSpPr txBox="1"/>
          <p:nvPr/>
        </p:nvSpPr>
        <p:spPr>
          <a:xfrm>
            <a:off x="826305" y="382285"/>
            <a:ext cx="839917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ea typeface="Times New Roman"/>
                <a:cs typeface="Times New Roman"/>
                <a:sym typeface="Times New Roman"/>
              </a:rPr>
              <a:t>Influencia de las emisiones de GEI en el calentamiento global</a:t>
            </a:r>
            <a:endParaRPr lang="es-ES" noProof="0" dirty="0"/>
          </a:p>
        </p:txBody>
      </p:sp>
      <p:pic>
        <p:nvPicPr>
          <p:cNvPr id="530" name="Google Shape;530;p48"/>
          <p:cNvPicPr preferRelativeResize="0"/>
          <p:nvPr/>
        </p:nvPicPr>
        <p:blipFill rotWithShape="1">
          <a:blip r:embed="rId3">
            <a:alphaModFix/>
          </a:blip>
          <a:srcRect/>
          <a:stretch/>
        </p:blipFill>
        <p:spPr>
          <a:xfrm>
            <a:off x="2320847" y="2090445"/>
            <a:ext cx="5005539" cy="3997569"/>
          </a:xfrm>
          <a:prstGeom prst="rect">
            <a:avLst/>
          </a:prstGeom>
          <a:noFill/>
          <a:ln>
            <a:noFill/>
          </a:ln>
        </p:spPr>
      </p:pic>
      <p:sp>
        <p:nvSpPr>
          <p:cNvPr id="531" name="Google Shape;531;p48"/>
          <p:cNvSpPr txBox="1"/>
          <p:nvPr/>
        </p:nvSpPr>
        <p:spPr>
          <a:xfrm>
            <a:off x="1459095" y="6353145"/>
            <a:ext cx="6729045"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Extraído de “IPCC, 2023: Sections. In: </a:t>
            </a:r>
            <a:r>
              <a:rPr lang="es-ES" sz="1000" i="1" noProof="0" dirty="0" err="1">
                <a:solidFill>
                  <a:schemeClr val="dk1"/>
                </a:solidFill>
                <a:latin typeface="Times New Roman"/>
                <a:ea typeface="Times New Roman"/>
                <a:cs typeface="Times New Roman"/>
                <a:sym typeface="Times New Roman"/>
              </a:rPr>
              <a:t>Climate</a:t>
            </a:r>
            <a:r>
              <a:rPr lang="es-ES" sz="1000" i="1" noProof="0" dirty="0">
                <a:solidFill>
                  <a:schemeClr val="dk1"/>
                </a:solidFill>
                <a:latin typeface="Times New Roman"/>
                <a:ea typeface="Times New Roman"/>
                <a:cs typeface="Times New Roman"/>
                <a:sym typeface="Times New Roman"/>
              </a:rPr>
              <a:t> Change 2023: </a:t>
            </a:r>
            <a:r>
              <a:rPr lang="es-ES" sz="1000" i="1" noProof="0" dirty="0" err="1">
                <a:solidFill>
                  <a:schemeClr val="dk1"/>
                </a:solidFill>
                <a:latin typeface="Times New Roman"/>
                <a:ea typeface="Times New Roman"/>
                <a:cs typeface="Times New Roman"/>
                <a:sym typeface="Times New Roman"/>
              </a:rPr>
              <a:t>Synthesis</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Report</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Contribution</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of</a:t>
            </a:r>
            <a:r>
              <a:rPr lang="es-ES" sz="1000" i="1" noProof="0" dirty="0">
                <a:solidFill>
                  <a:schemeClr val="dk1"/>
                </a:solidFill>
                <a:latin typeface="Times New Roman"/>
                <a:ea typeface="Times New Roman"/>
                <a:cs typeface="Times New Roman"/>
                <a:sym typeface="Times New Roman"/>
              </a:rPr>
              <a:t> Working </a:t>
            </a:r>
            <a:r>
              <a:rPr lang="es-ES" sz="1000" i="1" noProof="0" dirty="0" err="1">
                <a:solidFill>
                  <a:schemeClr val="dk1"/>
                </a:solidFill>
                <a:latin typeface="Times New Roman"/>
                <a:ea typeface="Times New Roman"/>
                <a:cs typeface="Times New Roman"/>
                <a:sym typeface="Times New Roman"/>
              </a:rPr>
              <a:t>Groups</a:t>
            </a:r>
            <a:r>
              <a:rPr lang="es-ES" sz="1000" i="1" noProof="0" dirty="0">
                <a:solidFill>
                  <a:schemeClr val="dk1"/>
                </a:solidFill>
                <a:latin typeface="Times New Roman"/>
                <a:ea typeface="Times New Roman"/>
                <a:cs typeface="Times New Roman"/>
                <a:sym typeface="Times New Roman"/>
              </a:rPr>
              <a:t> I, II and III </a:t>
            </a:r>
            <a:r>
              <a:rPr lang="es-ES" sz="1000" i="1" noProof="0" dirty="0" err="1">
                <a:solidFill>
                  <a:schemeClr val="dk1"/>
                </a:solidFill>
                <a:latin typeface="Times New Roman"/>
                <a:ea typeface="Times New Roman"/>
                <a:cs typeface="Times New Roman"/>
                <a:sym typeface="Times New Roman"/>
              </a:rPr>
              <a:t>to</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the</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Sixth</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Assessment</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Report</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of</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the</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Intergovernmental</a:t>
            </a:r>
            <a:r>
              <a:rPr lang="es-ES" sz="1000" i="1" noProof="0" dirty="0">
                <a:solidFill>
                  <a:schemeClr val="dk1"/>
                </a:solidFill>
                <a:latin typeface="Times New Roman"/>
                <a:ea typeface="Times New Roman"/>
                <a:cs typeface="Times New Roman"/>
                <a:sym typeface="Times New Roman"/>
              </a:rPr>
              <a:t> Panel </a:t>
            </a:r>
            <a:r>
              <a:rPr lang="es-ES" sz="1000" i="1" noProof="0" dirty="0" err="1">
                <a:solidFill>
                  <a:schemeClr val="dk1"/>
                </a:solidFill>
                <a:latin typeface="Times New Roman"/>
                <a:ea typeface="Times New Roman"/>
                <a:cs typeface="Times New Roman"/>
                <a:sym typeface="Times New Roman"/>
              </a:rPr>
              <a:t>on</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Climate</a:t>
            </a:r>
            <a:r>
              <a:rPr lang="es-ES" sz="1000" i="1" noProof="0" dirty="0">
                <a:solidFill>
                  <a:schemeClr val="dk1"/>
                </a:solidFill>
                <a:latin typeface="Times New Roman"/>
                <a:ea typeface="Times New Roman"/>
                <a:cs typeface="Times New Roman"/>
                <a:sym typeface="Times New Roman"/>
              </a:rPr>
              <a:t> Change”.</a:t>
            </a:r>
            <a:endParaRPr lang="es-ES" noProof="0" dirty="0"/>
          </a:p>
        </p:txBody>
      </p:sp>
      <p:sp>
        <p:nvSpPr>
          <p:cNvPr id="2" name="Google Shape;459;p40">
            <a:extLst>
              <a:ext uri="{FF2B5EF4-FFF2-40B4-BE49-F238E27FC236}">
                <a16:creationId xmlns:a16="http://schemas.microsoft.com/office/drawing/2014/main" id="{4A703130-BEB1-99C5-46AB-7F5AE90091BD}"/>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Emisiones de GEI</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49"/>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51</a:t>
            </a:fld>
            <a:endParaRPr lang="es-ES" noProof="0" dirty="0"/>
          </a:p>
        </p:txBody>
      </p:sp>
      <p:sp>
        <p:nvSpPr>
          <p:cNvPr id="538" name="Google Shape;538;p49"/>
          <p:cNvSpPr/>
          <p:nvPr/>
        </p:nvSpPr>
        <p:spPr>
          <a:xfrm>
            <a:off x="916314" y="424603"/>
            <a:ext cx="7912805"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El aumento de la Temperatura de la Superficie Media Global del planeta (GMST) se puede estimar a partir de la expresión:</a:t>
            </a:r>
            <a:endParaRPr lang="es-ES" noProof="0" dirty="0"/>
          </a:p>
        </p:txBody>
      </p:sp>
      <p:pic>
        <p:nvPicPr>
          <p:cNvPr id="539" name="Google Shape;539;p49" descr="\documentclass{article}&#10;\usepackage{amsmath}&#10;\pagestyle{empty}&#10;\begin{document}&#10;&#10;$\Delta T = k \times \frac{1}{C}\times E_{CO_2}$&#10;&#10;&#10;\end{document}" title="IguanaTex Bitmap Display"/>
          <p:cNvPicPr preferRelativeResize="0"/>
          <p:nvPr/>
        </p:nvPicPr>
        <p:blipFill rotWithShape="1">
          <a:blip r:embed="rId3">
            <a:alphaModFix/>
          </a:blip>
          <a:srcRect/>
          <a:stretch/>
        </p:blipFill>
        <p:spPr>
          <a:xfrm>
            <a:off x="3511718" y="1206333"/>
            <a:ext cx="2272964" cy="309775"/>
          </a:xfrm>
          <a:prstGeom prst="rect">
            <a:avLst/>
          </a:prstGeom>
          <a:noFill/>
          <a:ln>
            <a:noFill/>
          </a:ln>
        </p:spPr>
      </p:pic>
      <p:sp>
        <p:nvSpPr>
          <p:cNvPr id="540" name="Google Shape;540;p49"/>
          <p:cNvSpPr/>
          <p:nvPr/>
        </p:nvSpPr>
        <p:spPr>
          <a:xfrm>
            <a:off x="916314" y="1597335"/>
            <a:ext cx="7223970"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k</a:t>
            </a:r>
            <a:r>
              <a:rPr lang="es-ES" sz="1000" noProof="0" dirty="0">
                <a:solidFill>
                  <a:schemeClr val="dk1"/>
                </a:solidFill>
                <a:latin typeface="Times New Roman"/>
                <a:ea typeface="Times New Roman"/>
                <a:cs typeface="Times New Roman"/>
                <a:sym typeface="Times New Roman"/>
              </a:rPr>
              <a:t> es la Respuesta Climática Transitoria a las Emisiones acumuladas (TCRE) de CO</a:t>
            </a:r>
            <a:r>
              <a:rPr lang="es-ES" sz="1000" baseline="-25000" noProof="0" dirty="0">
                <a:solidFill>
                  <a:schemeClr val="dk1"/>
                </a:solidFill>
                <a:latin typeface="Times New Roman"/>
                <a:ea typeface="Times New Roman"/>
                <a:cs typeface="Times New Roman"/>
                <a:sym typeface="Times New Roman"/>
              </a:rPr>
              <a:t>2 </a:t>
            </a:r>
            <a:r>
              <a:rPr lang="es-ES" sz="1000" noProof="0" dirty="0">
                <a:solidFill>
                  <a:schemeClr val="dk1"/>
                </a:solidFill>
                <a:latin typeface="Times New Roman"/>
                <a:ea typeface="Times New Roman"/>
                <a:cs typeface="Times New Roman"/>
                <a:sym typeface="Times New Roman"/>
              </a:rPr>
              <a:t>(°C por 10</a:t>
            </a:r>
            <a:r>
              <a:rPr lang="es-ES" sz="1000" baseline="30000" noProof="0" dirty="0">
                <a:solidFill>
                  <a:schemeClr val="dk1"/>
                </a:solidFill>
                <a:latin typeface="Times New Roman"/>
                <a:ea typeface="Times New Roman"/>
                <a:cs typeface="Times New Roman"/>
                <a:sym typeface="Times New Roman"/>
              </a:rPr>
              <a:t>3</a:t>
            </a:r>
            <a:r>
              <a:rPr lang="es-ES" sz="1000" noProof="0" dirty="0">
                <a:solidFill>
                  <a:schemeClr val="dk1"/>
                </a:solidFill>
                <a:latin typeface="Times New Roman"/>
                <a:ea typeface="Times New Roman"/>
                <a:cs typeface="Times New Roman"/>
                <a:sym typeface="Times New Roman"/>
              </a:rPr>
              <a:t> </a:t>
            </a:r>
            <a:r>
              <a:rPr lang="es-ES" sz="1000" noProof="0" dirty="0" err="1">
                <a:solidFill>
                  <a:schemeClr val="dk1"/>
                </a:solidFill>
                <a:latin typeface="Times New Roman"/>
                <a:ea typeface="Times New Roman"/>
                <a:cs typeface="Times New Roman"/>
                <a:sym typeface="Times New Roman"/>
              </a:rPr>
              <a:t>Pg</a:t>
            </a:r>
            <a:r>
              <a:rPr lang="es-ES" sz="1000" noProof="0" dirty="0">
                <a:solidFill>
                  <a:schemeClr val="dk1"/>
                </a:solidFill>
                <a:latin typeface="Times New Roman"/>
                <a:ea typeface="Times New Roman"/>
                <a:cs typeface="Times New Roman"/>
                <a:sym typeface="Times New Roman"/>
              </a:rPr>
              <a:t> CO</a:t>
            </a:r>
            <a:r>
              <a:rPr lang="es-ES" sz="1000" baseline="-25000" noProof="0" dirty="0">
                <a:solidFill>
                  <a:schemeClr val="dk1"/>
                </a:solidFill>
                <a:latin typeface="Times New Roman"/>
                <a:ea typeface="Times New Roman"/>
                <a:cs typeface="Times New Roman"/>
                <a:sym typeface="Times New Roman"/>
              </a:rPr>
              <a:t>2</a:t>
            </a:r>
            <a:r>
              <a:rPr lang="es-ES" sz="1000" noProof="0" dirty="0">
                <a:solidFill>
                  <a:schemeClr val="dk1"/>
                </a:solidFill>
                <a:latin typeface="Times New Roman"/>
                <a:ea typeface="Times New Roman"/>
                <a:cs typeface="Times New Roman"/>
                <a:sym typeface="Times New Roman"/>
              </a:rPr>
              <a:t> emitido).</a:t>
            </a:r>
          </a:p>
        </p:txBody>
      </p:sp>
      <p:sp>
        <p:nvSpPr>
          <p:cNvPr id="541" name="Google Shape;541;p49"/>
          <p:cNvSpPr/>
          <p:nvPr/>
        </p:nvSpPr>
        <p:spPr>
          <a:xfrm>
            <a:off x="906042" y="1790016"/>
            <a:ext cx="7769646" cy="2462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C</a:t>
            </a:r>
            <a:r>
              <a:rPr lang="es-ES" sz="1000" noProof="0" dirty="0">
                <a:solidFill>
                  <a:schemeClr val="dk1"/>
                </a:solidFill>
                <a:latin typeface="Times New Roman"/>
                <a:ea typeface="Times New Roman"/>
                <a:cs typeface="Times New Roman"/>
                <a:sym typeface="Times New Roman"/>
              </a:rPr>
              <a:t> es una constante usada para convertir la masa de carbono de una molécula de CO</a:t>
            </a:r>
            <a:r>
              <a:rPr lang="es-ES" sz="1000" baseline="-25000" noProof="0" dirty="0">
                <a:solidFill>
                  <a:schemeClr val="dk1"/>
                </a:solidFill>
                <a:latin typeface="Times New Roman"/>
                <a:ea typeface="Times New Roman"/>
                <a:cs typeface="Times New Roman"/>
                <a:sym typeface="Times New Roman"/>
              </a:rPr>
              <a:t>2</a:t>
            </a:r>
            <a:r>
              <a:rPr lang="es-ES" sz="1000" noProof="0" dirty="0">
                <a:solidFill>
                  <a:schemeClr val="dk1"/>
                </a:solidFill>
                <a:latin typeface="Times New Roman"/>
                <a:ea typeface="Times New Roman"/>
                <a:cs typeface="Times New Roman"/>
                <a:sym typeface="Times New Roman"/>
              </a:rPr>
              <a:t> en la masa total de una molécula de CO</a:t>
            </a:r>
            <a:r>
              <a:rPr lang="es-ES" sz="1000" baseline="-25000" noProof="0" dirty="0">
                <a:solidFill>
                  <a:schemeClr val="dk1"/>
                </a:solidFill>
                <a:latin typeface="Times New Roman"/>
                <a:ea typeface="Times New Roman"/>
                <a:cs typeface="Times New Roman"/>
                <a:sym typeface="Times New Roman"/>
              </a:rPr>
              <a:t>2</a:t>
            </a:r>
            <a:r>
              <a:rPr lang="es-ES" sz="1000" noProof="0" dirty="0">
                <a:solidFill>
                  <a:schemeClr val="dk1"/>
                </a:solidFill>
                <a:latin typeface="Times New Roman"/>
                <a:ea typeface="Times New Roman"/>
                <a:cs typeface="Times New Roman"/>
                <a:sym typeface="Times New Roman"/>
              </a:rPr>
              <a:t>.</a:t>
            </a:r>
          </a:p>
        </p:txBody>
      </p:sp>
      <p:sp>
        <p:nvSpPr>
          <p:cNvPr id="542" name="Google Shape;542;p49"/>
          <p:cNvSpPr/>
          <p:nvPr/>
        </p:nvSpPr>
        <p:spPr>
          <a:xfrm>
            <a:off x="906042" y="1996265"/>
            <a:ext cx="6776519"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E</a:t>
            </a:r>
            <a:r>
              <a:rPr lang="es-ES" sz="1000" i="1" baseline="-25000" noProof="0" dirty="0">
                <a:solidFill>
                  <a:schemeClr val="dk1"/>
                </a:solidFill>
                <a:latin typeface="Times New Roman"/>
                <a:ea typeface="Times New Roman"/>
                <a:cs typeface="Times New Roman"/>
                <a:sym typeface="Times New Roman"/>
              </a:rPr>
              <a:t>CO2</a:t>
            </a:r>
            <a:r>
              <a:rPr lang="es-ES" sz="1000" noProof="0" dirty="0">
                <a:solidFill>
                  <a:schemeClr val="dk1"/>
                </a:solidFill>
                <a:latin typeface="Times New Roman"/>
                <a:ea typeface="Times New Roman"/>
                <a:cs typeface="Times New Roman"/>
                <a:sym typeface="Times New Roman"/>
              </a:rPr>
              <a:t> es la </a:t>
            </a:r>
            <a:r>
              <a:rPr lang="es-ES" sz="1000" noProof="0" dirty="0" err="1">
                <a:solidFill>
                  <a:schemeClr val="dk1"/>
                </a:solidFill>
                <a:latin typeface="Times New Roman"/>
                <a:ea typeface="Times New Roman"/>
                <a:cs typeface="Times New Roman"/>
                <a:sym typeface="Times New Roman"/>
              </a:rPr>
              <a:t>emisisón</a:t>
            </a:r>
            <a:r>
              <a:rPr lang="es-ES" sz="1000" noProof="0" dirty="0">
                <a:solidFill>
                  <a:schemeClr val="dk1"/>
                </a:solidFill>
                <a:latin typeface="Times New Roman"/>
                <a:ea typeface="Times New Roman"/>
                <a:cs typeface="Times New Roman"/>
                <a:sym typeface="Times New Roman"/>
              </a:rPr>
              <a:t> acumulada de CO</a:t>
            </a:r>
            <a:r>
              <a:rPr lang="es-ES" sz="1000" baseline="-25000" noProof="0" dirty="0">
                <a:solidFill>
                  <a:schemeClr val="dk1"/>
                </a:solidFill>
                <a:latin typeface="Times New Roman"/>
                <a:ea typeface="Times New Roman"/>
                <a:cs typeface="Times New Roman"/>
                <a:sym typeface="Times New Roman"/>
              </a:rPr>
              <a:t>2</a:t>
            </a:r>
            <a:r>
              <a:rPr lang="es-ES" sz="1000" noProof="0" dirty="0">
                <a:solidFill>
                  <a:schemeClr val="dk1"/>
                </a:solidFill>
                <a:latin typeface="Times New Roman"/>
                <a:ea typeface="Times New Roman"/>
                <a:cs typeface="Times New Roman"/>
                <a:sym typeface="Times New Roman"/>
              </a:rPr>
              <a:t> durante el periodo de interés.</a:t>
            </a:r>
          </a:p>
        </p:txBody>
      </p:sp>
      <p:sp>
        <p:nvSpPr>
          <p:cNvPr id="543" name="Google Shape;543;p49"/>
          <p:cNvSpPr/>
          <p:nvPr/>
        </p:nvSpPr>
        <p:spPr>
          <a:xfrm>
            <a:off x="916314" y="2556076"/>
            <a:ext cx="7912805"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Incremento de temperatura estimada en función del GEI (</a:t>
            </a:r>
            <a:r>
              <a:rPr lang="es-ES" sz="1800" noProof="0" dirty="0" err="1">
                <a:solidFill>
                  <a:schemeClr val="dk1"/>
                </a:solidFill>
                <a:latin typeface="Times New Roman"/>
                <a:ea typeface="Times New Roman"/>
                <a:cs typeface="Times New Roman"/>
                <a:sym typeface="Times New Roman"/>
              </a:rPr>
              <a:t>ºC</a:t>
            </a:r>
            <a:r>
              <a:rPr lang="es-ES" sz="1800" noProof="0" dirty="0">
                <a:solidFill>
                  <a:schemeClr val="dk1"/>
                </a:solidFill>
                <a:latin typeface="Times New Roman"/>
                <a:ea typeface="Times New Roman"/>
                <a:cs typeface="Times New Roman"/>
                <a:sym typeface="Times New Roman"/>
              </a:rPr>
              <a:t>)</a:t>
            </a:r>
            <a:endParaRPr lang="es-ES" noProof="0" dirty="0"/>
          </a:p>
        </p:txBody>
      </p:sp>
      <p:grpSp>
        <p:nvGrpSpPr>
          <p:cNvPr id="544" name="Google Shape;544;p49"/>
          <p:cNvGrpSpPr/>
          <p:nvPr/>
        </p:nvGrpSpPr>
        <p:grpSpPr>
          <a:xfrm>
            <a:off x="511894" y="3266033"/>
            <a:ext cx="8455604" cy="2045766"/>
            <a:chOff x="511894" y="2632985"/>
            <a:chExt cx="8455604" cy="2045766"/>
          </a:xfrm>
        </p:grpSpPr>
        <p:grpSp>
          <p:nvGrpSpPr>
            <p:cNvPr id="545" name="Google Shape;545;p49"/>
            <p:cNvGrpSpPr/>
            <p:nvPr/>
          </p:nvGrpSpPr>
          <p:grpSpPr>
            <a:xfrm>
              <a:off x="511894" y="2632985"/>
              <a:ext cx="8455604" cy="1822900"/>
              <a:chOff x="511894" y="2562638"/>
              <a:chExt cx="8455604" cy="1822900"/>
            </a:xfrm>
          </p:grpSpPr>
          <p:grpSp>
            <p:nvGrpSpPr>
              <p:cNvPr id="546" name="Google Shape;546;p49"/>
              <p:cNvGrpSpPr/>
              <p:nvPr/>
            </p:nvGrpSpPr>
            <p:grpSpPr>
              <a:xfrm>
                <a:off x="511894" y="2562638"/>
                <a:ext cx="2880000" cy="1800000"/>
                <a:chOff x="402448" y="2799158"/>
                <a:chExt cx="2991014" cy="2046445"/>
              </a:xfrm>
            </p:grpSpPr>
            <p:pic>
              <p:nvPicPr>
                <p:cNvPr id="547" name="Google Shape;547;p49"/>
                <p:cNvPicPr preferRelativeResize="0"/>
                <p:nvPr/>
              </p:nvPicPr>
              <p:blipFill rotWithShape="1">
                <a:blip r:embed="rId4">
                  <a:alphaModFix/>
                </a:blip>
                <a:srcRect/>
                <a:stretch/>
              </p:blipFill>
              <p:spPr>
                <a:xfrm>
                  <a:off x="1036215" y="2851230"/>
                  <a:ext cx="2357247" cy="1994373"/>
                </a:xfrm>
                <a:prstGeom prst="rect">
                  <a:avLst/>
                </a:prstGeom>
                <a:noFill/>
                <a:ln>
                  <a:noFill/>
                </a:ln>
              </p:spPr>
            </p:pic>
            <p:pic>
              <p:nvPicPr>
                <p:cNvPr id="548" name="Google Shape;548;p49"/>
                <p:cNvPicPr preferRelativeResize="0"/>
                <p:nvPr/>
              </p:nvPicPr>
              <p:blipFill rotWithShape="1">
                <a:blip r:embed="rId5">
                  <a:alphaModFix/>
                </a:blip>
                <a:srcRect/>
                <a:stretch/>
              </p:blipFill>
              <p:spPr>
                <a:xfrm>
                  <a:off x="402448" y="2799158"/>
                  <a:ext cx="654376" cy="2010175"/>
                </a:xfrm>
                <a:prstGeom prst="rect">
                  <a:avLst/>
                </a:prstGeom>
                <a:noFill/>
                <a:ln>
                  <a:noFill/>
                </a:ln>
              </p:spPr>
            </p:pic>
          </p:grpSp>
          <p:grpSp>
            <p:nvGrpSpPr>
              <p:cNvPr id="549" name="Google Shape;549;p49"/>
              <p:cNvGrpSpPr/>
              <p:nvPr/>
            </p:nvGrpSpPr>
            <p:grpSpPr>
              <a:xfrm>
                <a:off x="3252779" y="2585538"/>
                <a:ext cx="2880000" cy="1800000"/>
                <a:chOff x="3638862" y="4615551"/>
                <a:chExt cx="3046858" cy="2077711"/>
              </a:xfrm>
            </p:grpSpPr>
            <p:pic>
              <p:nvPicPr>
                <p:cNvPr id="550" name="Google Shape;550;p49"/>
                <p:cNvPicPr preferRelativeResize="0"/>
                <p:nvPr/>
              </p:nvPicPr>
              <p:blipFill rotWithShape="1">
                <a:blip r:embed="rId6">
                  <a:alphaModFix/>
                </a:blip>
                <a:srcRect/>
                <a:stretch/>
              </p:blipFill>
              <p:spPr>
                <a:xfrm>
                  <a:off x="4276186" y="4644862"/>
                  <a:ext cx="2409534" cy="2048400"/>
                </a:xfrm>
                <a:prstGeom prst="rect">
                  <a:avLst/>
                </a:prstGeom>
                <a:noFill/>
                <a:ln>
                  <a:noFill/>
                </a:ln>
              </p:spPr>
            </p:pic>
            <p:pic>
              <p:nvPicPr>
                <p:cNvPr id="551" name="Google Shape;551;p49"/>
                <p:cNvPicPr preferRelativeResize="0"/>
                <p:nvPr/>
              </p:nvPicPr>
              <p:blipFill rotWithShape="1">
                <a:blip r:embed="rId7">
                  <a:alphaModFix/>
                </a:blip>
                <a:srcRect/>
                <a:stretch/>
              </p:blipFill>
              <p:spPr>
                <a:xfrm>
                  <a:off x="3638862" y="4615551"/>
                  <a:ext cx="673752" cy="2048400"/>
                </a:xfrm>
                <a:prstGeom prst="rect">
                  <a:avLst/>
                </a:prstGeom>
                <a:noFill/>
                <a:ln>
                  <a:noFill/>
                </a:ln>
              </p:spPr>
            </p:pic>
          </p:grpSp>
          <p:grpSp>
            <p:nvGrpSpPr>
              <p:cNvPr id="552" name="Google Shape;552;p49"/>
              <p:cNvGrpSpPr/>
              <p:nvPr/>
            </p:nvGrpSpPr>
            <p:grpSpPr>
              <a:xfrm>
                <a:off x="6087498" y="2573267"/>
                <a:ext cx="2880000" cy="1800000"/>
                <a:chOff x="5967657" y="4384997"/>
                <a:chExt cx="3030968" cy="2086626"/>
              </a:xfrm>
            </p:grpSpPr>
            <p:pic>
              <p:nvPicPr>
                <p:cNvPr id="553" name="Google Shape;553;p49"/>
                <p:cNvPicPr preferRelativeResize="0"/>
                <p:nvPr/>
              </p:nvPicPr>
              <p:blipFill rotWithShape="1">
                <a:blip r:embed="rId8">
                  <a:alphaModFix/>
                </a:blip>
                <a:srcRect/>
                <a:stretch/>
              </p:blipFill>
              <p:spPr>
                <a:xfrm>
                  <a:off x="6670292" y="4423223"/>
                  <a:ext cx="2328333" cy="2048400"/>
                </a:xfrm>
                <a:prstGeom prst="rect">
                  <a:avLst/>
                </a:prstGeom>
                <a:noFill/>
                <a:ln>
                  <a:noFill/>
                </a:ln>
              </p:spPr>
            </p:pic>
            <p:pic>
              <p:nvPicPr>
                <p:cNvPr id="554" name="Google Shape;554;p49"/>
                <p:cNvPicPr preferRelativeResize="0"/>
                <p:nvPr/>
              </p:nvPicPr>
              <p:blipFill rotWithShape="1">
                <a:blip r:embed="rId9">
                  <a:alphaModFix/>
                </a:blip>
                <a:srcRect/>
                <a:stretch/>
              </p:blipFill>
              <p:spPr>
                <a:xfrm>
                  <a:off x="5967657" y="4384997"/>
                  <a:ext cx="637378" cy="2048400"/>
                </a:xfrm>
                <a:prstGeom prst="rect">
                  <a:avLst/>
                </a:prstGeom>
                <a:noFill/>
                <a:ln>
                  <a:noFill/>
                </a:ln>
              </p:spPr>
            </p:pic>
          </p:grpSp>
        </p:grpSp>
        <p:pic>
          <p:nvPicPr>
            <p:cNvPr id="555" name="Google Shape;555;p49"/>
            <p:cNvPicPr preferRelativeResize="0"/>
            <p:nvPr/>
          </p:nvPicPr>
          <p:blipFill rotWithShape="1">
            <a:blip r:embed="rId10">
              <a:alphaModFix/>
            </a:blip>
            <a:srcRect/>
            <a:stretch/>
          </p:blipFill>
          <p:spPr>
            <a:xfrm>
              <a:off x="1122138" y="4493139"/>
              <a:ext cx="2130641" cy="183102"/>
            </a:xfrm>
            <a:prstGeom prst="rect">
              <a:avLst/>
            </a:prstGeom>
            <a:noFill/>
            <a:ln>
              <a:noFill/>
            </a:ln>
          </p:spPr>
        </p:pic>
        <p:pic>
          <p:nvPicPr>
            <p:cNvPr id="556" name="Google Shape;556;p49"/>
            <p:cNvPicPr preferRelativeResize="0"/>
            <p:nvPr/>
          </p:nvPicPr>
          <p:blipFill rotWithShape="1">
            <a:blip r:embed="rId10">
              <a:alphaModFix/>
            </a:blip>
            <a:srcRect/>
            <a:stretch/>
          </p:blipFill>
          <p:spPr>
            <a:xfrm>
              <a:off x="3889634" y="4495649"/>
              <a:ext cx="2130641" cy="183102"/>
            </a:xfrm>
            <a:prstGeom prst="rect">
              <a:avLst/>
            </a:prstGeom>
            <a:noFill/>
            <a:ln>
              <a:noFill/>
            </a:ln>
          </p:spPr>
        </p:pic>
        <p:pic>
          <p:nvPicPr>
            <p:cNvPr id="557" name="Google Shape;557;p49"/>
            <p:cNvPicPr preferRelativeResize="0"/>
            <p:nvPr/>
          </p:nvPicPr>
          <p:blipFill rotWithShape="1">
            <a:blip r:embed="rId10">
              <a:alphaModFix/>
            </a:blip>
            <a:srcRect/>
            <a:stretch/>
          </p:blipFill>
          <p:spPr>
            <a:xfrm>
              <a:off x="6755136" y="4493139"/>
              <a:ext cx="2130641" cy="183102"/>
            </a:xfrm>
            <a:prstGeom prst="rect">
              <a:avLst/>
            </a:prstGeom>
            <a:noFill/>
            <a:ln>
              <a:noFill/>
            </a:ln>
          </p:spPr>
        </p:pic>
      </p:grpSp>
      <p:sp>
        <p:nvSpPr>
          <p:cNvPr id="558" name="Google Shape;558;p49"/>
          <p:cNvSpPr txBox="1"/>
          <p:nvPr/>
        </p:nvSpPr>
        <p:spPr>
          <a:xfrm>
            <a:off x="1650005" y="5910177"/>
            <a:ext cx="697231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Adaptado de “</a:t>
            </a:r>
            <a:r>
              <a:rPr lang="es-ES" sz="1000" i="1" noProof="0" dirty="0" err="1">
                <a:solidFill>
                  <a:schemeClr val="dk1"/>
                </a:solidFill>
                <a:latin typeface="Times New Roman"/>
                <a:ea typeface="Times New Roman"/>
                <a:cs typeface="Times New Roman"/>
                <a:sym typeface="Times New Roman"/>
              </a:rPr>
              <a:t>National</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contributions</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to</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climate</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change</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due</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to</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historical</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emissions</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of</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carbon</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dioxide</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methane</a:t>
            </a:r>
            <a:r>
              <a:rPr lang="es-ES" sz="1000" i="1" noProof="0" dirty="0">
                <a:solidFill>
                  <a:schemeClr val="dk1"/>
                </a:solidFill>
                <a:latin typeface="Times New Roman"/>
                <a:ea typeface="Times New Roman"/>
                <a:cs typeface="Times New Roman"/>
                <a:sym typeface="Times New Roman"/>
              </a:rPr>
              <a:t>, and </a:t>
            </a:r>
            <a:r>
              <a:rPr lang="es-ES" sz="1000" i="1" noProof="0" dirty="0" err="1">
                <a:solidFill>
                  <a:schemeClr val="dk1"/>
                </a:solidFill>
                <a:latin typeface="Times New Roman"/>
                <a:ea typeface="Times New Roman"/>
                <a:cs typeface="Times New Roman"/>
                <a:sym typeface="Times New Roman"/>
              </a:rPr>
              <a:t>nitrous</a:t>
            </a:r>
            <a:r>
              <a:rPr lang="es-ES" sz="1000" i="1" noProof="0" dirty="0">
                <a:solidFill>
                  <a:schemeClr val="dk1"/>
                </a:solidFill>
                <a:latin typeface="Times New Roman"/>
                <a:ea typeface="Times New Roman"/>
                <a:cs typeface="Times New Roman"/>
                <a:sym typeface="Times New Roman"/>
              </a:rPr>
              <a:t> oxide </a:t>
            </a:r>
            <a:r>
              <a:rPr lang="es-ES" sz="1000" i="1" noProof="0" dirty="0" err="1">
                <a:solidFill>
                  <a:schemeClr val="dk1"/>
                </a:solidFill>
                <a:latin typeface="Times New Roman"/>
                <a:ea typeface="Times New Roman"/>
                <a:cs typeface="Times New Roman"/>
                <a:sym typeface="Times New Roman"/>
              </a:rPr>
              <a:t>since</a:t>
            </a:r>
            <a:r>
              <a:rPr lang="es-ES" sz="1000" i="1" noProof="0" dirty="0">
                <a:solidFill>
                  <a:schemeClr val="dk1"/>
                </a:solidFill>
                <a:latin typeface="Times New Roman"/>
                <a:ea typeface="Times New Roman"/>
                <a:cs typeface="Times New Roman"/>
                <a:sym typeface="Times New Roman"/>
              </a:rPr>
              <a:t> 1850. </a:t>
            </a:r>
            <a:r>
              <a:rPr lang="es-ES" sz="1000" i="1" noProof="0" dirty="0" err="1">
                <a:solidFill>
                  <a:schemeClr val="dk1"/>
                </a:solidFill>
                <a:latin typeface="Times New Roman"/>
                <a:ea typeface="Times New Roman"/>
                <a:cs typeface="Times New Roman"/>
                <a:sym typeface="Times New Roman"/>
              </a:rPr>
              <a:t>Scientific</a:t>
            </a:r>
            <a:r>
              <a:rPr lang="es-ES" sz="1000" i="1" noProof="0" dirty="0">
                <a:solidFill>
                  <a:schemeClr val="dk1"/>
                </a:solidFill>
                <a:latin typeface="Times New Roman"/>
                <a:ea typeface="Times New Roman"/>
                <a:cs typeface="Times New Roman"/>
                <a:sym typeface="Times New Roman"/>
              </a:rPr>
              <a:t> data 2023. Nature”.</a:t>
            </a:r>
            <a:endParaRPr lang="es-ES" noProof="0" dirty="0"/>
          </a:p>
        </p:txBody>
      </p:sp>
      <p:pic>
        <p:nvPicPr>
          <p:cNvPr id="559" name="Google Shape;559;p49"/>
          <p:cNvPicPr preferRelativeResize="0"/>
          <p:nvPr/>
        </p:nvPicPr>
        <p:blipFill rotWithShape="1">
          <a:blip r:embed="rId11">
            <a:alphaModFix/>
          </a:blip>
          <a:srcRect/>
          <a:stretch/>
        </p:blipFill>
        <p:spPr>
          <a:xfrm>
            <a:off x="2381505" y="5432361"/>
            <a:ext cx="4624493" cy="438611"/>
          </a:xfrm>
          <a:prstGeom prst="rect">
            <a:avLst/>
          </a:prstGeom>
          <a:noFill/>
          <a:ln>
            <a:noFill/>
          </a:ln>
        </p:spPr>
      </p:pic>
      <p:sp>
        <p:nvSpPr>
          <p:cNvPr id="2" name="Google Shape;459;p40">
            <a:extLst>
              <a:ext uri="{FF2B5EF4-FFF2-40B4-BE49-F238E27FC236}">
                <a16:creationId xmlns:a16="http://schemas.microsoft.com/office/drawing/2014/main" id="{9CDD6A5B-7BFA-2275-D899-1B636D4FDE4A}"/>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Emisiones de GEI</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0"/>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52</a:t>
            </a:fld>
            <a:endParaRPr lang="es-ES" noProof="0" dirty="0"/>
          </a:p>
        </p:txBody>
      </p:sp>
      <p:sp>
        <p:nvSpPr>
          <p:cNvPr id="571" name="Google Shape;571;p50"/>
          <p:cNvSpPr/>
          <p:nvPr/>
        </p:nvSpPr>
        <p:spPr>
          <a:xfrm>
            <a:off x="867216" y="525249"/>
            <a:ext cx="7912805"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Incremento de temperatura estimada de la suma de CO</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 CH</a:t>
            </a:r>
            <a:r>
              <a:rPr lang="es-ES" sz="1800" baseline="-25000" noProof="0" dirty="0">
                <a:solidFill>
                  <a:schemeClr val="dk1"/>
                </a:solidFill>
                <a:latin typeface="Times New Roman"/>
                <a:ea typeface="Times New Roman"/>
                <a:cs typeface="Times New Roman"/>
                <a:sym typeface="Times New Roman"/>
              </a:rPr>
              <a:t>4</a:t>
            </a:r>
            <a:r>
              <a:rPr lang="es-ES" sz="1800" noProof="0" dirty="0">
                <a:solidFill>
                  <a:schemeClr val="dk1"/>
                </a:solidFill>
                <a:latin typeface="Times New Roman"/>
                <a:ea typeface="Times New Roman"/>
                <a:cs typeface="Times New Roman"/>
                <a:sym typeface="Times New Roman"/>
              </a:rPr>
              <a:t> y N</a:t>
            </a:r>
            <a:r>
              <a:rPr lang="es-ES" sz="1800" baseline="-25000" noProof="0" dirty="0">
                <a:solidFill>
                  <a:schemeClr val="dk1"/>
                </a:solidFill>
                <a:latin typeface="Times New Roman"/>
                <a:ea typeface="Times New Roman"/>
                <a:cs typeface="Times New Roman"/>
                <a:sym typeface="Times New Roman"/>
              </a:rPr>
              <a:t>2</a:t>
            </a:r>
            <a:r>
              <a:rPr lang="es-ES" sz="1800" noProof="0" dirty="0">
                <a:solidFill>
                  <a:schemeClr val="dk1"/>
                </a:solidFill>
                <a:latin typeface="Times New Roman"/>
                <a:ea typeface="Times New Roman"/>
                <a:cs typeface="Times New Roman"/>
                <a:sym typeface="Times New Roman"/>
              </a:rPr>
              <a:t>O (</a:t>
            </a:r>
            <a:r>
              <a:rPr lang="es-ES" sz="1800" noProof="0" dirty="0" err="1">
                <a:solidFill>
                  <a:schemeClr val="dk1"/>
                </a:solidFill>
                <a:latin typeface="Times New Roman"/>
                <a:ea typeface="Times New Roman"/>
                <a:cs typeface="Times New Roman"/>
                <a:sym typeface="Times New Roman"/>
              </a:rPr>
              <a:t>ºC</a:t>
            </a:r>
            <a:r>
              <a:rPr lang="es-ES" sz="1800" noProof="0" dirty="0">
                <a:solidFill>
                  <a:schemeClr val="dk1"/>
                </a:solidFill>
                <a:latin typeface="Times New Roman"/>
                <a:ea typeface="Times New Roman"/>
                <a:cs typeface="Times New Roman"/>
                <a:sym typeface="Times New Roman"/>
              </a:rPr>
              <a:t>)</a:t>
            </a:r>
            <a:endParaRPr lang="es-ES" noProof="0" dirty="0"/>
          </a:p>
        </p:txBody>
      </p:sp>
      <p:sp>
        <p:nvSpPr>
          <p:cNvPr id="572" name="Google Shape;572;p50"/>
          <p:cNvSpPr txBox="1"/>
          <p:nvPr/>
        </p:nvSpPr>
        <p:spPr>
          <a:xfrm>
            <a:off x="1643784" y="5717344"/>
            <a:ext cx="697231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00" i="1" noProof="0" dirty="0">
                <a:solidFill>
                  <a:schemeClr val="dk1"/>
                </a:solidFill>
                <a:latin typeface="Times New Roman"/>
                <a:ea typeface="Times New Roman"/>
                <a:cs typeface="Times New Roman"/>
                <a:sym typeface="Times New Roman"/>
              </a:rPr>
              <a:t>Adaptado de “</a:t>
            </a:r>
            <a:r>
              <a:rPr lang="es-ES" sz="1000" i="1" noProof="0" dirty="0" err="1">
                <a:solidFill>
                  <a:schemeClr val="dk1"/>
                </a:solidFill>
                <a:latin typeface="Times New Roman"/>
                <a:ea typeface="Times New Roman"/>
                <a:cs typeface="Times New Roman"/>
                <a:sym typeface="Times New Roman"/>
              </a:rPr>
              <a:t>National</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contributions</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to</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climate</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change</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due</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to</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historical</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emissions</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of</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carbon</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dioxide</a:t>
            </a:r>
            <a:r>
              <a:rPr lang="es-ES" sz="1000" i="1" noProof="0" dirty="0">
                <a:solidFill>
                  <a:schemeClr val="dk1"/>
                </a:solidFill>
                <a:latin typeface="Times New Roman"/>
                <a:ea typeface="Times New Roman"/>
                <a:cs typeface="Times New Roman"/>
                <a:sym typeface="Times New Roman"/>
              </a:rPr>
              <a:t>, </a:t>
            </a:r>
            <a:r>
              <a:rPr lang="es-ES" sz="1000" i="1" noProof="0" dirty="0" err="1">
                <a:solidFill>
                  <a:schemeClr val="dk1"/>
                </a:solidFill>
                <a:latin typeface="Times New Roman"/>
                <a:ea typeface="Times New Roman"/>
                <a:cs typeface="Times New Roman"/>
                <a:sym typeface="Times New Roman"/>
              </a:rPr>
              <a:t>methane</a:t>
            </a:r>
            <a:r>
              <a:rPr lang="es-ES" sz="1000" i="1" noProof="0" dirty="0">
                <a:solidFill>
                  <a:schemeClr val="dk1"/>
                </a:solidFill>
                <a:latin typeface="Times New Roman"/>
                <a:ea typeface="Times New Roman"/>
                <a:cs typeface="Times New Roman"/>
                <a:sym typeface="Times New Roman"/>
              </a:rPr>
              <a:t>, and </a:t>
            </a:r>
            <a:r>
              <a:rPr lang="es-ES" sz="1000" i="1" noProof="0" dirty="0" err="1">
                <a:solidFill>
                  <a:schemeClr val="dk1"/>
                </a:solidFill>
                <a:latin typeface="Times New Roman"/>
                <a:ea typeface="Times New Roman"/>
                <a:cs typeface="Times New Roman"/>
                <a:sym typeface="Times New Roman"/>
              </a:rPr>
              <a:t>nitrous</a:t>
            </a:r>
            <a:r>
              <a:rPr lang="es-ES" sz="1000" i="1" noProof="0" dirty="0">
                <a:solidFill>
                  <a:schemeClr val="dk1"/>
                </a:solidFill>
                <a:latin typeface="Times New Roman"/>
                <a:ea typeface="Times New Roman"/>
                <a:cs typeface="Times New Roman"/>
                <a:sym typeface="Times New Roman"/>
              </a:rPr>
              <a:t> oxide </a:t>
            </a:r>
            <a:r>
              <a:rPr lang="es-ES" sz="1000" i="1" noProof="0" dirty="0" err="1">
                <a:solidFill>
                  <a:schemeClr val="dk1"/>
                </a:solidFill>
                <a:latin typeface="Times New Roman"/>
                <a:ea typeface="Times New Roman"/>
                <a:cs typeface="Times New Roman"/>
                <a:sym typeface="Times New Roman"/>
              </a:rPr>
              <a:t>since</a:t>
            </a:r>
            <a:r>
              <a:rPr lang="es-ES" sz="1000" i="1" noProof="0" dirty="0">
                <a:solidFill>
                  <a:schemeClr val="dk1"/>
                </a:solidFill>
                <a:latin typeface="Times New Roman"/>
                <a:ea typeface="Times New Roman"/>
                <a:cs typeface="Times New Roman"/>
                <a:sym typeface="Times New Roman"/>
              </a:rPr>
              <a:t> 1850. </a:t>
            </a:r>
            <a:r>
              <a:rPr lang="es-ES" sz="1000" i="1" noProof="0" dirty="0" err="1">
                <a:solidFill>
                  <a:schemeClr val="dk1"/>
                </a:solidFill>
                <a:latin typeface="Times New Roman"/>
                <a:ea typeface="Times New Roman"/>
                <a:cs typeface="Times New Roman"/>
                <a:sym typeface="Times New Roman"/>
              </a:rPr>
              <a:t>Scientific</a:t>
            </a:r>
            <a:r>
              <a:rPr lang="es-ES" sz="1000" i="1" noProof="0" dirty="0">
                <a:solidFill>
                  <a:schemeClr val="dk1"/>
                </a:solidFill>
                <a:latin typeface="Times New Roman"/>
                <a:ea typeface="Times New Roman"/>
                <a:cs typeface="Times New Roman"/>
                <a:sym typeface="Times New Roman"/>
              </a:rPr>
              <a:t> data 2023. Nature”.</a:t>
            </a:r>
            <a:endParaRPr lang="es-ES" noProof="0" dirty="0"/>
          </a:p>
        </p:txBody>
      </p:sp>
      <p:pic>
        <p:nvPicPr>
          <p:cNvPr id="573" name="Google Shape;573;p50"/>
          <p:cNvPicPr preferRelativeResize="0"/>
          <p:nvPr/>
        </p:nvPicPr>
        <p:blipFill rotWithShape="1">
          <a:blip r:embed="rId3">
            <a:alphaModFix/>
          </a:blip>
          <a:srcRect/>
          <a:stretch/>
        </p:blipFill>
        <p:spPr>
          <a:xfrm>
            <a:off x="2259753" y="5082837"/>
            <a:ext cx="4624493" cy="438611"/>
          </a:xfrm>
          <a:prstGeom prst="rect">
            <a:avLst/>
          </a:prstGeom>
          <a:noFill/>
          <a:ln>
            <a:noFill/>
          </a:ln>
        </p:spPr>
      </p:pic>
      <p:grpSp>
        <p:nvGrpSpPr>
          <p:cNvPr id="574" name="Google Shape;574;p50"/>
          <p:cNvGrpSpPr/>
          <p:nvPr/>
        </p:nvGrpSpPr>
        <p:grpSpPr>
          <a:xfrm>
            <a:off x="2052735" y="1290662"/>
            <a:ext cx="4044243" cy="3497982"/>
            <a:chOff x="3201793" y="3099133"/>
            <a:chExt cx="2440558" cy="1823928"/>
          </a:xfrm>
        </p:grpSpPr>
        <p:pic>
          <p:nvPicPr>
            <p:cNvPr id="575" name="Google Shape;575;p50"/>
            <p:cNvPicPr preferRelativeResize="0"/>
            <p:nvPr/>
          </p:nvPicPr>
          <p:blipFill rotWithShape="1">
            <a:blip r:embed="rId4">
              <a:alphaModFix/>
            </a:blip>
            <a:srcRect/>
            <a:stretch/>
          </p:blipFill>
          <p:spPr>
            <a:xfrm>
              <a:off x="3745151" y="3123061"/>
              <a:ext cx="1897200" cy="1800000"/>
            </a:xfrm>
            <a:prstGeom prst="rect">
              <a:avLst/>
            </a:prstGeom>
            <a:noFill/>
            <a:ln>
              <a:noFill/>
            </a:ln>
          </p:spPr>
        </p:pic>
        <p:pic>
          <p:nvPicPr>
            <p:cNvPr id="576" name="Google Shape;576;p50"/>
            <p:cNvPicPr preferRelativeResize="0"/>
            <p:nvPr/>
          </p:nvPicPr>
          <p:blipFill rotWithShape="1">
            <a:blip r:embed="rId5">
              <a:alphaModFix/>
            </a:blip>
            <a:srcRect/>
            <a:stretch/>
          </p:blipFill>
          <p:spPr>
            <a:xfrm>
              <a:off x="3201793" y="3099133"/>
              <a:ext cx="543358" cy="1546759"/>
            </a:xfrm>
            <a:prstGeom prst="rect">
              <a:avLst/>
            </a:prstGeom>
            <a:noFill/>
            <a:ln>
              <a:noFill/>
            </a:ln>
          </p:spPr>
        </p:pic>
      </p:grpSp>
      <p:sp>
        <p:nvSpPr>
          <p:cNvPr id="2" name="Google Shape;459;p40">
            <a:extLst>
              <a:ext uri="{FF2B5EF4-FFF2-40B4-BE49-F238E27FC236}">
                <a16:creationId xmlns:a16="http://schemas.microsoft.com/office/drawing/2014/main" id="{3817055D-E329-F30D-EA27-14224FB23F7B}"/>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Emisiones de GEI</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5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3200"/>
              <a:buFont typeface="Times New Roman"/>
              <a:buNone/>
            </a:pPr>
            <a:r>
              <a:rPr lang="es-ES" noProof="0" dirty="0"/>
              <a:t>Conceptos y definiciones</a:t>
            </a:r>
          </a:p>
          <a:p>
            <a:pPr marL="0" lvl="0" indent="0" algn="just" rtl="0">
              <a:lnSpc>
                <a:spcPct val="150000"/>
              </a:lnSpc>
              <a:spcBef>
                <a:spcPts val="600"/>
              </a:spcBef>
              <a:spcAft>
                <a:spcPts val="0"/>
              </a:spcAft>
              <a:buClr>
                <a:schemeClr val="dk1"/>
              </a:buClr>
              <a:buSzPts val="3200"/>
              <a:buFont typeface="Times New Roman"/>
              <a:buNone/>
            </a:pPr>
            <a:r>
              <a:rPr lang="es-ES" noProof="0" dirty="0"/>
              <a:t>Balance energético</a:t>
            </a:r>
          </a:p>
          <a:p>
            <a:pPr marL="0" lvl="0" indent="0" algn="just" rtl="0">
              <a:lnSpc>
                <a:spcPct val="150000"/>
              </a:lnSpc>
              <a:spcBef>
                <a:spcPts val="600"/>
              </a:spcBef>
              <a:spcAft>
                <a:spcPts val="0"/>
              </a:spcAft>
              <a:buClr>
                <a:schemeClr val="dk1"/>
              </a:buClr>
              <a:buSzPts val="3200"/>
              <a:buFont typeface="Times New Roman"/>
              <a:buNone/>
            </a:pPr>
            <a:r>
              <a:rPr lang="es-ES" noProof="0" dirty="0"/>
              <a:t>Uso de la energía</a:t>
            </a:r>
          </a:p>
          <a:p>
            <a:pPr marL="0" lvl="0" indent="0" algn="just" rtl="0">
              <a:lnSpc>
                <a:spcPct val="150000"/>
              </a:lnSpc>
              <a:spcBef>
                <a:spcPts val="600"/>
              </a:spcBef>
              <a:spcAft>
                <a:spcPts val="0"/>
              </a:spcAft>
              <a:buClr>
                <a:schemeClr val="dk1"/>
              </a:buClr>
              <a:buSzPts val="3200"/>
              <a:buFont typeface="Times New Roman"/>
              <a:buNone/>
            </a:pPr>
            <a:r>
              <a:rPr lang="es-ES" noProof="0" dirty="0"/>
              <a:t>Emisiones de GEI</a:t>
            </a:r>
            <a:endParaRPr lang="es-ES" baseline="-25000" noProof="0" dirty="0"/>
          </a:p>
          <a:p>
            <a:pPr marL="0" lvl="0" indent="0" algn="just" rtl="0">
              <a:lnSpc>
                <a:spcPct val="150000"/>
              </a:lnSpc>
              <a:spcBef>
                <a:spcPts val="600"/>
              </a:spcBef>
              <a:spcAft>
                <a:spcPts val="0"/>
              </a:spcAft>
              <a:buClr>
                <a:schemeClr val="dk1"/>
              </a:buClr>
              <a:buSzPts val="3200"/>
              <a:buFont typeface="Times New Roman"/>
              <a:buNone/>
            </a:pPr>
            <a:r>
              <a:rPr lang="es-ES" b="1" noProof="0" dirty="0"/>
              <a:t>Escenarios</a:t>
            </a:r>
            <a:endParaRPr lang="es-ES" noProof="0" dirty="0"/>
          </a:p>
          <a:p>
            <a:pPr marL="0" lvl="0" indent="0" algn="just" rtl="0">
              <a:lnSpc>
                <a:spcPct val="150000"/>
              </a:lnSpc>
              <a:spcBef>
                <a:spcPts val="600"/>
              </a:spcBef>
              <a:spcAft>
                <a:spcPts val="0"/>
              </a:spcAft>
              <a:buClr>
                <a:schemeClr val="dk1"/>
              </a:buClr>
              <a:buSzPts val="3200"/>
              <a:buFont typeface="Times New Roman"/>
              <a:buNone/>
            </a:pPr>
            <a:endParaRPr lang="es-ES" noProof="0" dirty="0"/>
          </a:p>
        </p:txBody>
      </p:sp>
      <p:sp>
        <p:nvSpPr>
          <p:cNvPr id="582" name="Google Shape;582;p51"/>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53</a:t>
            </a:fld>
            <a:endParaRPr lang="es-ES" noProof="0" dirty="0"/>
          </a:p>
        </p:txBody>
      </p:sp>
      <p:sp>
        <p:nvSpPr>
          <p:cNvPr id="583" name="Google Shape;583;p51"/>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Índice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52"/>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54</a:t>
            </a:fld>
            <a:endParaRPr lang="es-ES" noProof="0" dirty="0"/>
          </a:p>
        </p:txBody>
      </p:sp>
      <p:sp>
        <p:nvSpPr>
          <p:cNvPr id="5" name="CuadroTexto 4">
            <a:extLst>
              <a:ext uri="{FF2B5EF4-FFF2-40B4-BE49-F238E27FC236}">
                <a16:creationId xmlns:a16="http://schemas.microsoft.com/office/drawing/2014/main" id="{587567F9-FF71-D9FF-7B39-CB7914B2FEC8}"/>
              </a:ext>
            </a:extLst>
          </p:cNvPr>
          <p:cNvSpPr txBox="1"/>
          <p:nvPr/>
        </p:nvSpPr>
        <p:spPr>
          <a:xfrm>
            <a:off x="888695" y="584071"/>
            <a:ext cx="7759373" cy="461665"/>
          </a:xfrm>
          <a:prstGeom prst="rect">
            <a:avLst/>
          </a:prstGeom>
          <a:noFill/>
        </p:spPr>
        <p:txBody>
          <a:bodyPr wrap="square">
            <a:spAutoFit/>
          </a:bodyPr>
          <a:lstStyle/>
          <a:p>
            <a:pPr algn="just"/>
            <a:r>
              <a:rPr lang="es-ES" sz="2400" noProof="0" dirty="0">
                <a:solidFill>
                  <a:schemeClr val="dk1"/>
                </a:solidFill>
                <a:latin typeface="Times New Roman"/>
                <a:cs typeface="Times New Roman"/>
              </a:rPr>
              <a:t>Acuerdo de París de 2015</a:t>
            </a:r>
          </a:p>
        </p:txBody>
      </p:sp>
      <p:sp>
        <p:nvSpPr>
          <p:cNvPr id="11" name="CuadroTexto 10">
            <a:extLst>
              <a:ext uri="{FF2B5EF4-FFF2-40B4-BE49-F238E27FC236}">
                <a16:creationId xmlns:a16="http://schemas.microsoft.com/office/drawing/2014/main" id="{AB05BF2C-060F-852F-DB1E-F35A7953A792}"/>
              </a:ext>
            </a:extLst>
          </p:cNvPr>
          <p:cNvSpPr txBox="1"/>
          <p:nvPr/>
        </p:nvSpPr>
        <p:spPr>
          <a:xfrm>
            <a:off x="888695" y="1045736"/>
            <a:ext cx="7759372" cy="923330"/>
          </a:xfrm>
          <a:prstGeom prst="rect">
            <a:avLst/>
          </a:prstGeom>
          <a:noFill/>
        </p:spPr>
        <p:txBody>
          <a:bodyPr wrap="square">
            <a:spAutoFit/>
          </a:bodyPr>
          <a:lstStyle/>
          <a:p>
            <a:pPr algn="just"/>
            <a:r>
              <a:rPr lang="es-ES" sz="1800" noProof="0" dirty="0">
                <a:solidFill>
                  <a:schemeClr val="dk1"/>
                </a:solidFill>
                <a:latin typeface="Times New Roman"/>
                <a:cs typeface="Times New Roman"/>
              </a:rPr>
              <a:t>Objetivo de mantener el </a:t>
            </a:r>
            <a:r>
              <a:rPr lang="es-ES" sz="1800" i="1" noProof="0" dirty="0">
                <a:solidFill>
                  <a:schemeClr val="dk1"/>
                </a:solidFill>
                <a:latin typeface="Times New Roman"/>
                <a:cs typeface="Times New Roman"/>
              </a:rPr>
              <a:t>incremento de la temperatura de la superficie media global por debajo de los 2ºC </a:t>
            </a:r>
            <a:r>
              <a:rPr lang="es-ES" sz="1800" noProof="0" dirty="0">
                <a:solidFill>
                  <a:schemeClr val="dk1"/>
                </a:solidFill>
                <a:latin typeface="Times New Roman"/>
                <a:cs typeface="Times New Roman"/>
              </a:rPr>
              <a:t>respecto a los niveles preindustriales: </a:t>
            </a:r>
            <a:r>
              <a:rPr lang="es-ES" sz="1800" i="1" noProof="0" dirty="0">
                <a:solidFill>
                  <a:schemeClr val="dk1"/>
                </a:solidFill>
                <a:latin typeface="Times New Roman"/>
                <a:cs typeface="Times New Roman"/>
              </a:rPr>
              <a:t>limitar el calentamiento global a 1.5ºC</a:t>
            </a:r>
            <a:r>
              <a:rPr lang="es-ES" noProof="0" dirty="0"/>
              <a:t>.</a:t>
            </a:r>
          </a:p>
        </p:txBody>
      </p:sp>
      <p:sp>
        <p:nvSpPr>
          <p:cNvPr id="3" name="CuadroTexto 2">
            <a:extLst>
              <a:ext uri="{FF2B5EF4-FFF2-40B4-BE49-F238E27FC236}">
                <a16:creationId xmlns:a16="http://schemas.microsoft.com/office/drawing/2014/main" id="{9DB550AC-8450-FBBA-E727-63589D19EBC9}"/>
              </a:ext>
            </a:extLst>
          </p:cNvPr>
          <p:cNvSpPr txBox="1"/>
          <p:nvPr/>
        </p:nvSpPr>
        <p:spPr>
          <a:xfrm>
            <a:off x="888695" y="2242056"/>
            <a:ext cx="7704136" cy="4031873"/>
          </a:xfrm>
          <a:prstGeom prst="rect">
            <a:avLst/>
          </a:prstGeom>
          <a:noFill/>
        </p:spPr>
        <p:txBody>
          <a:bodyPr wrap="square">
            <a:spAutoFit/>
          </a:bodyPr>
          <a:lstStyle/>
          <a:p>
            <a:pPr marL="0" marR="0" lvl="0" indent="0" algn="just" rtl="0">
              <a:spcBef>
                <a:spcPts val="0"/>
              </a:spcBef>
              <a:spcAft>
                <a:spcPts val="0"/>
              </a:spcAft>
              <a:buNone/>
            </a:pPr>
            <a:r>
              <a:rPr lang="es-ES" sz="1800" noProof="0" dirty="0">
                <a:solidFill>
                  <a:schemeClr val="dk1"/>
                </a:solidFill>
                <a:latin typeface="Times New Roman"/>
                <a:cs typeface="Times New Roman"/>
                <a:sym typeface="Times New Roman"/>
              </a:rPr>
              <a:t>La IEA contempla en su “World Energy Outlook de 2022” tres posibles escenarios basados en una visión diferente sobre la política energética a ejecutar:</a:t>
            </a:r>
          </a:p>
          <a:p>
            <a:pPr marL="285750" marR="0" lvl="0" indent="-285750" algn="just" rtl="0">
              <a:spcBef>
                <a:spcPts val="1200"/>
              </a:spcBef>
              <a:spcAft>
                <a:spcPts val="1200"/>
              </a:spcAft>
              <a:buFont typeface="Arial" panose="020B0604020202020204" pitchFamily="34" charset="0"/>
              <a:buChar char="•"/>
            </a:pPr>
            <a:r>
              <a:rPr lang="es-ES" sz="1800" u="sng"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Escenario de directivas declaradas (STEPS)</a:t>
            </a:r>
            <a:r>
              <a:rPr lang="es-ES" sz="1800"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 este escenario no analiza lo que los gobiernos dicen que lograrán, sino lo que realmente están haciendo para alcanzar las metas y objetivos que han establecido.</a:t>
            </a:r>
          </a:p>
          <a:p>
            <a:pPr marL="285750" marR="0" lvl="0" indent="-285750" algn="just" rtl="0">
              <a:spcAft>
                <a:spcPts val="1200"/>
              </a:spcAft>
              <a:buFont typeface="Arial" panose="020B0604020202020204" pitchFamily="34" charset="0"/>
              <a:buChar char="•"/>
            </a:pPr>
            <a:r>
              <a:rPr lang="es-ES" sz="1800" u="sng"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Escenario de Promesas Anunciadas (APS)</a:t>
            </a:r>
            <a:r>
              <a:rPr lang="es-ES" sz="1800"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 Este escenario asume que los gobiernos cumplirán, en su totalidad y a tiempo, todos los compromisos relacionados con el clima que han anunciado.</a:t>
            </a:r>
          </a:p>
          <a:p>
            <a:pPr marL="285750" marR="0" lvl="0" indent="-285750" algn="just" rtl="0">
              <a:spcBef>
                <a:spcPts val="0"/>
              </a:spcBef>
              <a:spcAft>
                <a:spcPts val="0"/>
              </a:spcAft>
              <a:buFont typeface="Arial" panose="020B0604020202020204" pitchFamily="34" charset="0"/>
              <a:buChar char="•"/>
            </a:pPr>
            <a:r>
              <a:rPr lang="es-ES" sz="1800" u="sng"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Cero Emisiones Netas para 2050 (NZE)</a:t>
            </a:r>
            <a:r>
              <a:rPr lang="es-ES" sz="1800"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 se trabaja desde objetivos específicos mostrando cómo se pueden conseguir. Además de cumplir con los Objetivos de Desarrollo Sostenible, </a:t>
            </a:r>
            <a:r>
              <a:rPr lang="es-ES" sz="1800" i="1"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uno de los objetivos principales es la limitación de 1.5 °C de la temperatura de la superficie media global</a:t>
            </a:r>
            <a:r>
              <a:rPr lang="es-ES" sz="1800" noProof="0" dirty="0">
                <a:solidFill>
                  <a:schemeClr val="dk1"/>
                </a:solidFill>
                <a:latin typeface="Times New Roman" panose="02020603050405020304" pitchFamily="18" charset="0"/>
                <a:ea typeface="Times New Roman"/>
                <a:cs typeface="Times New Roman" panose="02020603050405020304" pitchFamily="18" charset="0"/>
                <a:sym typeface="Times New Roman"/>
              </a:rPr>
              <a:t>.</a:t>
            </a:r>
            <a:endParaRPr lang="es-ES" sz="1800" noProof="0" dirty="0">
              <a:solidFill>
                <a:schemeClr val="dk1"/>
              </a:solidFill>
              <a:latin typeface="Times New Roman"/>
              <a:cs typeface="Times New Roman"/>
            </a:endParaRPr>
          </a:p>
        </p:txBody>
      </p:sp>
      <p:sp>
        <p:nvSpPr>
          <p:cNvPr id="2" name="Google Shape;459;p40">
            <a:extLst>
              <a:ext uri="{FF2B5EF4-FFF2-40B4-BE49-F238E27FC236}">
                <a16:creationId xmlns:a16="http://schemas.microsoft.com/office/drawing/2014/main" id="{5D4C2F85-2A8B-1C04-8C5C-F4E558CA51BF}"/>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Escenarios</a:t>
            </a:r>
          </a:p>
        </p:txBody>
      </p:sp>
    </p:spTree>
    <p:extLst>
      <p:ext uri="{BB962C8B-B14F-4D97-AF65-F5344CB8AC3E}">
        <p14:creationId xmlns:p14="http://schemas.microsoft.com/office/powerpoint/2010/main" val="28085337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53"/>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55</a:t>
            </a:fld>
            <a:endParaRPr lang="es-ES" noProof="0" dirty="0"/>
          </a:p>
        </p:txBody>
      </p:sp>
      <p:pic>
        <p:nvPicPr>
          <p:cNvPr id="598" name="Google Shape;598;p53"/>
          <p:cNvPicPr preferRelativeResize="0"/>
          <p:nvPr/>
        </p:nvPicPr>
        <p:blipFill rotWithShape="1">
          <a:blip r:embed="rId3">
            <a:alphaModFix/>
          </a:blip>
          <a:srcRect l="998" t="11522"/>
          <a:stretch/>
        </p:blipFill>
        <p:spPr>
          <a:xfrm>
            <a:off x="1232559" y="1562099"/>
            <a:ext cx="7089814" cy="3337391"/>
          </a:xfrm>
          <a:prstGeom prst="rect">
            <a:avLst/>
          </a:prstGeom>
          <a:noFill/>
          <a:ln>
            <a:noFill/>
          </a:ln>
        </p:spPr>
      </p:pic>
      <p:sp>
        <p:nvSpPr>
          <p:cNvPr id="599" name="Google Shape;599;p53"/>
          <p:cNvSpPr/>
          <p:nvPr/>
        </p:nvSpPr>
        <p:spPr>
          <a:xfrm>
            <a:off x="1687971" y="4899490"/>
            <a:ext cx="617899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800" noProof="0" dirty="0">
                <a:solidFill>
                  <a:schemeClr val="dk1"/>
                </a:solidFill>
                <a:latin typeface="Times New Roman"/>
                <a:ea typeface="Times New Roman"/>
                <a:cs typeface="Times New Roman"/>
                <a:sym typeface="Times New Roman"/>
              </a:rPr>
              <a:t>TES = Total Energy </a:t>
            </a:r>
            <a:r>
              <a:rPr lang="es-ES" sz="800" noProof="0" dirty="0" err="1">
                <a:solidFill>
                  <a:schemeClr val="dk1"/>
                </a:solidFill>
                <a:latin typeface="Times New Roman"/>
                <a:ea typeface="Times New Roman"/>
                <a:cs typeface="Times New Roman"/>
                <a:sym typeface="Times New Roman"/>
              </a:rPr>
              <a:t>Supply</a:t>
            </a:r>
            <a:r>
              <a:rPr lang="es-ES" sz="800" noProof="0" dirty="0">
                <a:solidFill>
                  <a:schemeClr val="dk1"/>
                </a:solidFill>
                <a:latin typeface="Times New Roman"/>
                <a:ea typeface="Times New Roman"/>
                <a:cs typeface="Times New Roman"/>
                <a:sym typeface="Times New Roman"/>
              </a:rPr>
              <a:t>.</a:t>
            </a:r>
          </a:p>
        </p:txBody>
      </p:sp>
      <p:sp>
        <p:nvSpPr>
          <p:cNvPr id="600" name="Google Shape;600;p53"/>
          <p:cNvSpPr/>
          <p:nvPr/>
        </p:nvSpPr>
        <p:spPr>
          <a:xfrm>
            <a:off x="821064" y="475362"/>
            <a:ext cx="7912805"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Energía global proveniente de combustibles fósiles 1990-2050. Escenario STEPS.</a:t>
            </a:r>
            <a:endParaRPr lang="es-ES" noProof="0" dirty="0"/>
          </a:p>
        </p:txBody>
      </p:sp>
      <p:sp>
        <p:nvSpPr>
          <p:cNvPr id="601" name="Google Shape;601;p53"/>
          <p:cNvSpPr txBox="1"/>
          <p:nvPr/>
        </p:nvSpPr>
        <p:spPr>
          <a:xfrm>
            <a:off x="2625338" y="5225515"/>
            <a:ext cx="389332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“Word Energy Outlook 2022. IEA”.</a:t>
            </a:r>
            <a:endParaRPr lang="es-ES" noProof="0" dirty="0"/>
          </a:p>
        </p:txBody>
      </p:sp>
      <p:sp>
        <p:nvSpPr>
          <p:cNvPr id="5" name="Google Shape;459;p40">
            <a:extLst>
              <a:ext uri="{FF2B5EF4-FFF2-40B4-BE49-F238E27FC236}">
                <a16:creationId xmlns:a16="http://schemas.microsoft.com/office/drawing/2014/main" id="{66D3D6B1-6CD8-45DC-7C03-796A9ED8284A}"/>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a:t>Escenarios</a:t>
            </a:r>
            <a:endParaRPr lang="es-ES" kern="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54"/>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56</a:t>
            </a:fld>
            <a:endParaRPr lang="es-ES" noProof="0" dirty="0"/>
          </a:p>
        </p:txBody>
      </p:sp>
      <p:pic>
        <p:nvPicPr>
          <p:cNvPr id="608" name="Google Shape;608;p54"/>
          <p:cNvPicPr preferRelativeResize="0"/>
          <p:nvPr/>
        </p:nvPicPr>
        <p:blipFill rotWithShape="1">
          <a:blip r:embed="rId3">
            <a:alphaModFix/>
          </a:blip>
          <a:srcRect t="14234"/>
          <a:stretch/>
        </p:blipFill>
        <p:spPr>
          <a:xfrm>
            <a:off x="971550" y="1536699"/>
            <a:ext cx="7236117" cy="2267201"/>
          </a:xfrm>
          <a:prstGeom prst="rect">
            <a:avLst/>
          </a:prstGeom>
          <a:noFill/>
          <a:ln>
            <a:noFill/>
          </a:ln>
        </p:spPr>
      </p:pic>
      <p:pic>
        <p:nvPicPr>
          <p:cNvPr id="609" name="Google Shape;609;p54"/>
          <p:cNvPicPr preferRelativeResize="0"/>
          <p:nvPr/>
        </p:nvPicPr>
        <p:blipFill rotWithShape="1">
          <a:blip r:embed="rId4">
            <a:alphaModFix/>
          </a:blip>
          <a:srcRect/>
          <a:stretch/>
        </p:blipFill>
        <p:spPr>
          <a:xfrm>
            <a:off x="1097938" y="4196062"/>
            <a:ext cx="7577750" cy="564977"/>
          </a:xfrm>
          <a:prstGeom prst="rect">
            <a:avLst/>
          </a:prstGeom>
          <a:noFill/>
          <a:ln>
            <a:noFill/>
          </a:ln>
        </p:spPr>
      </p:pic>
      <p:sp>
        <p:nvSpPr>
          <p:cNvPr id="610" name="Google Shape;610;p54"/>
          <p:cNvSpPr txBox="1"/>
          <p:nvPr/>
        </p:nvSpPr>
        <p:spPr>
          <a:xfrm>
            <a:off x="2625338" y="5225515"/>
            <a:ext cx="389332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“Word Energy Outlook 2022. IEA”.</a:t>
            </a:r>
            <a:endParaRPr lang="es-ES" noProof="0" dirty="0"/>
          </a:p>
        </p:txBody>
      </p:sp>
      <p:sp>
        <p:nvSpPr>
          <p:cNvPr id="611" name="Google Shape;611;p54"/>
          <p:cNvSpPr/>
          <p:nvPr/>
        </p:nvSpPr>
        <p:spPr>
          <a:xfrm>
            <a:off x="821064" y="475362"/>
            <a:ext cx="7912805"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Energía global suministrada por escenario y fuente energética</a:t>
            </a:r>
            <a:endParaRPr lang="es-ES" noProof="0" dirty="0"/>
          </a:p>
        </p:txBody>
      </p:sp>
      <p:sp>
        <p:nvSpPr>
          <p:cNvPr id="5" name="Google Shape;459;p40">
            <a:extLst>
              <a:ext uri="{FF2B5EF4-FFF2-40B4-BE49-F238E27FC236}">
                <a16:creationId xmlns:a16="http://schemas.microsoft.com/office/drawing/2014/main" id="{CB732218-7D5F-3F33-83B2-53666764D778}"/>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a:t>Escenarios</a:t>
            </a:r>
            <a:endParaRPr lang="es-ES" kern="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55"/>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57</a:t>
            </a:fld>
            <a:endParaRPr lang="es-ES" noProof="0" dirty="0"/>
          </a:p>
        </p:txBody>
      </p:sp>
      <p:pic>
        <p:nvPicPr>
          <p:cNvPr id="618" name="Google Shape;618;p55"/>
          <p:cNvPicPr preferRelativeResize="0"/>
          <p:nvPr/>
        </p:nvPicPr>
        <p:blipFill rotWithShape="1">
          <a:blip r:embed="rId3">
            <a:alphaModFix/>
          </a:blip>
          <a:srcRect t="10563"/>
          <a:stretch/>
        </p:blipFill>
        <p:spPr>
          <a:xfrm>
            <a:off x="971550" y="1502058"/>
            <a:ext cx="7752135" cy="3853884"/>
          </a:xfrm>
          <a:prstGeom prst="rect">
            <a:avLst/>
          </a:prstGeom>
          <a:noFill/>
          <a:ln>
            <a:noFill/>
          </a:ln>
        </p:spPr>
      </p:pic>
      <p:sp>
        <p:nvSpPr>
          <p:cNvPr id="619" name="Google Shape;619;p55"/>
          <p:cNvSpPr/>
          <p:nvPr/>
        </p:nvSpPr>
        <p:spPr>
          <a:xfrm>
            <a:off x="821064" y="475362"/>
            <a:ext cx="7912805"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Energía global suministrada por combustible fósil y no fósil. 2020-2050.</a:t>
            </a:r>
            <a:endParaRPr lang="es-ES" noProof="0" dirty="0"/>
          </a:p>
        </p:txBody>
      </p:sp>
      <p:sp>
        <p:nvSpPr>
          <p:cNvPr id="620" name="Google Shape;620;p55"/>
          <p:cNvSpPr txBox="1"/>
          <p:nvPr/>
        </p:nvSpPr>
        <p:spPr>
          <a:xfrm>
            <a:off x="2676138" y="5406742"/>
            <a:ext cx="389332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“Word Energy Outlook 2022. IEA”.</a:t>
            </a:r>
            <a:endParaRPr lang="es-ES" noProof="0" dirty="0"/>
          </a:p>
        </p:txBody>
      </p:sp>
      <p:sp>
        <p:nvSpPr>
          <p:cNvPr id="8" name="Google Shape;459;p40">
            <a:extLst>
              <a:ext uri="{FF2B5EF4-FFF2-40B4-BE49-F238E27FC236}">
                <a16:creationId xmlns:a16="http://schemas.microsoft.com/office/drawing/2014/main" id="{09E968A9-3B4E-4BD8-EF5E-2BEA8B82C866}"/>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Escenarios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6"/>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58</a:t>
            </a:fld>
            <a:endParaRPr lang="es-ES" noProof="0" dirty="0"/>
          </a:p>
        </p:txBody>
      </p:sp>
      <p:pic>
        <p:nvPicPr>
          <p:cNvPr id="627" name="Google Shape;627;p56"/>
          <p:cNvPicPr preferRelativeResize="0"/>
          <p:nvPr/>
        </p:nvPicPr>
        <p:blipFill rotWithShape="1">
          <a:blip r:embed="rId3">
            <a:alphaModFix/>
          </a:blip>
          <a:srcRect t="16048"/>
          <a:stretch/>
        </p:blipFill>
        <p:spPr>
          <a:xfrm>
            <a:off x="971550" y="1476438"/>
            <a:ext cx="7764348" cy="3905124"/>
          </a:xfrm>
          <a:prstGeom prst="rect">
            <a:avLst/>
          </a:prstGeom>
          <a:noFill/>
          <a:ln>
            <a:noFill/>
          </a:ln>
        </p:spPr>
      </p:pic>
      <p:sp>
        <p:nvSpPr>
          <p:cNvPr id="628" name="Google Shape;628;p56"/>
          <p:cNvSpPr txBox="1"/>
          <p:nvPr/>
        </p:nvSpPr>
        <p:spPr>
          <a:xfrm>
            <a:off x="2907062" y="5466815"/>
            <a:ext cx="389332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“Word Energy Outlook 2022. IEA”.</a:t>
            </a:r>
            <a:endParaRPr lang="es-ES" noProof="0" dirty="0"/>
          </a:p>
        </p:txBody>
      </p:sp>
      <p:sp>
        <p:nvSpPr>
          <p:cNvPr id="629" name="Google Shape;629;p56"/>
          <p:cNvSpPr/>
          <p:nvPr/>
        </p:nvSpPr>
        <p:spPr>
          <a:xfrm>
            <a:off x="823093" y="431086"/>
            <a:ext cx="7912805"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Emisiones de CO2 asociadas con procesos energéticos 2010-2050 e incremento de temperatura prevista en 2100 según los escenarios contemplados.</a:t>
            </a:r>
            <a:endParaRPr lang="es-ES" noProof="0" dirty="0"/>
          </a:p>
        </p:txBody>
      </p:sp>
      <p:sp>
        <p:nvSpPr>
          <p:cNvPr id="5" name="Google Shape;459;p40">
            <a:extLst>
              <a:ext uri="{FF2B5EF4-FFF2-40B4-BE49-F238E27FC236}">
                <a16:creationId xmlns:a16="http://schemas.microsoft.com/office/drawing/2014/main" id="{591642F7-501F-457F-11B3-227688702D40}"/>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a:t>Escenarios</a:t>
            </a:r>
            <a:endParaRPr lang="es-ES" kern="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59</a:t>
            </a:fld>
            <a:endParaRPr lang="es-ES" noProof="0" dirty="0"/>
          </a:p>
        </p:txBody>
      </p:sp>
      <p:pic>
        <p:nvPicPr>
          <p:cNvPr id="636" name="Google Shape;636;p57"/>
          <p:cNvPicPr preferRelativeResize="0"/>
          <p:nvPr/>
        </p:nvPicPr>
        <p:blipFill rotWithShape="1">
          <a:blip r:embed="rId3">
            <a:alphaModFix/>
          </a:blip>
          <a:srcRect t="10283"/>
          <a:stretch/>
        </p:blipFill>
        <p:spPr>
          <a:xfrm>
            <a:off x="971550" y="1435100"/>
            <a:ext cx="7801631" cy="3870231"/>
          </a:xfrm>
          <a:prstGeom prst="rect">
            <a:avLst/>
          </a:prstGeom>
          <a:noFill/>
          <a:ln>
            <a:noFill/>
          </a:ln>
        </p:spPr>
      </p:pic>
      <p:sp>
        <p:nvSpPr>
          <p:cNvPr id="637" name="Google Shape;637;p57"/>
          <p:cNvSpPr/>
          <p:nvPr/>
        </p:nvSpPr>
        <p:spPr>
          <a:xfrm>
            <a:off x="1149979" y="5252303"/>
            <a:ext cx="457200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800" noProof="0" dirty="0" err="1">
                <a:solidFill>
                  <a:schemeClr val="dk1"/>
                </a:solidFill>
                <a:latin typeface="Times New Roman"/>
                <a:ea typeface="Times New Roman"/>
                <a:cs typeface="Times New Roman"/>
                <a:sym typeface="Times New Roman"/>
              </a:rPr>
              <a:t>mboe</a:t>
            </a:r>
            <a:r>
              <a:rPr lang="es-ES" sz="800" noProof="0" dirty="0">
                <a:solidFill>
                  <a:schemeClr val="dk1"/>
                </a:solidFill>
                <a:latin typeface="Times New Roman"/>
                <a:ea typeface="Times New Roman"/>
                <a:cs typeface="Times New Roman"/>
                <a:sym typeface="Times New Roman"/>
              </a:rPr>
              <a:t>/d = millones de barriles de petróleo equivalente por día</a:t>
            </a:r>
          </a:p>
        </p:txBody>
      </p:sp>
      <p:sp>
        <p:nvSpPr>
          <p:cNvPr id="638" name="Google Shape;638;p57"/>
          <p:cNvSpPr txBox="1"/>
          <p:nvPr/>
        </p:nvSpPr>
        <p:spPr>
          <a:xfrm>
            <a:off x="2830804" y="5540230"/>
            <a:ext cx="389332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“Word Energy Outlook 2022. IEA”.</a:t>
            </a:r>
            <a:endParaRPr lang="es-ES" noProof="0" dirty="0"/>
          </a:p>
        </p:txBody>
      </p:sp>
      <p:sp>
        <p:nvSpPr>
          <p:cNvPr id="639" name="Google Shape;639;p57"/>
          <p:cNvSpPr/>
          <p:nvPr/>
        </p:nvSpPr>
        <p:spPr>
          <a:xfrm>
            <a:off x="821064" y="475362"/>
            <a:ext cx="7912805"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Uso de la energía en el transporte por escenario. 2000-2050.</a:t>
            </a:r>
            <a:endParaRPr lang="es-ES" noProof="0" dirty="0"/>
          </a:p>
        </p:txBody>
      </p:sp>
      <p:sp>
        <p:nvSpPr>
          <p:cNvPr id="5" name="Google Shape;459;p40">
            <a:extLst>
              <a:ext uri="{FF2B5EF4-FFF2-40B4-BE49-F238E27FC236}">
                <a16:creationId xmlns:a16="http://schemas.microsoft.com/office/drawing/2014/main" id="{46F7950E-2B88-275A-5F62-C2C3B1F978B8}"/>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a:t>Escenarios</a:t>
            </a:r>
            <a:endParaRPr lang="es-ES" kern="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58"/>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60</a:t>
            </a:fld>
            <a:endParaRPr lang="es-ES" noProof="0" dirty="0"/>
          </a:p>
        </p:txBody>
      </p:sp>
      <p:pic>
        <p:nvPicPr>
          <p:cNvPr id="646" name="Google Shape;646;p58"/>
          <p:cNvPicPr preferRelativeResize="0"/>
          <p:nvPr/>
        </p:nvPicPr>
        <p:blipFill rotWithShape="1">
          <a:blip r:embed="rId3">
            <a:alphaModFix/>
          </a:blip>
          <a:srcRect t="17744"/>
          <a:stretch/>
        </p:blipFill>
        <p:spPr>
          <a:xfrm>
            <a:off x="1078110" y="1744082"/>
            <a:ext cx="7491018" cy="3483006"/>
          </a:xfrm>
          <a:prstGeom prst="rect">
            <a:avLst/>
          </a:prstGeom>
          <a:noFill/>
          <a:ln>
            <a:noFill/>
          </a:ln>
        </p:spPr>
      </p:pic>
      <p:sp>
        <p:nvSpPr>
          <p:cNvPr id="647" name="Google Shape;647;p58"/>
          <p:cNvSpPr txBox="1"/>
          <p:nvPr/>
        </p:nvSpPr>
        <p:spPr>
          <a:xfrm>
            <a:off x="2625338" y="5320765"/>
            <a:ext cx="389332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Extraído de “Word Energy Outlook 2022. IEA”.</a:t>
            </a:r>
            <a:endParaRPr lang="es-ES" noProof="0" dirty="0"/>
          </a:p>
        </p:txBody>
      </p:sp>
      <p:sp>
        <p:nvSpPr>
          <p:cNvPr id="648" name="Google Shape;648;p58"/>
          <p:cNvSpPr/>
          <p:nvPr/>
        </p:nvSpPr>
        <p:spPr>
          <a:xfrm>
            <a:off x="821064" y="475362"/>
            <a:ext cx="7912805"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Requerimientos de minerales para tecnologías limpias por escenario. Comparativa de 2021 respecto a 2030.</a:t>
            </a:r>
            <a:endParaRPr lang="es-ES" noProof="0" dirty="0"/>
          </a:p>
        </p:txBody>
      </p:sp>
      <p:sp>
        <p:nvSpPr>
          <p:cNvPr id="8" name="Google Shape;459;p40">
            <a:extLst>
              <a:ext uri="{FF2B5EF4-FFF2-40B4-BE49-F238E27FC236}">
                <a16:creationId xmlns:a16="http://schemas.microsoft.com/office/drawing/2014/main" id="{CC610A79-9A7F-DAA6-43ED-ACEE79C7A74A}"/>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Escenarios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58"/>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61</a:t>
            </a:fld>
            <a:endParaRPr lang="es-ES" noProof="0" dirty="0"/>
          </a:p>
        </p:txBody>
      </p:sp>
      <p:sp>
        <p:nvSpPr>
          <p:cNvPr id="648" name="Google Shape;648;p58"/>
          <p:cNvSpPr/>
          <p:nvPr/>
        </p:nvSpPr>
        <p:spPr>
          <a:xfrm>
            <a:off x="821064" y="475362"/>
            <a:ext cx="7912805" cy="36929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España: PNIEC (PLAN NACIONAL INTEGRADO DE ENERGÍA Y CLIMA)</a:t>
            </a:r>
            <a:endParaRPr lang="es-ES" noProof="0" dirty="0"/>
          </a:p>
        </p:txBody>
      </p:sp>
      <p:sp>
        <p:nvSpPr>
          <p:cNvPr id="3" name="CuadroTexto 2">
            <a:extLst>
              <a:ext uri="{FF2B5EF4-FFF2-40B4-BE49-F238E27FC236}">
                <a16:creationId xmlns:a16="http://schemas.microsoft.com/office/drawing/2014/main" id="{AB9BD62D-BCDC-EF20-99BF-7F1844A0BB39}"/>
              </a:ext>
            </a:extLst>
          </p:cNvPr>
          <p:cNvSpPr txBox="1"/>
          <p:nvPr/>
        </p:nvSpPr>
        <p:spPr>
          <a:xfrm>
            <a:off x="821063" y="986640"/>
            <a:ext cx="7854625" cy="5416868"/>
          </a:xfrm>
          <a:prstGeom prst="rect">
            <a:avLst/>
          </a:prstGeom>
          <a:noFill/>
        </p:spPr>
        <p:txBody>
          <a:bodyPr wrap="square">
            <a:spAutoFit/>
          </a:bodyPr>
          <a:lstStyle/>
          <a:p>
            <a:pPr algn="just"/>
            <a:r>
              <a:rPr lang="es-ES" sz="1800" u="sng" noProof="0" dirty="0">
                <a:solidFill>
                  <a:schemeClr val="dk1"/>
                </a:solidFill>
                <a:latin typeface="Times New Roman"/>
                <a:cs typeface="Times New Roman"/>
              </a:rPr>
              <a:t>La Estrategia de Descarbonización a Largo Plazo (2050)</a:t>
            </a:r>
            <a:endParaRPr lang="es-ES" sz="1400" b="0" i="0" u="sng" strike="noStrike" baseline="0" noProof="0" dirty="0">
              <a:solidFill>
                <a:srgbClr val="000000"/>
              </a:solidFill>
              <a:latin typeface="Calibri" panose="020F0502020204030204" pitchFamily="34" charset="0"/>
            </a:endParaRPr>
          </a:p>
          <a:p>
            <a:pPr algn="just"/>
            <a:endParaRPr lang="es-ES" u="sng" noProof="0" dirty="0">
              <a:latin typeface="Calibri" panose="020F0502020204030204" pitchFamily="34" charset="0"/>
            </a:endParaRPr>
          </a:p>
          <a:p>
            <a:pPr marL="285750" indent="-285750" algn="just">
              <a:spcBef>
                <a:spcPts val="600"/>
              </a:spcBef>
              <a:buFont typeface="Arial" panose="020B0604020202020204" pitchFamily="34" charset="0"/>
              <a:buChar char="•"/>
            </a:pPr>
            <a:r>
              <a:rPr lang="es-ES" sz="1800" noProof="0" dirty="0">
                <a:solidFill>
                  <a:schemeClr val="dk1"/>
                </a:solidFill>
                <a:latin typeface="Times New Roman"/>
                <a:cs typeface="Times New Roman"/>
              </a:rPr>
              <a:t>Reducción del 90 % emisiones GEI respecto 1990. Neutralidad cero.</a:t>
            </a:r>
          </a:p>
          <a:p>
            <a:pPr marL="285750" indent="-285750" algn="just">
              <a:spcBef>
                <a:spcPts val="600"/>
              </a:spcBef>
              <a:buFont typeface="Arial" panose="020B0604020202020204" pitchFamily="34" charset="0"/>
              <a:buChar char="•"/>
            </a:pPr>
            <a:r>
              <a:rPr lang="es-ES" sz="1800" noProof="0" dirty="0">
                <a:solidFill>
                  <a:schemeClr val="dk1"/>
                </a:solidFill>
                <a:latin typeface="Times New Roman"/>
                <a:cs typeface="Times New Roman"/>
              </a:rPr>
              <a:t>Reducción 40% energía primaria mediante eficiencia energética.</a:t>
            </a:r>
          </a:p>
          <a:p>
            <a:pPr marL="285750" lvl="1" indent="-285750" algn="just">
              <a:spcBef>
                <a:spcPts val="600"/>
              </a:spcBef>
              <a:buFont typeface="Arial" panose="020B0604020202020204" pitchFamily="34" charset="0"/>
              <a:buChar char="•"/>
            </a:pPr>
            <a:r>
              <a:rPr lang="es-ES" sz="1800" noProof="0" dirty="0">
                <a:solidFill>
                  <a:schemeClr val="dk1"/>
                </a:solidFill>
                <a:latin typeface="Times New Roman"/>
                <a:cs typeface="Times New Roman"/>
              </a:rPr>
              <a:t>Reducción de más del 30% en consumo de energía final.</a:t>
            </a:r>
          </a:p>
          <a:p>
            <a:pPr marL="285750" indent="-285750" algn="just">
              <a:spcBef>
                <a:spcPts val="600"/>
              </a:spcBef>
              <a:buFont typeface="Arial" panose="020B0604020202020204" pitchFamily="34" charset="0"/>
              <a:buChar char="•"/>
            </a:pPr>
            <a:r>
              <a:rPr lang="es-ES" sz="1800" noProof="0" dirty="0">
                <a:solidFill>
                  <a:schemeClr val="dk1"/>
                </a:solidFill>
                <a:latin typeface="Times New Roman"/>
                <a:cs typeface="Times New Roman"/>
              </a:rPr>
              <a:t>El sector eléctrico será 100% renovable.</a:t>
            </a:r>
          </a:p>
          <a:p>
            <a:pPr marL="285750" indent="-285750" algn="just">
              <a:spcBef>
                <a:spcPts val="600"/>
              </a:spcBef>
              <a:buFont typeface="Arial" panose="020B0604020202020204" pitchFamily="34" charset="0"/>
              <a:buChar char="•"/>
            </a:pPr>
            <a:r>
              <a:rPr lang="es-ES" sz="1800" noProof="0" dirty="0">
                <a:solidFill>
                  <a:schemeClr val="dk1"/>
                </a:solidFill>
                <a:latin typeface="Times New Roman"/>
                <a:cs typeface="Times New Roman"/>
              </a:rPr>
              <a:t>El % de energías renovables en el transporte y la movilidad alcanzará el 79%, llegando al 97% en el sector de calor y frío.</a:t>
            </a:r>
          </a:p>
          <a:p>
            <a:pPr marL="285750" indent="-285750" algn="just">
              <a:spcBef>
                <a:spcPts val="600"/>
              </a:spcBef>
              <a:buFont typeface="Arial" panose="020B0604020202020204" pitchFamily="34" charset="0"/>
              <a:buChar char="•"/>
            </a:pPr>
            <a:r>
              <a:rPr lang="es-ES" sz="1800" noProof="0" dirty="0">
                <a:solidFill>
                  <a:schemeClr val="dk1"/>
                </a:solidFill>
                <a:latin typeface="Times New Roman"/>
                <a:cs typeface="Times New Roman"/>
              </a:rPr>
              <a:t>La dependencia energética del exterior se reduce a un 13%. </a:t>
            </a:r>
          </a:p>
          <a:p>
            <a:pPr marL="285750" indent="-285750" algn="just">
              <a:spcBef>
                <a:spcPts val="600"/>
              </a:spcBef>
              <a:buFont typeface="Arial" panose="020B0604020202020204" pitchFamily="34" charset="0"/>
              <a:buChar char="•"/>
            </a:pPr>
            <a:r>
              <a:rPr lang="es-ES" sz="1800" noProof="0" dirty="0">
                <a:solidFill>
                  <a:schemeClr val="dk1"/>
                </a:solidFill>
                <a:latin typeface="Times New Roman"/>
                <a:cs typeface="Times New Roman"/>
              </a:rPr>
              <a:t>La movilidad y el transporte reducirán sus emisiones cerca del 98%, la industria más de un 90%, el sector agropecuario y residuos entorno al 60% y el sector edificación estará 100% descarbonizado.</a:t>
            </a:r>
          </a:p>
          <a:p>
            <a:pPr marL="285750" indent="-285750" algn="just">
              <a:spcBef>
                <a:spcPts val="600"/>
              </a:spcBef>
              <a:buFont typeface="Arial" panose="020B0604020202020204" pitchFamily="34" charset="0"/>
              <a:buChar char="•"/>
            </a:pPr>
            <a:r>
              <a:rPr lang="es-ES" sz="1800" noProof="0" dirty="0">
                <a:solidFill>
                  <a:schemeClr val="dk1"/>
                </a:solidFill>
                <a:latin typeface="Times New Roman"/>
                <a:cs typeface="Times New Roman"/>
              </a:rPr>
              <a:t>Reforestación de 20.000 hectáreas al año entre 2020 y 2050, el aumento del 4% de la superficie de tierras forestales, la mejora de la gestión forestal y la restauración y recuperación de 50.000 hectáreas de humedales hasta 2050.</a:t>
            </a:r>
          </a:p>
          <a:p>
            <a:pPr marL="285750" indent="-285750" algn="just">
              <a:buFont typeface="Arial" panose="020B0604020202020204" pitchFamily="34" charset="0"/>
              <a:buChar char="•"/>
            </a:pPr>
            <a:endParaRPr lang="es-ES" sz="1800" noProof="0" dirty="0">
              <a:solidFill>
                <a:schemeClr val="dk1"/>
              </a:solidFill>
              <a:latin typeface="Times New Roman"/>
              <a:cs typeface="Times New Roman"/>
            </a:endParaRPr>
          </a:p>
          <a:p>
            <a:pPr marL="285750" indent="-285750" algn="just">
              <a:buFont typeface="Arial" panose="020B0604020202020204" pitchFamily="34" charset="0"/>
              <a:buChar char="•"/>
            </a:pPr>
            <a:endParaRPr lang="es-ES" sz="1800" noProof="0" dirty="0">
              <a:solidFill>
                <a:schemeClr val="dk1"/>
              </a:solidFill>
              <a:latin typeface="Times New Roman"/>
              <a:cs typeface="Times New Roman"/>
            </a:endParaRPr>
          </a:p>
        </p:txBody>
      </p:sp>
      <p:sp>
        <p:nvSpPr>
          <p:cNvPr id="2" name="Google Shape;459;p40">
            <a:extLst>
              <a:ext uri="{FF2B5EF4-FFF2-40B4-BE49-F238E27FC236}">
                <a16:creationId xmlns:a16="http://schemas.microsoft.com/office/drawing/2014/main" id="{F7838837-E63C-4FE3-D365-5FA9C6BA26F1}"/>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Escenarios</a:t>
            </a:r>
          </a:p>
        </p:txBody>
      </p:sp>
    </p:spTree>
    <p:extLst>
      <p:ext uri="{BB962C8B-B14F-4D97-AF65-F5344CB8AC3E}">
        <p14:creationId xmlns:p14="http://schemas.microsoft.com/office/powerpoint/2010/main" val="9026431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C8DAAD70-608A-57DF-E80C-2C594FE242E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ES" noProof="0" smtClean="0"/>
              <a:t>62</a:t>
            </a:fld>
            <a:endParaRPr lang="es-ES" noProof="0" dirty="0"/>
          </a:p>
        </p:txBody>
      </p:sp>
      <p:pic>
        <p:nvPicPr>
          <p:cNvPr id="7" name="Picture 2">
            <a:extLst>
              <a:ext uri="{FF2B5EF4-FFF2-40B4-BE49-F238E27FC236}">
                <a16:creationId xmlns:a16="http://schemas.microsoft.com/office/drawing/2014/main" id="{C7A85AA3-E0EE-BAF5-1BFC-67116C5CC0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60" t="2092" r="1662" b="1591"/>
          <a:stretch/>
        </p:blipFill>
        <p:spPr bwMode="auto">
          <a:xfrm>
            <a:off x="864000" y="1986373"/>
            <a:ext cx="8280000" cy="4871627"/>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3785E095-698B-CB34-269E-E0418AC908C4}"/>
              </a:ext>
            </a:extLst>
          </p:cNvPr>
          <p:cNvSpPr/>
          <p:nvPr/>
        </p:nvSpPr>
        <p:spPr>
          <a:xfrm>
            <a:off x="774790" y="380388"/>
            <a:ext cx="4410927" cy="1558972"/>
          </a:xfrm>
          <a:prstGeom prst="rect">
            <a:avLst/>
          </a:prstGeom>
          <a:solidFill>
            <a:schemeClr val="accent2">
              <a:lumMod val="40000"/>
              <a:lumOff val="60000"/>
            </a:schemeClr>
          </a:solidFill>
          <a:ln w="12700" cap="flat" cmpd="sng" algn="ctr">
            <a:solidFill>
              <a:schemeClr val="accent1"/>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noProof="0" dirty="0">
                <a:latin typeface="Palatino Linotype" panose="02040502050505030304" pitchFamily="18" charset="0"/>
              </a:rPr>
              <a:t>El nuevo modelo 4D (+A):</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600" noProof="0" dirty="0">
                <a:latin typeface="Palatino Linotype" panose="02040502050505030304" pitchFamily="18" charset="0"/>
              </a:rPr>
              <a:t>Descarbonización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600" noProof="0" dirty="0">
                <a:latin typeface="Palatino Linotype" panose="02040502050505030304" pitchFamily="18" charset="0"/>
              </a:rPr>
              <a:t>Descentralización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600" noProof="0" dirty="0">
                <a:latin typeface="Palatino Linotype" panose="02040502050505030304" pitchFamily="18" charset="0"/>
              </a:rPr>
              <a:t>Democratización de la energía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600" noProof="0" dirty="0">
                <a:latin typeface="Palatino Linotype" panose="02040502050505030304" pitchFamily="18" charset="0"/>
              </a:rPr>
              <a:t>Digitalización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600" noProof="0" dirty="0">
                <a:latin typeface="Palatino Linotype" panose="02040502050505030304" pitchFamily="18" charset="0"/>
              </a:rPr>
              <a:t>AUTONOMÍA ESTRATÉGICA</a:t>
            </a:r>
          </a:p>
        </p:txBody>
      </p:sp>
      <p:sp>
        <p:nvSpPr>
          <p:cNvPr id="2" name="Google Shape;459;p40">
            <a:extLst>
              <a:ext uri="{FF2B5EF4-FFF2-40B4-BE49-F238E27FC236}">
                <a16:creationId xmlns:a16="http://schemas.microsoft.com/office/drawing/2014/main" id="{C83342B8-799D-8A9E-7A9B-0749009E2C11}"/>
              </a:ext>
            </a:extLst>
          </p:cNvPr>
          <p:cNvSpPr txBox="1">
            <a:spLocks noGrp="1"/>
          </p:cNvSpPr>
          <p:nvPr>
            <p:ph type="body" idx="2"/>
          </p:nvPr>
        </p:nvSpPr>
        <p:spPr>
          <a:xfrm>
            <a:off x="971550" y="0"/>
            <a:ext cx="7704138" cy="3333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74"/>
              </a:buClr>
              <a:buSzPts val="2400"/>
              <a:buFont typeface="Arial"/>
              <a:buNone/>
            </a:pPr>
            <a:r>
              <a:rPr lang="es-ES" noProof="0" dirty="0"/>
              <a:t>Escenarios</a:t>
            </a:r>
          </a:p>
        </p:txBody>
      </p:sp>
    </p:spTree>
    <p:extLst>
      <p:ext uri="{BB962C8B-B14F-4D97-AF65-F5344CB8AC3E}">
        <p14:creationId xmlns:p14="http://schemas.microsoft.com/office/powerpoint/2010/main" val="34622605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Shape 443"/>
        <p:cNvGrpSpPr/>
        <p:nvPr/>
      </p:nvGrpSpPr>
      <p:grpSpPr>
        <a:xfrm>
          <a:off x="0" y="0"/>
          <a:ext cx="0" cy="0"/>
          <a:chOff x="0" y="0"/>
          <a:chExt cx="0" cy="0"/>
        </a:xfrm>
      </p:grpSpPr>
      <p:sp>
        <p:nvSpPr>
          <p:cNvPr id="444" name="Google Shape;444;p39"/>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s-ES" noProof="0"/>
              <a:t>63</a:t>
            </a:fld>
            <a:endParaRPr lang="es-ES" noProof="0" dirty="0"/>
          </a:p>
        </p:txBody>
      </p:sp>
      <p:sp>
        <p:nvSpPr>
          <p:cNvPr id="446" name="Google Shape;446;p39"/>
          <p:cNvSpPr txBox="1"/>
          <p:nvPr/>
        </p:nvSpPr>
        <p:spPr>
          <a:xfrm>
            <a:off x="853467" y="470047"/>
            <a:ext cx="70175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noProof="0" dirty="0">
                <a:solidFill>
                  <a:schemeClr val="dk1"/>
                </a:solidFill>
                <a:latin typeface="Times New Roman"/>
                <a:ea typeface="Times New Roman"/>
                <a:cs typeface="Times New Roman"/>
                <a:sym typeface="Times New Roman"/>
              </a:rPr>
              <a:t>Energía primaria. España</a:t>
            </a:r>
            <a:endParaRPr lang="es-ES" noProof="0" dirty="0"/>
          </a:p>
        </p:txBody>
      </p:sp>
      <p:sp>
        <p:nvSpPr>
          <p:cNvPr id="447" name="Google Shape;447;p39"/>
          <p:cNvSpPr txBox="1"/>
          <p:nvPr/>
        </p:nvSpPr>
        <p:spPr>
          <a:xfrm>
            <a:off x="2008317" y="5326046"/>
            <a:ext cx="512736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i="1" noProof="0" dirty="0">
                <a:solidFill>
                  <a:schemeClr val="dk1"/>
                </a:solidFill>
                <a:latin typeface="Times New Roman"/>
                <a:ea typeface="Times New Roman"/>
                <a:cs typeface="Times New Roman"/>
                <a:sym typeface="Times New Roman"/>
              </a:rPr>
              <a:t>Fuente:“</a:t>
            </a:r>
            <a:r>
              <a:rPr lang="es-ES" sz="1400" i="1" noProof="0" dirty="0" err="1">
                <a:solidFill>
                  <a:schemeClr val="dk1"/>
                </a:solidFill>
                <a:latin typeface="Times New Roman"/>
                <a:ea typeface="Times New Roman"/>
                <a:cs typeface="Times New Roman"/>
                <a:sym typeface="Times New Roman"/>
              </a:rPr>
              <a:t>Statistical</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Review</a:t>
            </a:r>
            <a:r>
              <a:rPr lang="es-ES" sz="1400" i="1" noProof="0" dirty="0">
                <a:solidFill>
                  <a:schemeClr val="dk1"/>
                </a:solidFill>
                <a:latin typeface="Times New Roman"/>
                <a:ea typeface="Times New Roman"/>
                <a:cs typeface="Times New Roman"/>
                <a:sym typeface="Times New Roman"/>
              </a:rPr>
              <a:t> </a:t>
            </a:r>
            <a:r>
              <a:rPr lang="es-ES" sz="1400" i="1" noProof="0" dirty="0" err="1">
                <a:solidFill>
                  <a:schemeClr val="dk1"/>
                </a:solidFill>
                <a:latin typeface="Times New Roman"/>
                <a:ea typeface="Times New Roman"/>
                <a:cs typeface="Times New Roman"/>
                <a:sym typeface="Times New Roman"/>
              </a:rPr>
              <a:t>of</a:t>
            </a:r>
            <a:r>
              <a:rPr lang="es-ES" sz="1400" i="1" noProof="0" dirty="0">
                <a:solidFill>
                  <a:schemeClr val="dk1"/>
                </a:solidFill>
                <a:latin typeface="Times New Roman"/>
                <a:ea typeface="Times New Roman"/>
                <a:cs typeface="Times New Roman"/>
                <a:sym typeface="Times New Roman"/>
              </a:rPr>
              <a:t> World Energy 2023. Energy </a:t>
            </a:r>
            <a:r>
              <a:rPr lang="es-ES" sz="1400" i="1" noProof="0" dirty="0" err="1">
                <a:solidFill>
                  <a:schemeClr val="dk1"/>
                </a:solidFill>
                <a:latin typeface="Times New Roman"/>
                <a:ea typeface="Times New Roman"/>
                <a:cs typeface="Times New Roman"/>
                <a:sym typeface="Times New Roman"/>
              </a:rPr>
              <a:t>Institute</a:t>
            </a:r>
            <a:r>
              <a:rPr lang="es-ES" sz="1400" i="1" noProof="0" dirty="0">
                <a:solidFill>
                  <a:schemeClr val="dk1"/>
                </a:solidFill>
                <a:latin typeface="Times New Roman"/>
                <a:ea typeface="Times New Roman"/>
                <a:cs typeface="Times New Roman"/>
                <a:sym typeface="Times New Roman"/>
              </a:rPr>
              <a:t>”.</a:t>
            </a:r>
            <a:endParaRPr lang="es-ES" noProof="0" dirty="0"/>
          </a:p>
        </p:txBody>
      </p:sp>
      <p:graphicFrame>
        <p:nvGraphicFramePr>
          <p:cNvPr id="448" name="Google Shape;448;p39"/>
          <p:cNvGraphicFramePr/>
          <p:nvPr>
            <p:extLst>
              <p:ext uri="{D42A27DB-BD31-4B8C-83A1-F6EECF244321}">
                <p14:modId xmlns:p14="http://schemas.microsoft.com/office/powerpoint/2010/main" val="1793772228"/>
              </p:ext>
            </p:extLst>
          </p:nvPr>
        </p:nvGraphicFramePr>
        <p:xfrm>
          <a:off x="4973264" y="1906019"/>
          <a:ext cx="3960000" cy="3127099"/>
        </p:xfrm>
        <a:graphic>
          <a:graphicData uri="http://schemas.openxmlformats.org/drawingml/2006/chart">
            <c:chart xmlns:c="http://schemas.openxmlformats.org/drawingml/2006/chart" xmlns:r="http://schemas.openxmlformats.org/officeDocument/2006/relationships" r:id="rId3"/>
          </a:graphicData>
        </a:graphic>
      </p:graphicFrame>
      <p:sp>
        <p:nvSpPr>
          <p:cNvPr id="449" name="Google Shape;449;p39"/>
          <p:cNvSpPr txBox="1"/>
          <p:nvPr/>
        </p:nvSpPr>
        <p:spPr>
          <a:xfrm>
            <a:off x="5197382" y="1374835"/>
            <a:ext cx="47982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 energía primaria suministrada. 2022</a:t>
            </a:r>
            <a:endParaRPr lang="es-ES" noProof="0" dirty="0"/>
          </a:p>
        </p:txBody>
      </p:sp>
      <p:graphicFrame>
        <p:nvGraphicFramePr>
          <p:cNvPr id="450" name="Google Shape;450;p39"/>
          <p:cNvGraphicFramePr/>
          <p:nvPr>
            <p:extLst>
              <p:ext uri="{D42A27DB-BD31-4B8C-83A1-F6EECF244321}">
                <p14:modId xmlns:p14="http://schemas.microsoft.com/office/powerpoint/2010/main" val="1071822623"/>
              </p:ext>
            </p:extLst>
          </p:nvPr>
        </p:nvGraphicFramePr>
        <p:xfrm>
          <a:off x="366394" y="1774945"/>
          <a:ext cx="4320000" cy="3389249"/>
        </p:xfrm>
        <a:graphic>
          <a:graphicData uri="http://schemas.openxmlformats.org/drawingml/2006/chart">
            <c:chart xmlns:c="http://schemas.openxmlformats.org/drawingml/2006/chart" xmlns:r="http://schemas.openxmlformats.org/officeDocument/2006/relationships" r:id="rId4"/>
          </a:graphicData>
        </a:graphic>
      </p:graphicFrame>
      <p:sp>
        <p:nvSpPr>
          <p:cNvPr id="451" name="Google Shape;451;p39"/>
          <p:cNvSpPr txBox="1"/>
          <p:nvPr/>
        </p:nvSpPr>
        <p:spPr>
          <a:xfrm>
            <a:off x="1272989" y="1374835"/>
            <a:ext cx="364780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Energía suministrada. 2000-2022</a:t>
            </a:r>
            <a:endParaRPr lang="es-ES" noProof="0" dirty="0"/>
          </a:p>
        </p:txBody>
      </p:sp>
      <p:sp>
        <p:nvSpPr>
          <p:cNvPr id="452" name="Google Shape;452;p39"/>
          <p:cNvSpPr txBox="1"/>
          <p:nvPr/>
        </p:nvSpPr>
        <p:spPr>
          <a:xfrm>
            <a:off x="650727" y="6018621"/>
            <a:ext cx="8282537" cy="369332"/>
          </a:xfrm>
          <a:prstGeom prst="rect">
            <a:avLst/>
          </a:prstGeom>
          <a:noFill/>
          <a:ln w="2857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noProof="0" dirty="0">
                <a:solidFill>
                  <a:schemeClr val="dk1"/>
                </a:solidFill>
                <a:latin typeface="Times New Roman"/>
                <a:ea typeface="Times New Roman"/>
                <a:cs typeface="Times New Roman"/>
                <a:sym typeface="Times New Roman"/>
              </a:rPr>
              <a:t>En 2022, el 70% de la energía suministrada en España proviene de combustibles fósiles</a:t>
            </a:r>
            <a:endParaRPr lang="es-ES" noProof="0" dirty="0"/>
          </a:p>
        </p:txBody>
      </p:sp>
      <p:sp>
        <p:nvSpPr>
          <p:cNvPr id="4" name="Google Shape;459;p40">
            <a:extLst>
              <a:ext uri="{FF2B5EF4-FFF2-40B4-BE49-F238E27FC236}">
                <a16:creationId xmlns:a16="http://schemas.microsoft.com/office/drawing/2014/main" id="{B2ECB241-4934-785B-B6C3-2A9A7C6D51B0}"/>
              </a:ext>
            </a:extLst>
          </p:cNvPr>
          <p:cNvSpPr txBox="1">
            <a:spLocks/>
          </p:cNvSpPr>
          <p:nvPr/>
        </p:nvSpPr>
        <p:spPr>
          <a:xfrm>
            <a:off x="971550" y="0"/>
            <a:ext cx="7704138" cy="3333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480"/>
              </a:spcBef>
              <a:spcAft>
                <a:spcPts val="0"/>
              </a:spcAft>
              <a:buClr>
                <a:srgbClr val="000074"/>
              </a:buClr>
              <a:buSzPts val="2400"/>
              <a:buFont typeface="Arial"/>
              <a:buNone/>
              <a:defRPr sz="2400" b="0" i="0" u="none" strike="noStrike" cap="none">
                <a:solidFill>
                  <a:srgbClr val="000074"/>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indent="0" defTabSz="914400">
              <a:spcBef>
                <a:spcPts val="0"/>
              </a:spcBef>
            </a:pPr>
            <a:r>
              <a:rPr lang="es-ES" kern="0"/>
              <a:t>Escenarios</a:t>
            </a:r>
            <a:endParaRPr lang="es-ES" kern="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446,9441"/>
  <p:tag name="ORIGINALWIDTH" val="2676,416"/>
  <p:tag name="LATEXADDIN" val="\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softred}{RGB}{242, 177, 149}&#10;\definecolor{softblue}{RGB}{178,223,219}&#10;\definecolor{softgray}{rgb}{0.75, 0.75, 0.75}&#10;&#10;&#10;\pagestyle{empty}&#10;&#10;&#10;\begin{document}&#10;\footnotesize&#10;\renewcommand\arraystretch{1.3}&#10;\arrayrulecolor{black}&#10;\begin{tabular}{c c c c c c}&#10;\toprule&#10; &amp; kcal &amp; Btu &amp; toe &amp; tce &amp; kWh\\&#10;\midrule&#10;Julios &amp; 4186 &amp; 1055 &amp; 41.9 $10^9$ &amp; 29.3 $10^9$ &amp; 3.6 $10^6$\\&#10;\bottomrule&#10;\end{tabular}&#10;&#10;\end{document}&#10;"/>
  <p:tag name="IGUANATEXSIZE" val="20"/>
  <p:tag name="IGUANATEXCURSOR" val="858"/>
  <p:tag name="TRANSPARENCY" val="Verdadero"/>
  <p:tag name="LATEXENGINEID" val="0"/>
  <p:tag name="TEMPFOLDER" val="C:\Users\lmgarcia\Documents\temp\Iguana_TeX\"/>
  <p:tag name="LATEXFORMHEIGHT" val="319"/>
  <p:tag name="LATEXFORMWIDTH" val="451,2"/>
  <p:tag name="LATEXFORMWRAP" val="Verdadero"/>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446,9441"/>
  <p:tag name="ORIGINALWIDTH" val="2991,376"/>
  <p:tag name="LATEXADDIN" val="\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softred}{RGB}{242, 177, 149}&#10;\definecolor{softblue}{RGB}{178,223,219}&#10;\definecolor{softgray}{rgb}{0.75, 0.75, 0.75}&#10;&#10;&#10;\pagestyle{empty}&#10;&#10;&#10;\begin{document}&#10;\footnotesize&#10;\renewcommand\arraystretch{1.3}&#10;\arrayrulecolor{black}&#10;\begin{tabular}{c c c c c c c}&#10;\toprule&#10; &amp; Galones US &amp; Galones UK &amp; Barriles &amp; ft$^3$ &amp; m$^3$ \\&#10;\midrule&#10;litros &amp; 3.785 &amp; 4.546 &amp; 159 &amp; 28.3 &amp; 1000\\&#10;\bottomrule&#10;\end{tabular}&#10;&#10;\end{document}&#10;"/>
  <p:tag name="IGUANATEXSIZE" val="20"/>
  <p:tag name="IGUANATEXCURSOR" val="824"/>
  <p:tag name="TRANSPARENCY" val="Verdadero"/>
  <p:tag name="LATEXENGINEID" val="0"/>
  <p:tag name="TEMPFOLDER" val="C:\Users\lmgarcia\Documents\temp\Iguana_TeX\"/>
  <p:tag name="LATEXFORMHEIGHT" val="319"/>
  <p:tag name="LATEXFORMWIDTH" val="451,2"/>
  <p:tag name="LATEXFORMWRAP" val="Verdadero"/>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446,9441"/>
  <p:tag name="ORIGINALWIDTH" val="3208,099"/>
  <p:tag name="LATEXADDIN" val="\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softred}{RGB}{242, 177, 149}&#10;\definecolor{softblue}{RGB}{178,223,219}&#10;\definecolor{softgray}{rgb}{0.75, 0.75, 0.75}&#10;&#10;&#10;\pagestyle{empty}&#10;&#10;&#10;\begin{document}&#10;\footnotesize&#10;\renewcommand\arraystretch{1.3}&#10;\arrayrulecolor{black}&#10;\begin{tabular}{c c c c c}&#10;\toprule&#10; &amp; tonelada métrica &amp; tonelada larga &amp; tonelada corta &amp; libras\\&#10;\midrule&#10;kg &amp; 1000 &amp; 1016 &amp; 907.2 &amp; 0.454 \\&#10;\bottomrule&#10;\end{tabular}&#10;&#10;\end{document}&#10;"/>
  <p:tag name="IGUANATEXSIZE" val="20"/>
  <p:tag name="IGUANATEXCURSOR" val="914"/>
  <p:tag name="TRANSPARENCY" val="Verdadero"/>
  <p:tag name="LATEXENGINEID" val="0"/>
  <p:tag name="TEMPFOLDER" val="C:\Users\lmgarcia\Documents\temp\Iguana_TeX\"/>
  <p:tag name="LATEXFORMHEIGHT" val="319"/>
  <p:tag name="LATEXFORMWIDTH" val="451,2"/>
  <p:tag name="LATEXFORMWRAP" val="Verdadero"/>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600"/>
  <p:tag name="ORIGINALHEIGHT" val="411,6985"/>
  <p:tag name="ORIGINALWIDTH" val="1639,295"/>
  <p:tag name="LATEXADDIN" val="\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garnet}{RGB}{0,14,120}&#10;\definecolor{CyF}{RGB}{178,223,219}&#10;&#10;\pagestyle{empty}&#10;&#10;&#10;\begin{document}&#10;&#10;$\textrm{LCOE}=\frac{\sum_{t=1}^n \frac{C_t+O_t+V_t}{\left(1+r\right)^t}}{\sum_{t=1}^n \frac{E_t}{\left(1+r\right)^t}}$&#10;&#10;\end{document}&#10;"/>
  <p:tag name="IGUANATEXSIZE" val="20"/>
  <p:tag name="IGUANATEXCURSOR" val="696"/>
  <p:tag name="TRANSPARENCY" val="Verdadero"/>
  <p:tag name="LATEXENGINEID" val="0"/>
  <p:tag name="TEMPFOLDER" val="C:\Users\lmgarcia\Documents\temp\Iguana_TeX\"/>
  <p:tag name="LATEXFORMHEIGHT" val="319"/>
  <p:tag name="LATEXFORMWIDTH" val="384"/>
  <p:tag name="LATEXFORMWRAP" val="Verdadero"/>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600"/>
  <p:tag name="ORIGINALHEIGHT" val="205,4743"/>
  <p:tag name="ORIGINALWIDTH" val="2438,695"/>
  <p:tag name="LATEXADDIN" val="\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garnet}{RGB}{0,14,120}&#10;\definecolor{CyF}{RGB}{178,223,219}&#10;&#10;\pagestyle{empty}&#10;&#10;&#10;\begin{document}&#10;&#10;$\textrm{LCOE}=\frac{FCR\times ICC + O\&amp;M+F+TCR}{AEP}$&#10;&#10;\end{document}&#10;"/>
  <p:tag name="IGUANATEXSIZE" val="20"/>
  <p:tag name="IGUANATEXCURSOR" val="697"/>
  <p:tag name="TRANSPARENCY" val="Verdadero"/>
  <p:tag name="LATEXENGINEID" val="0"/>
  <p:tag name="TEMPFOLDER" val="C:\Users\lmgarcia\Documents\temp\Iguana_TeX\"/>
  <p:tag name="LATEXFORMHEIGHT" val="319"/>
  <p:tag name="LATEXFORMWIDTH" val="384"/>
  <p:tag name="LATEXFORMWRAP" val="Verdadero"/>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600"/>
  <p:tag name="ORIGINALHEIGHT" val="205,4743"/>
  <p:tag name="ORIGINALWIDTH" val="2438,695"/>
  <p:tag name="LATEXADDIN" val="\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garnet}{RGB}{0,14,120}&#10;\definecolor{CyF}{RGB}{178,223,219}&#10;&#10;\pagestyle{empty}&#10;&#10;&#10;\begin{document}&#10;&#10;$\textrm{LCOE}=\frac{FCR\times ICC + O\&amp;M+F+TCR}{AEP}$&#10;&#10;\end{document}&#10;"/>
  <p:tag name="IGUANATEXSIZE" val="20"/>
  <p:tag name="IGUANATEXCURSOR" val="697"/>
  <p:tag name="TRANSPARENCY" val="Verdadero"/>
  <p:tag name="LATEXENGINEID" val="0"/>
  <p:tag name="TEMPFOLDER" val="C:\Users\lmgarcia\Documents\temp\Iguana_TeX\"/>
  <p:tag name="LATEXFORMHEIGHT" val="319"/>
  <p:tag name="LATEXFORMWIDTH" val="384"/>
  <p:tag name="LATEXFORMWRAP" val="Verdadero"/>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600"/>
  <p:tag name="ORIGINALHEIGHT" val="205,4743"/>
  <p:tag name="ORIGINALWIDTH" val="2438,695"/>
  <p:tag name="LATEXADDIN" val="\documentclass{article}&#10;\usepackage[spanish]{babel}&#10;\usepackage[utf8]{inputenc}&#10;\usepackage{lmodern}&#10;\usepackage{multicol,multirow}                                              &#10;\usepackage{amsmath,amsfonts,amsthm,mathabx,amssymb}&#10;\usepackage{booktabs}&#10;\usepackage{tabularx}&#10;\usepackage[svgnames,table]{xcolor} &#10;\usepackage{color}&#10;\usepackage{fix-cm}&#10;\usepackage{minitoc}&#10;\usepackage{natbib}&#10;\usepackage{etoc}&#10;\usepackage{textcomp}&#10;\usepackage{setspace}&#10;\usepackage{pbox}&#10;\usepackage{float}&#10;\usepackage{lscape}&#10;\usepackage{etaremune}&#10;\definecolor{garnet}{RGB}{0,14,120}&#10;\definecolor{CyF}{RGB}{178,223,219}&#10;&#10;\pagestyle{empty}&#10;&#10;&#10;\begin{document}&#10;&#10;$\textrm{LCOE}=\frac{FCR\times ICC + O\&amp;M+F+TCR}{AEP}$&#10;&#10;\end{document}&#10;"/>
  <p:tag name="IGUANATEXSIZE" val="20"/>
  <p:tag name="IGUANATEXCURSOR" val="697"/>
  <p:tag name="TRANSPARENCY" val="Verdadero"/>
  <p:tag name="LATEXENGINEID" val="0"/>
  <p:tag name="TEMPFOLDER" val="C:\Users\lmgarcia\Documents\temp\Iguana_TeX\"/>
  <p:tag name="LATEXFORMHEIGHT" val="319"/>
  <p:tag name="LATEXFORMWIDTH" val="384"/>
  <p:tag name="LATEXFORMWRAP" val="Verdadero"/>
  <p:tag name="BITMAPVECTOR" val="0"/>
</p:tagLst>
</file>

<file path=ppt/theme/theme1.xml><?xml version="1.0" encoding="utf-8"?>
<a:theme xmlns:a="http://schemas.openxmlformats.org/drawingml/2006/main" name="Plantilla">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30928</TotalTime>
  <Words>12549</Words>
  <Application>Microsoft Office PowerPoint</Application>
  <PresentationFormat>Presentación en pantalla (4:3)</PresentationFormat>
  <Paragraphs>856</Paragraphs>
  <Slides>63</Slides>
  <Notes>62</Notes>
  <HiddenSlides>1</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63</vt:i4>
      </vt:variant>
    </vt:vector>
  </HeadingPairs>
  <TitlesOfParts>
    <vt:vector size="69" baseType="lpstr">
      <vt:lpstr>Calibri</vt:lpstr>
      <vt:lpstr>Cambria Math</vt:lpstr>
      <vt:lpstr>Times New Roman</vt:lpstr>
      <vt:lpstr>Arial</vt:lpstr>
      <vt:lpstr>Palatino Linotype</vt:lpstr>
      <vt:lpstr>Plantilla</vt:lpstr>
      <vt:lpstr>INTRODUCCIÓN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dc:title>
  <dc:creator>GARCIA GUTIERREZ, LUIS MIGUEL</dc:creator>
  <cp:lastModifiedBy>Reyes Rodríguez Sánchez</cp:lastModifiedBy>
  <cp:revision>146</cp:revision>
  <dcterms:created xsi:type="dcterms:W3CDTF">2023-06-22T10:56:59Z</dcterms:created>
  <dcterms:modified xsi:type="dcterms:W3CDTF">2026-09-02T15:15:15Z</dcterms:modified>
</cp:coreProperties>
</file>